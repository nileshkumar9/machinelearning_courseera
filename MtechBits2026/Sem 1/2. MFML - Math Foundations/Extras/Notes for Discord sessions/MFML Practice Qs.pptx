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6858000" cx="12192000"/>
  <p:notesSz cx="6858000" cy="9144000"/>
  <p:embeddedFontLst>
    <p:embeddedFont>
      <p:font typeface="Poppins"/>
      <p:regular r:id="rId39"/>
      <p:bold r:id="rId40"/>
      <p:italic r:id="rId41"/>
      <p:boldItalic r:id="rId42"/>
    </p:embeddedFont>
    <p:embeddedFont>
      <p:font typeface="Azeret Mono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-bold.fntdata"/><Relationship Id="rId20" Type="http://schemas.openxmlformats.org/officeDocument/2006/relationships/slide" Target="slides/slide15.xml"/><Relationship Id="rId42" Type="http://schemas.openxmlformats.org/officeDocument/2006/relationships/font" Target="fonts/Poppins-boldItalic.fntdata"/><Relationship Id="rId41" Type="http://schemas.openxmlformats.org/officeDocument/2006/relationships/font" Target="fonts/Poppins-italic.fntdata"/><Relationship Id="rId22" Type="http://schemas.openxmlformats.org/officeDocument/2006/relationships/slide" Target="slides/slide17.xml"/><Relationship Id="rId44" Type="http://schemas.openxmlformats.org/officeDocument/2006/relationships/font" Target="fonts/AzeretMono-bold.fntdata"/><Relationship Id="rId21" Type="http://schemas.openxmlformats.org/officeDocument/2006/relationships/slide" Target="slides/slide16.xml"/><Relationship Id="rId43" Type="http://schemas.openxmlformats.org/officeDocument/2006/relationships/font" Target="fonts/AzeretMono-regular.fntdata"/><Relationship Id="rId24" Type="http://schemas.openxmlformats.org/officeDocument/2006/relationships/slide" Target="slides/slide19.xml"/><Relationship Id="rId46" Type="http://schemas.openxmlformats.org/officeDocument/2006/relationships/font" Target="fonts/AzeretMono-boldItalic.fntdata"/><Relationship Id="rId23" Type="http://schemas.openxmlformats.org/officeDocument/2006/relationships/slide" Target="slides/slide18.xml"/><Relationship Id="rId45" Type="http://schemas.openxmlformats.org/officeDocument/2006/relationships/font" Target="fonts/AzeretMon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Poppins-regular.fnt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18176af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a18176af6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1fe361e44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Diesenroth </a:t>
            </a:r>
            <a:r>
              <a:rPr lang="en-US"/>
              <a:t>pg 64-65</a:t>
            </a:r>
            <a:endParaRPr/>
          </a:p>
        </p:txBody>
      </p:sp>
      <p:sp>
        <p:nvSpPr>
          <p:cNvPr id="96" name="Google Shape;96;g3a1fe361e44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1fe361e4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David C Lay - pg 110</a:t>
            </a:r>
            <a:endParaRPr/>
          </a:p>
        </p:txBody>
      </p:sp>
      <p:sp>
        <p:nvSpPr>
          <p:cNvPr id="103" name="Google Shape;103;g3a1fe361e44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1fe361e44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Diesenroth pg 66</a:t>
            </a:r>
            <a:endParaRPr/>
          </a:p>
        </p:txBody>
      </p:sp>
      <p:sp>
        <p:nvSpPr>
          <p:cNvPr id="110" name="Google Shape;110;g3a1fe361e44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1fe361e44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a1fe361e44_0_1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25e5f83b6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Diesenroth pg 65</a:t>
            </a:r>
            <a:endParaRPr/>
          </a:p>
        </p:txBody>
      </p:sp>
      <p:sp>
        <p:nvSpPr>
          <p:cNvPr id="125" name="Google Shape;125;g3a25e5f83b6_1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1fe361e44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Diesenroth pg 65</a:t>
            </a:r>
            <a:endParaRPr/>
          </a:p>
        </p:txBody>
      </p:sp>
      <p:sp>
        <p:nvSpPr>
          <p:cNvPr id="134" name="Google Shape;134;g3a1fe361e44_0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25e5f83b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Diesenroth pg 65</a:t>
            </a:r>
            <a:endParaRPr/>
          </a:p>
        </p:txBody>
      </p:sp>
      <p:sp>
        <p:nvSpPr>
          <p:cNvPr id="143" name="Google Shape;143;g3a25e5f83b6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1fe361e44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Diesenroth pg 65</a:t>
            </a:r>
            <a:endParaRPr/>
          </a:p>
        </p:txBody>
      </p:sp>
      <p:sp>
        <p:nvSpPr>
          <p:cNvPr id="149" name="Google Shape;149;g3a1fe361e44_0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1fe361e44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a1fe361e44_0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18176af6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David C Lay - pg 60</a:t>
            </a:r>
            <a:endParaRPr/>
          </a:p>
        </p:txBody>
      </p:sp>
      <p:sp>
        <p:nvSpPr>
          <p:cNvPr id="164" name="Google Shape;164;g3a18176af63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1fe361e44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Diesenroth pg 66</a:t>
            </a:r>
            <a:endParaRPr/>
          </a:p>
        </p:txBody>
      </p:sp>
      <p:sp>
        <p:nvSpPr>
          <p:cNvPr id="173" name="Google Shape;173;g3a1fe361e44_0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1fe361e44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a1fe361e44_0_1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1fe361e4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Diesenroth pg 64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7" name="Google Shape;187;g3a1fe361e44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1fe361e44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Diesenroth pg 64</a:t>
            </a:r>
            <a:endParaRPr/>
          </a:p>
        </p:txBody>
      </p:sp>
      <p:sp>
        <p:nvSpPr>
          <p:cNvPr id="193" name="Google Shape;193;g3a1fe361e44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1fe361e44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Diesenroth pg 66</a:t>
            </a:r>
            <a:endParaRPr/>
          </a:p>
        </p:txBody>
      </p:sp>
      <p:sp>
        <p:nvSpPr>
          <p:cNvPr id="199" name="Google Shape;199;g3a1fe361e44_0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1fe361e4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David C Lay - pg 195-196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a1fe361e44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1fe361e44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David C Lay - pg 213</a:t>
            </a:r>
            <a:endParaRPr/>
          </a:p>
        </p:txBody>
      </p:sp>
      <p:sp>
        <p:nvSpPr>
          <p:cNvPr id="214" name="Google Shape;214;g3a1fe361e44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9beacc1a0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David C Lay - pg 213</a:t>
            </a:r>
            <a:endParaRPr/>
          </a:p>
        </p:txBody>
      </p:sp>
      <p:sp>
        <p:nvSpPr>
          <p:cNvPr id="223" name="Google Shape;223;g399beacc1a0_3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1fe361e44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a1fe361e44_0_1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1fe361e44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David C Lay - pg 213</a:t>
            </a:r>
            <a:endParaRPr/>
          </a:p>
        </p:txBody>
      </p:sp>
      <p:sp>
        <p:nvSpPr>
          <p:cNvPr id="237" name="Google Shape;237;g3a1fe361e44_0_1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1fe361e44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David C Lay - pg 213</a:t>
            </a:r>
            <a:endParaRPr/>
          </a:p>
        </p:txBody>
      </p:sp>
      <p:sp>
        <p:nvSpPr>
          <p:cNvPr id="244" name="Google Shape;244;g3a1fe361e44_0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a1fe361e44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David C Lay - pg 213</a:t>
            </a:r>
            <a:endParaRPr/>
          </a:p>
        </p:txBody>
      </p:sp>
      <p:sp>
        <p:nvSpPr>
          <p:cNvPr id="251" name="Google Shape;251;g3a1fe361e44_0_1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1fe361e44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David C Lay - pg 213</a:t>
            </a:r>
            <a:endParaRPr/>
          </a:p>
        </p:txBody>
      </p:sp>
      <p:sp>
        <p:nvSpPr>
          <p:cNvPr id="258" name="Google Shape;258;g3a1fe361e44_0_1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a1fe361e44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David C Lay - pg 213</a:t>
            </a:r>
            <a:endParaRPr/>
          </a:p>
        </p:txBody>
      </p:sp>
      <p:sp>
        <p:nvSpPr>
          <p:cNvPr id="264" name="Google Shape;264;g3a1fe361e44_0_1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1fe361e44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David C Lay - pg 213</a:t>
            </a:r>
            <a:endParaRPr/>
          </a:p>
        </p:txBody>
      </p:sp>
      <p:sp>
        <p:nvSpPr>
          <p:cNvPr id="272" name="Google Shape;272;g3a1fe361e44_0_1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a1fe361e44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David C Lay - pg 213</a:t>
            </a:r>
            <a:endParaRPr/>
          </a:p>
        </p:txBody>
      </p:sp>
      <p:sp>
        <p:nvSpPr>
          <p:cNvPr id="278" name="Google Shape;278;g3a1fe361e44_0_1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a1fe361e44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David C Lay - pg 213</a:t>
            </a:r>
            <a:endParaRPr/>
          </a:p>
        </p:txBody>
      </p:sp>
      <p:sp>
        <p:nvSpPr>
          <p:cNvPr id="285" name="Google Shape;285;g3a1fe361e44_0_1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a1fe361e44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David C Lay - pg 213</a:t>
            </a:r>
            <a:endParaRPr/>
          </a:p>
        </p:txBody>
      </p:sp>
      <p:sp>
        <p:nvSpPr>
          <p:cNvPr id="292" name="Google Shape;292;g3a1fe361e44_0_1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a1fe361e44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David C Lay - pg 213</a:t>
            </a:r>
            <a:endParaRPr/>
          </a:p>
        </p:txBody>
      </p:sp>
      <p:sp>
        <p:nvSpPr>
          <p:cNvPr id="298" name="Google Shape;298;g3a1fe361e44_0_1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a1fe361e44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David C Lay - pg 213</a:t>
            </a:r>
            <a:endParaRPr/>
          </a:p>
        </p:txBody>
      </p:sp>
      <p:sp>
        <p:nvSpPr>
          <p:cNvPr id="305" name="Google Shape;305;g3a1fe361e44_0_2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a1fe361e44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David C Lay - pg 213</a:t>
            </a:r>
            <a:endParaRPr/>
          </a:p>
        </p:txBody>
      </p:sp>
      <p:sp>
        <p:nvSpPr>
          <p:cNvPr id="312" name="Google Shape;312;g3a1fe361e44_0_2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P5GJJ02OG08&amp;list=PLybg94GvOJ9En46TNCXL2n6SiqRc_iMB8&amp;index=6" TargetMode="External"/><Relationship Id="rId5" Type="http://schemas.openxmlformats.org/officeDocument/2006/relationships/hyperlink" Target="https://www.youtube.com/watch?v=CcbyMH3Noow&amp;list=PLybg94GvOJ9En46TNCXL2n6SiqRc_iMB8&amp;index=7" TargetMode="External"/><Relationship Id="rId6" Type="http://schemas.openxmlformats.org/officeDocument/2006/relationships/hyperlink" Target="https://www.youtube.com/watch?v=kWorj5BBy9k&amp;list=PLybg94GvOJ9En46TNCXL2n6SiqRc_iMB8&amp;index=9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csgNflj69-Y&amp;list=PLybg94GvOJ9En46TNCXL2n6SiqRc_iMB8&amp;index=1" TargetMode="External"/><Relationship Id="rId5" Type="http://schemas.openxmlformats.org/officeDocument/2006/relationships/hyperlink" Target="https://www.youtube.com/watch?v=RdLo-9jh2EM&amp;list=PLybg94GvOJ9En46TNCXL2n6SiqRc_iMB8&amp;index=9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9.png"/><Relationship Id="rId7" Type="http://schemas.openxmlformats.org/officeDocument/2006/relationships/image" Target="../media/image3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3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9kDpbZCK62Y" TargetMode="External"/><Relationship Id="rId5" Type="http://schemas.openxmlformats.org/officeDocument/2006/relationships/hyperlink" Target="https://docs.google.com/presentation/d/18pvlqNPN8zMbv3Tseprpuho6tkrbZIPzoOKeBCMZOVM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33.png"/><Relationship Id="rId5" Type="http://schemas.openxmlformats.org/officeDocument/2006/relationships/image" Target="../media/image21.png"/><Relationship Id="rId6" Type="http://schemas.openxmlformats.org/officeDocument/2006/relationships/image" Target="../media/image44.png"/><Relationship Id="rId7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23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Relationship Id="rId7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29.png"/><Relationship Id="rId7" Type="http://schemas.openxmlformats.org/officeDocument/2006/relationships/image" Target="../media/image2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Relationship Id="rId4" Type="http://schemas.openxmlformats.org/officeDocument/2006/relationships/image" Target="../media/image2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Relationship Id="rId4" Type="http://schemas.openxmlformats.org/officeDocument/2006/relationships/image" Target="../media/image35.png"/><Relationship Id="rId5" Type="http://schemas.openxmlformats.org/officeDocument/2006/relationships/image" Target="../media/image2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Relationship Id="rId4" Type="http://schemas.openxmlformats.org/officeDocument/2006/relationships/image" Target="../media/image25.png"/><Relationship Id="rId5" Type="http://schemas.openxmlformats.org/officeDocument/2006/relationships/image" Target="../media/image3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Relationship Id="rId4" Type="http://schemas.openxmlformats.org/officeDocument/2006/relationships/image" Target="../media/image38.png"/><Relationship Id="rId5" Type="http://schemas.openxmlformats.org/officeDocument/2006/relationships/image" Target="../media/image3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Relationship Id="rId4" Type="http://schemas.openxmlformats.org/officeDocument/2006/relationships/image" Target="../media/image4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Relationship Id="rId4" Type="http://schemas.openxmlformats.org/officeDocument/2006/relationships/image" Target="../media/image45.png"/><Relationship Id="rId5" Type="http://schemas.openxmlformats.org/officeDocument/2006/relationships/image" Target="../media/image43.png"/><Relationship Id="rId6" Type="http://schemas.openxmlformats.org/officeDocument/2006/relationships/image" Target="../media/image3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Relationship Id="rId4" Type="http://schemas.openxmlformats.org/officeDocument/2006/relationships/image" Target="../media/image3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Relationship Id="rId4" Type="http://schemas.openxmlformats.org/officeDocument/2006/relationships/image" Target="../media/image53.png"/><Relationship Id="rId5" Type="http://schemas.openxmlformats.org/officeDocument/2006/relationships/image" Target="../media/image4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Relationship Id="rId4" Type="http://schemas.openxmlformats.org/officeDocument/2006/relationships/image" Target="../media/image53.png"/><Relationship Id="rId5" Type="http://schemas.openxmlformats.org/officeDocument/2006/relationships/image" Target="../media/image4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.png"/><Relationship Id="rId4" Type="http://schemas.openxmlformats.org/officeDocument/2006/relationships/image" Target="../media/image4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png"/><Relationship Id="rId4" Type="http://schemas.openxmlformats.org/officeDocument/2006/relationships/image" Target="../media/image47.png"/><Relationship Id="rId5" Type="http://schemas.openxmlformats.org/officeDocument/2006/relationships/image" Target="../media/image5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png"/><Relationship Id="rId4" Type="http://schemas.openxmlformats.org/officeDocument/2006/relationships/image" Target="../media/image46.png"/><Relationship Id="rId5" Type="http://schemas.openxmlformats.org/officeDocument/2006/relationships/image" Target="../media/image4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.png"/><Relationship Id="rId4" Type="http://schemas.openxmlformats.org/officeDocument/2006/relationships/image" Target="../media/image51.png"/><Relationship Id="rId5" Type="http://schemas.openxmlformats.org/officeDocument/2006/relationships/image" Target="../media/image49.png"/><Relationship Id="rId6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571500" y="2598390"/>
            <a:ext cx="116016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75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Practice Questions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571500" y="4846290"/>
            <a:ext cx="110490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7534E"/>
                </a:solidFill>
                <a:latin typeface="Azeret Mono"/>
                <a:ea typeface="Azeret Mono"/>
                <a:cs typeface="Azeret Mono"/>
                <a:sym typeface="Azeret Mono"/>
              </a:rPr>
              <a:t>Lesson </a:t>
            </a:r>
            <a:r>
              <a:rPr lang="en-US" sz="1800">
                <a:solidFill>
                  <a:srgbClr val="57534E"/>
                </a:solidFill>
                <a:latin typeface="Azeret Mono"/>
                <a:ea typeface="Azeret Mono"/>
                <a:cs typeface="Azeret Mono"/>
                <a:sym typeface="Azeret Mono"/>
              </a:rPr>
              <a:t>1 &amp; 2</a:t>
            </a:r>
            <a:endParaRPr sz="1800">
              <a:solidFill>
                <a:srgbClr val="57534E"/>
              </a:solidFill>
              <a:latin typeface="Azeret Mono"/>
              <a:ea typeface="Azeret Mono"/>
              <a:cs typeface="Azeret Mono"/>
              <a:sym typeface="Azeret Mono"/>
            </a:endParaRPr>
          </a:p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7534E"/>
                </a:solidFill>
                <a:latin typeface="Azeret Mono"/>
                <a:ea typeface="Azeret Mono"/>
                <a:cs typeface="Azeret Mono"/>
                <a:sym typeface="Azeret Mono"/>
              </a:rPr>
              <a:t>Prof. Saurabh’s class</a:t>
            </a:r>
            <a:endParaRPr sz="1800">
              <a:solidFill>
                <a:srgbClr val="57534E"/>
              </a:solidFill>
              <a:latin typeface="Azeret Mono"/>
              <a:ea typeface="Azeret Mono"/>
              <a:cs typeface="Azeret Mono"/>
              <a:sym typeface="Azeret Mono"/>
            </a:endParaRPr>
          </a:p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7534E"/>
                </a:solidFill>
                <a:latin typeface="Azeret Mono"/>
                <a:ea typeface="Azeret Mono"/>
                <a:cs typeface="Azeret Mono"/>
                <a:sym typeface="Azeret Mono"/>
              </a:rPr>
              <a:t>10 Nov 2025, Monday</a:t>
            </a:r>
            <a:endParaRPr sz="1800">
              <a:solidFill>
                <a:srgbClr val="57534E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/>
        </p:nvSpPr>
        <p:spPr>
          <a:xfrm>
            <a:off x="571500" y="2163067"/>
            <a:ext cx="914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78716C"/>
                </a:solidFill>
                <a:latin typeface="Azeret Mono"/>
                <a:ea typeface="Azeret Mono"/>
                <a:cs typeface="Azeret Mono"/>
                <a:sym typeface="Azeret Mono"/>
              </a:rPr>
              <a:t>Part </a:t>
            </a:r>
            <a:r>
              <a:rPr lang="en-US" sz="1800">
                <a:solidFill>
                  <a:srgbClr val="78716C"/>
                </a:solidFill>
                <a:latin typeface="Azeret Mono"/>
                <a:ea typeface="Azeret Mono"/>
                <a:cs typeface="Azeret Mono"/>
                <a:sym typeface="Azeret Mono"/>
              </a:rPr>
              <a:t>1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571500" y="2532600"/>
            <a:ext cx="1076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Matrix Operations</a:t>
            </a:r>
            <a:endParaRPr/>
          </a:p>
        </p:txBody>
      </p:sp>
      <p:sp>
        <p:nvSpPr>
          <p:cNvPr id="92" name="Google Shape;92;p14"/>
          <p:cNvSpPr/>
          <p:nvPr/>
        </p:nvSpPr>
        <p:spPr>
          <a:xfrm>
            <a:off x="571500" y="4647158"/>
            <a:ext cx="952500" cy="47700"/>
          </a:xfrm>
          <a:prstGeom prst="rect">
            <a:avLst/>
          </a:prstGeom>
          <a:solidFill>
            <a:srgbClr val="3C40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571500" y="4700057"/>
            <a:ext cx="110490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7534E"/>
                </a:solidFill>
                <a:latin typeface="Azeret Mono"/>
                <a:ea typeface="Azeret Mono"/>
                <a:cs typeface="Azeret Mono"/>
                <a:sym typeface="Azeret Mono"/>
              </a:rPr>
              <a:t>Target for </a:t>
            </a:r>
            <a:r>
              <a:rPr lang="en-US" sz="1800">
                <a:solidFill>
                  <a:srgbClr val="57534E"/>
                </a:solidFill>
                <a:latin typeface="Azeret Mono"/>
                <a:ea typeface="Azeret Mono"/>
                <a:cs typeface="Azeret Mono"/>
                <a:sym typeface="Azeret Mono"/>
              </a:rPr>
              <a:t>10 Nov 2025, Monday</a:t>
            </a:r>
            <a:endParaRPr sz="1800">
              <a:solidFill>
                <a:srgbClr val="57534E"/>
              </a:solidFill>
              <a:latin typeface="Azeret Mono"/>
              <a:ea typeface="Azeret Mono"/>
              <a:cs typeface="Azeret Mono"/>
              <a:sym typeface="Azeret Mono"/>
            </a:endParaRPr>
          </a:p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7534E"/>
                </a:solidFill>
                <a:latin typeface="Azeret Mono"/>
                <a:ea typeface="Azeret Mono"/>
                <a:cs typeface="Azeret Mono"/>
                <a:sym typeface="Azeret Mono"/>
              </a:rPr>
              <a:t>Refresher video links: </a:t>
            </a:r>
            <a:endParaRPr sz="1800">
              <a:solidFill>
                <a:srgbClr val="57534E"/>
              </a:solidFill>
              <a:latin typeface="Azeret Mono"/>
              <a:ea typeface="Azeret Mono"/>
              <a:cs typeface="Azeret Mono"/>
              <a:sym typeface="Azeret Mono"/>
            </a:endParaRPr>
          </a:p>
          <a:p>
            <a:pPr indent="-342900" lvl="0" marL="45720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1800"/>
              <a:buFont typeface="Azeret Mono"/>
              <a:buChar char="-"/>
            </a:pPr>
            <a:r>
              <a:rPr lang="en-US" sz="1800" u="sng">
                <a:solidFill>
                  <a:schemeClr val="hlink"/>
                </a:solidFill>
                <a:latin typeface="Azeret Mono"/>
                <a:ea typeface="Azeret Mono"/>
                <a:cs typeface="Azeret Mono"/>
                <a:sym typeface="Azeret Mono"/>
                <a:hlinkClick r:id="rId4"/>
              </a:rPr>
              <a:t>Matrix Multiplication</a:t>
            </a:r>
            <a:endParaRPr sz="1800">
              <a:solidFill>
                <a:srgbClr val="57534E"/>
              </a:solidFill>
              <a:latin typeface="Azeret Mono"/>
              <a:ea typeface="Azeret Mono"/>
              <a:cs typeface="Azeret Mono"/>
              <a:sym typeface="Azeret Mono"/>
            </a:endParaRPr>
          </a:p>
          <a:p>
            <a:pPr indent="-342900" lvl="0" marL="45720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1800"/>
              <a:buFont typeface="Azeret Mono"/>
              <a:buChar char="-"/>
            </a:pPr>
            <a:r>
              <a:rPr lang="en-US" sz="1800" u="sng">
                <a:solidFill>
                  <a:schemeClr val="hlink"/>
                </a:solidFill>
                <a:latin typeface="Azeret Mono"/>
                <a:ea typeface="Azeret Mono"/>
                <a:cs typeface="Azeret Mono"/>
                <a:sym typeface="Azeret Mono"/>
                <a:hlinkClick r:id="rId5"/>
              </a:rPr>
              <a:t>Determinants</a:t>
            </a:r>
            <a:endParaRPr sz="1800">
              <a:solidFill>
                <a:srgbClr val="57534E"/>
              </a:solidFill>
              <a:latin typeface="Azeret Mono"/>
              <a:ea typeface="Azeret Mono"/>
              <a:cs typeface="Azeret Mono"/>
              <a:sym typeface="Azeret Mono"/>
            </a:endParaRPr>
          </a:p>
          <a:p>
            <a:pPr indent="-342900" lvl="0" marL="45720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1800"/>
              <a:buFont typeface="Azeret Mono"/>
              <a:buChar char="-"/>
            </a:pPr>
            <a:r>
              <a:rPr lang="en-US" sz="1800" u="sng">
                <a:solidFill>
                  <a:schemeClr val="hlink"/>
                </a:solidFill>
                <a:latin typeface="Azeret Mono"/>
                <a:ea typeface="Azeret Mono"/>
                <a:cs typeface="Azeret Mono"/>
                <a:sym typeface="Azeret Mono"/>
                <a:hlinkClick r:id="rId6"/>
              </a:rPr>
              <a:t>Inverse</a:t>
            </a:r>
            <a:r>
              <a:rPr lang="en-US" sz="1800">
                <a:solidFill>
                  <a:srgbClr val="57534E"/>
                </a:solidFill>
                <a:latin typeface="Azeret Mono"/>
                <a:ea typeface="Azeret Mono"/>
                <a:cs typeface="Azeret Mono"/>
                <a:sym typeface="Azeret Mono"/>
              </a:rPr>
              <a:t> </a:t>
            </a:r>
            <a:endParaRPr sz="1800">
              <a:solidFill>
                <a:srgbClr val="57534E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2.4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99" name="Google Shape;9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256150"/>
            <a:ext cx="5210175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9200" y="65263"/>
            <a:ext cx="5031550" cy="672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Section 2.2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106" name="Google Shape;10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938" y="1291425"/>
            <a:ext cx="8010525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4950" y="2585750"/>
            <a:ext cx="3305175" cy="254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2.8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113" name="Google Shape;11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394175"/>
            <a:ext cx="7921750" cy="392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8"/>
          <p:cNvSpPr txBox="1"/>
          <p:nvPr/>
        </p:nvSpPr>
        <p:spPr>
          <a:xfrm>
            <a:off x="571500" y="2163067"/>
            <a:ext cx="914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78716C"/>
                </a:solidFill>
                <a:latin typeface="Azeret Mono"/>
                <a:ea typeface="Azeret Mono"/>
                <a:cs typeface="Azeret Mono"/>
                <a:sym typeface="Azeret Mono"/>
              </a:rPr>
              <a:t>Part </a:t>
            </a:r>
            <a:r>
              <a:rPr lang="en-US" sz="1800">
                <a:solidFill>
                  <a:srgbClr val="78716C"/>
                </a:solidFill>
                <a:latin typeface="Azeret Mono"/>
                <a:ea typeface="Azeret Mono"/>
                <a:cs typeface="Azeret Mono"/>
                <a:sym typeface="Azeret Mono"/>
              </a:rPr>
              <a:t>2</a:t>
            </a:r>
            <a:endParaRPr/>
          </a:p>
        </p:txBody>
      </p:sp>
      <p:sp>
        <p:nvSpPr>
          <p:cNvPr id="120" name="Google Shape;120;p18"/>
          <p:cNvSpPr txBox="1"/>
          <p:nvPr/>
        </p:nvSpPr>
        <p:spPr>
          <a:xfrm>
            <a:off x="571500" y="2532600"/>
            <a:ext cx="1076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System of Linear Eqn</a:t>
            </a:r>
            <a:endParaRPr/>
          </a:p>
        </p:txBody>
      </p:sp>
      <p:sp>
        <p:nvSpPr>
          <p:cNvPr id="121" name="Google Shape;121;p18"/>
          <p:cNvSpPr/>
          <p:nvPr/>
        </p:nvSpPr>
        <p:spPr>
          <a:xfrm>
            <a:off x="571500" y="4647158"/>
            <a:ext cx="952500" cy="47700"/>
          </a:xfrm>
          <a:prstGeom prst="rect">
            <a:avLst/>
          </a:prstGeom>
          <a:solidFill>
            <a:srgbClr val="3C40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571500" y="4700057"/>
            <a:ext cx="11049000" cy="16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7534E"/>
                </a:solidFill>
                <a:latin typeface="Azeret Mono"/>
                <a:ea typeface="Azeret Mono"/>
                <a:cs typeface="Azeret Mono"/>
                <a:sym typeface="Azeret Mono"/>
              </a:rPr>
              <a:t>Target for 11 Nov 2025, Tuesday</a:t>
            </a:r>
            <a:endParaRPr sz="1800">
              <a:solidFill>
                <a:srgbClr val="57534E"/>
              </a:solidFill>
              <a:latin typeface="Azeret Mono"/>
              <a:ea typeface="Azeret Mono"/>
              <a:cs typeface="Azeret Mono"/>
              <a:sym typeface="Azeret Mono"/>
            </a:endParaRPr>
          </a:p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7534E"/>
                </a:solidFill>
                <a:latin typeface="Azeret Mono"/>
                <a:ea typeface="Azeret Mono"/>
                <a:cs typeface="Azeret Mono"/>
                <a:sym typeface="Azeret Mono"/>
              </a:rPr>
              <a:t>Refresher video links: </a:t>
            </a:r>
            <a:endParaRPr sz="1800">
              <a:solidFill>
                <a:srgbClr val="57534E"/>
              </a:solidFill>
              <a:latin typeface="Azeret Mono"/>
              <a:ea typeface="Azeret Mono"/>
              <a:cs typeface="Azeret Mono"/>
              <a:sym typeface="Azeret Mono"/>
            </a:endParaRPr>
          </a:p>
          <a:p>
            <a:pPr indent="-342900" lvl="0" marL="45720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1800"/>
              <a:buFont typeface="Azeret Mono"/>
              <a:buChar char="-"/>
            </a:pPr>
            <a:r>
              <a:rPr lang="en-US" sz="1800" u="sng">
                <a:solidFill>
                  <a:schemeClr val="hlink"/>
                </a:solidFill>
                <a:latin typeface="Azeret Mono"/>
                <a:ea typeface="Azeret Mono"/>
                <a:cs typeface="Azeret Mono"/>
                <a:sym typeface="Azeret Mono"/>
                <a:hlinkClick r:id="rId4"/>
              </a:rPr>
              <a:t>Intro to Linear Eqn</a:t>
            </a:r>
            <a:endParaRPr sz="1800">
              <a:solidFill>
                <a:srgbClr val="57534E"/>
              </a:solidFill>
              <a:latin typeface="Azeret Mono"/>
              <a:ea typeface="Azeret Mono"/>
              <a:cs typeface="Azeret Mono"/>
              <a:sym typeface="Azeret Mono"/>
            </a:endParaRPr>
          </a:p>
          <a:p>
            <a:pPr indent="-342900" lvl="0" marL="45720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57534E"/>
              </a:buClr>
              <a:buSzPts val="1800"/>
              <a:buFont typeface="Azeret Mono"/>
              <a:buChar char="-"/>
            </a:pPr>
            <a:r>
              <a:rPr lang="en-US" sz="1800" u="sng">
                <a:solidFill>
                  <a:schemeClr val="hlink"/>
                </a:solidFill>
                <a:latin typeface="Azeret Mono"/>
                <a:ea typeface="Azeret Mono"/>
                <a:cs typeface="Azeret Mono"/>
                <a:sym typeface="Azeret Mono"/>
                <a:hlinkClick r:id="rId5"/>
              </a:rPr>
              <a:t>Solving Linear Eqns</a:t>
            </a:r>
            <a:endParaRPr sz="1800">
              <a:solidFill>
                <a:srgbClr val="57534E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Refresher - NonHomogeneous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128" name="Google Shape;12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156600"/>
            <a:ext cx="4476750" cy="1323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8900" y="2546325"/>
            <a:ext cx="3395950" cy="4039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03675" y="1156600"/>
            <a:ext cx="4994725" cy="264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89150" y="4321825"/>
            <a:ext cx="4909250" cy="117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Refresher - Homogeneous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137" name="Google Shape;13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142100"/>
            <a:ext cx="1943100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500" y="2174925"/>
            <a:ext cx="8134350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1500" y="3483975"/>
            <a:ext cx="5267325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1500" y="5107350"/>
            <a:ext cx="7267575" cy="14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2.5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146" name="Google Shape;14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185600"/>
            <a:ext cx="10323300" cy="518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2.6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152" name="Google Shape;15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326725"/>
            <a:ext cx="11497475" cy="277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3"/>
          <p:cNvSpPr txBox="1"/>
          <p:nvPr/>
        </p:nvSpPr>
        <p:spPr>
          <a:xfrm>
            <a:off x="571500" y="2163067"/>
            <a:ext cx="914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78716C"/>
                </a:solidFill>
                <a:latin typeface="Azeret Mono"/>
                <a:ea typeface="Azeret Mono"/>
                <a:cs typeface="Azeret Mono"/>
                <a:sym typeface="Azeret Mono"/>
              </a:rPr>
              <a:t>Part </a:t>
            </a:r>
            <a:r>
              <a:rPr lang="en-US" sz="1800">
                <a:solidFill>
                  <a:srgbClr val="78716C"/>
                </a:solidFill>
                <a:latin typeface="Azeret Mono"/>
                <a:ea typeface="Azeret Mono"/>
                <a:cs typeface="Azeret Mono"/>
                <a:sym typeface="Azeret Mono"/>
              </a:rPr>
              <a:t>3</a:t>
            </a:r>
            <a:endParaRPr/>
          </a:p>
        </p:txBody>
      </p:sp>
      <p:sp>
        <p:nvSpPr>
          <p:cNvPr id="159" name="Google Shape;159;p23"/>
          <p:cNvSpPr txBox="1"/>
          <p:nvPr/>
        </p:nvSpPr>
        <p:spPr>
          <a:xfrm>
            <a:off x="571500" y="2532600"/>
            <a:ext cx="1076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Linear Independence</a:t>
            </a:r>
            <a:endParaRPr/>
          </a:p>
        </p:txBody>
      </p:sp>
      <p:sp>
        <p:nvSpPr>
          <p:cNvPr id="160" name="Google Shape;160;p23"/>
          <p:cNvSpPr/>
          <p:nvPr/>
        </p:nvSpPr>
        <p:spPr>
          <a:xfrm>
            <a:off x="571500" y="4647158"/>
            <a:ext cx="952500" cy="47700"/>
          </a:xfrm>
          <a:prstGeom prst="rect">
            <a:avLst/>
          </a:prstGeom>
          <a:solidFill>
            <a:srgbClr val="3C40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3"/>
          <p:cNvSpPr txBox="1"/>
          <p:nvPr/>
        </p:nvSpPr>
        <p:spPr>
          <a:xfrm>
            <a:off x="571500" y="4883340"/>
            <a:ext cx="110490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7534E"/>
                </a:solidFill>
                <a:latin typeface="Azeret Mono"/>
                <a:ea typeface="Azeret Mono"/>
                <a:cs typeface="Azeret Mono"/>
                <a:sym typeface="Azeret Mono"/>
              </a:rPr>
              <a:t>Refresher video: </a:t>
            </a:r>
            <a:r>
              <a:rPr lang="en-US" sz="1800" u="sng">
                <a:solidFill>
                  <a:schemeClr val="hlink"/>
                </a:solidFill>
                <a:latin typeface="Azeret Mono"/>
                <a:ea typeface="Azeret Mono"/>
                <a:cs typeface="Azeret Mono"/>
                <a:sym typeface="Azeret Mono"/>
                <a:hlinkClick r:id="rId4"/>
              </a:rPr>
              <a:t>https://www.youtube.com/watch?v=9kDpbZCK62Y</a:t>
            </a:r>
            <a:endParaRPr sz="1800">
              <a:solidFill>
                <a:srgbClr val="57534E"/>
              </a:solidFill>
              <a:latin typeface="Azeret Mono"/>
              <a:ea typeface="Azeret Mono"/>
              <a:cs typeface="Azeret Mono"/>
              <a:sym typeface="Azeret Mono"/>
            </a:endParaRPr>
          </a:p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57534E"/>
              </a:solidFill>
              <a:latin typeface="Azeret Mono"/>
              <a:ea typeface="Azeret Mono"/>
              <a:cs typeface="Azeret Mono"/>
              <a:sym typeface="Azeret Mono"/>
            </a:endParaRPr>
          </a:p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7534E"/>
                </a:solidFill>
                <a:latin typeface="Azeret Mono"/>
                <a:ea typeface="Azeret Mono"/>
                <a:cs typeface="Azeret Mono"/>
                <a:sym typeface="Azeret Mono"/>
              </a:rPr>
              <a:t>Reference slides: </a:t>
            </a:r>
            <a:r>
              <a:rPr lang="en-US" sz="1800" u="sng">
                <a:solidFill>
                  <a:schemeClr val="hlink"/>
                </a:solidFill>
                <a:latin typeface="Azeret Mono"/>
                <a:ea typeface="Azeret Mono"/>
                <a:cs typeface="Azeret Mono"/>
                <a:sym typeface="Azeret Mono"/>
                <a:hlinkClick r:id="rId5"/>
              </a:rPr>
              <a:t>Lesson 2</a:t>
            </a:r>
            <a:r>
              <a:rPr lang="en-US" sz="1800">
                <a:solidFill>
                  <a:srgbClr val="57534E"/>
                </a:solidFill>
                <a:latin typeface="Azeret Mono"/>
                <a:ea typeface="Azeret Mono"/>
                <a:cs typeface="Azeret Mono"/>
                <a:sym typeface="Azeret Mono"/>
              </a:rPr>
              <a:t> - slides 20 to 22 </a:t>
            </a:r>
            <a:endParaRPr sz="1800">
              <a:solidFill>
                <a:srgbClr val="57534E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Section 1.7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167" name="Google Shape;16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185600"/>
            <a:ext cx="5585625" cy="62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500" y="2154875"/>
            <a:ext cx="4551225" cy="394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21650" y="1214925"/>
            <a:ext cx="5476875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80325" y="1958625"/>
            <a:ext cx="4235775" cy="422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2.10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176" name="Google Shape;17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185600"/>
            <a:ext cx="9992825" cy="5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6"/>
          <p:cNvSpPr txBox="1"/>
          <p:nvPr/>
        </p:nvSpPr>
        <p:spPr>
          <a:xfrm>
            <a:off x="571500" y="2163067"/>
            <a:ext cx="914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78716C"/>
                </a:solidFill>
                <a:latin typeface="Azeret Mono"/>
                <a:ea typeface="Azeret Mono"/>
                <a:cs typeface="Azeret Mono"/>
                <a:sym typeface="Azeret Mono"/>
              </a:rPr>
              <a:t>Part </a:t>
            </a:r>
            <a:r>
              <a:rPr lang="en-US" sz="1800">
                <a:solidFill>
                  <a:srgbClr val="78716C"/>
                </a:solidFill>
                <a:latin typeface="Azeret Mono"/>
                <a:ea typeface="Azeret Mono"/>
                <a:cs typeface="Azeret Mono"/>
                <a:sym typeface="Azeret Mono"/>
              </a:rPr>
              <a:t>4</a:t>
            </a:r>
            <a:endParaRPr/>
          </a:p>
        </p:txBody>
      </p:sp>
      <p:sp>
        <p:nvSpPr>
          <p:cNvPr id="183" name="Google Shape;183;p26"/>
          <p:cNvSpPr txBox="1"/>
          <p:nvPr/>
        </p:nvSpPr>
        <p:spPr>
          <a:xfrm>
            <a:off x="571500" y="2532600"/>
            <a:ext cx="107697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Vector Space</a:t>
            </a:r>
            <a:endParaRPr/>
          </a:p>
        </p:txBody>
      </p:sp>
      <p:sp>
        <p:nvSpPr>
          <p:cNvPr id="184" name="Google Shape;184;p26"/>
          <p:cNvSpPr/>
          <p:nvPr/>
        </p:nvSpPr>
        <p:spPr>
          <a:xfrm>
            <a:off x="571500" y="4647158"/>
            <a:ext cx="952500" cy="47700"/>
          </a:xfrm>
          <a:prstGeom prst="rect">
            <a:avLst/>
          </a:prstGeom>
          <a:solidFill>
            <a:srgbClr val="3C40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7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2.1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190" name="Google Shape;19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309075"/>
            <a:ext cx="8999050" cy="268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8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2.3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196" name="Google Shape;19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450175"/>
            <a:ext cx="10021275" cy="310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2.9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202" name="Google Shape;20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291450"/>
            <a:ext cx="11358826" cy="360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0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Section 4.1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208" name="Google Shape;20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309075"/>
            <a:ext cx="5629275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500" y="2861300"/>
            <a:ext cx="5505450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64850" y="1309075"/>
            <a:ext cx="5467350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74375" y="3159050"/>
            <a:ext cx="5448300" cy="18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1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Section 4.3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217" name="Google Shape;21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185600"/>
            <a:ext cx="5798400" cy="81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500" y="2152650"/>
            <a:ext cx="2978150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83562" y="2152650"/>
            <a:ext cx="3977463" cy="12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1507" y="3898875"/>
            <a:ext cx="7376550" cy="205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2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Section 4.3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226" name="Google Shape;22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854" y="1195725"/>
            <a:ext cx="2578850" cy="82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AF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3"/>
          <p:cNvSpPr txBox="1"/>
          <p:nvPr/>
        </p:nvSpPr>
        <p:spPr>
          <a:xfrm>
            <a:off x="571500" y="4015150"/>
            <a:ext cx="3402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78716C"/>
                </a:solidFill>
                <a:latin typeface="Azeret Mono"/>
                <a:ea typeface="Azeret Mono"/>
                <a:cs typeface="Azeret Mono"/>
                <a:sym typeface="Azeret Mono"/>
              </a:rPr>
              <a:t>Deisenroth Book</a:t>
            </a:r>
            <a:endParaRPr/>
          </a:p>
        </p:txBody>
      </p:sp>
      <p:sp>
        <p:nvSpPr>
          <p:cNvPr id="233" name="Google Shape;233;p33"/>
          <p:cNvSpPr txBox="1"/>
          <p:nvPr/>
        </p:nvSpPr>
        <p:spPr>
          <a:xfrm>
            <a:off x="571500" y="2532600"/>
            <a:ext cx="107697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333333"/>
                </a:solidFill>
                <a:latin typeface="Azeret Mono"/>
                <a:ea typeface="Azeret Mono"/>
                <a:cs typeface="Azeret Mono"/>
                <a:sym typeface="Azeret Mono"/>
              </a:rPr>
              <a:t>Solution</a:t>
            </a:r>
            <a:endParaRPr b="1" sz="6000">
              <a:solidFill>
                <a:srgbClr val="333333"/>
              </a:solidFill>
              <a:latin typeface="Azeret Mono"/>
              <a:ea typeface="Azeret Mono"/>
              <a:cs typeface="Azeret Mono"/>
              <a:sym typeface="Azeret Mon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3"/>
          <p:cNvSpPr/>
          <p:nvPr/>
        </p:nvSpPr>
        <p:spPr>
          <a:xfrm>
            <a:off x="571500" y="4647158"/>
            <a:ext cx="952500" cy="47700"/>
          </a:xfrm>
          <a:prstGeom prst="rect">
            <a:avLst/>
          </a:prstGeom>
          <a:solidFill>
            <a:srgbClr val="3C40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4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2.1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240" name="Google Shape;24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115050"/>
            <a:ext cx="5383141" cy="55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06891" y="2533650"/>
            <a:ext cx="4572000" cy="17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5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2.3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247" name="Google Shape;247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185600"/>
            <a:ext cx="5581650" cy="4943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05550" y="1185600"/>
            <a:ext cx="5648325" cy="545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6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2.3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254" name="Google Shape;254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257300"/>
            <a:ext cx="5448300" cy="434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9825" y="1361975"/>
            <a:ext cx="5419725" cy="229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7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2.4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261" name="Google Shape;261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033200"/>
            <a:ext cx="5781997" cy="55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8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2.5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267" name="Google Shape;267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185600"/>
            <a:ext cx="5086350" cy="345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67400" y="1185600"/>
            <a:ext cx="5012024" cy="552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4795575"/>
            <a:ext cx="3316442" cy="191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9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2.5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275" name="Google Shape;27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303075"/>
            <a:ext cx="6233350" cy="358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0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2.6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281" name="Google Shape;281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115025"/>
            <a:ext cx="5762625" cy="528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45275" y="1115025"/>
            <a:ext cx="3524927" cy="55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1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2.6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288" name="Google Shape;288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115025"/>
            <a:ext cx="5762625" cy="528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45275" y="1115025"/>
            <a:ext cx="3524927" cy="552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2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2.8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295" name="Google Shape;295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150325"/>
            <a:ext cx="5981700" cy="527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3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2.8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301" name="Google Shape;301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132675"/>
            <a:ext cx="5324475" cy="377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0600" y="1132675"/>
            <a:ext cx="4714875" cy="346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4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2.9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308" name="Google Shape;308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115050"/>
            <a:ext cx="5750385" cy="5520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4285" y="1185600"/>
            <a:ext cx="5295900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5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Question 2.10</a:t>
            </a:r>
            <a:endParaRPr b="1" sz="3600">
              <a:solidFill>
                <a:srgbClr val="3C4043"/>
              </a:solidFill>
              <a:latin typeface="Azeret Mono"/>
              <a:ea typeface="Azeret Mono"/>
              <a:cs typeface="Azeret Mono"/>
              <a:sym typeface="Azeret Mono"/>
            </a:endParaRPr>
          </a:p>
        </p:txBody>
      </p:sp>
      <p:pic>
        <p:nvPicPr>
          <p:cNvPr id="315" name="Google Shape;315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500" y="1238250"/>
            <a:ext cx="5686425" cy="438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80875" y="1238250"/>
            <a:ext cx="4656325" cy="154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80875" y="2991625"/>
            <a:ext cx="4981575" cy="13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