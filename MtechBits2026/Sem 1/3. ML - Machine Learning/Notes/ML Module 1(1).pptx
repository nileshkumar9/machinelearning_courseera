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Roboto Slab"/>
      <p:regular r:id="rId27"/>
      <p:bold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4272D0-650C-4BD6-8BD6-01335C825B0B}">
  <a:tblStyle styleId="{064272D0-650C-4BD6-8BD6-01335C825B0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Slab-bold.fntdata"/><Relationship Id="rId27" Type="http://schemas.openxmlformats.org/officeDocument/2006/relationships/font" Target="fonts/RobotoSlab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La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5983fa3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65983fa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65983fa3f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65983fa3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9f33ab04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99f33ab048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9f33ab048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99f33ab048_1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65983fa3f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a65983fa3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8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725959"/>
            <a:ext cx="11601450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Introduction to Machine Learning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152775" y="4438501"/>
            <a:ext cx="58864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Module 1: Foundations, Definitions, and Taxonomy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78485"/>
            <a:ext cx="5286375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What is Machine Learning?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0203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695325" y="244018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244018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Field of study giving computers the ability to learn from data without explicit programming.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95325" y="316408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316408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subset of Artificial Intelligence (AI).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95325" y="358318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358318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Algorithms improve performance through Experience (E).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52475" y="4411860"/>
            <a:ext cx="49625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Key Shift: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machine generates the rules (model) by observing patterns, rather than humans defining every rule.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700" y="1430800"/>
            <a:ext cx="6886575" cy="37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/>
        </p:nvSpPr>
        <p:spPr>
          <a:xfrm>
            <a:off x="1892425" y="2426575"/>
            <a:ext cx="94680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ML is used when: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•</a:t>
            </a:r>
            <a:r>
              <a:rPr lang="en-US" sz="2500">
                <a:solidFill>
                  <a:schemeClr val="dk1"/>
                </a:solidFill>
              </a:rPr>
              <a:t>Human expertise does not exist (navigating on Mars)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•</a:t>
            </a:r>
            <a:r>
              <a:rPr lang="en-US" sz="2500">
                <a:solidFill>
                  <a:schemeClr val="dk1"/>
                </a:solidFill>
              </a:rPr>
              <a:t>Humans can’t explain their expertise (Biometrics)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•</a:t>
            </a:r>
            <a:r>
              <a:rPr lang="en-US" sz="2500">
                <a:solidFill>
                  <a:schemeClr val="dk1"/>
                </a:solidFill>
              </a:rPr>
              <a:t>Models must be customized (personalized medicine)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FF0000"/>
                </a:solidFill>
              </a:rPr>
              <a:t>•</a:t>
            </a:r>
            <a:r>
              <a:rPr lang="en-US" sz="2500">
                <a:solidFill>
                  <a:srgbClr val="FF0000"/>
                </a:solidFill>
              </a:rPr>
              <a:t>Learning isn’t always useful:</a:t>
            </a:r>
            <a:endParaRPr sz="2500">
              <a:solidFill>
                <a:srgbClr val="FF0000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</a:t>
            </a:r>
            <a:r>
              <a:rPr lang="en-US" sz="2500">
                <a:solidFill>
                  <a:schemeClr val="dk1"/>
                </a:solidFill>
              </a:rPr>
              <a:t>There is no need to “learn” to calculate payroll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2212025" y="455725"/>
            <a:ext cx="7896600" cy="12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for Machine Learning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Taxonomy of Machine Learning</a:t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571500" y="2580233"/>
            <a:ext cx="555069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Roboto Slab"/>
                <a:ea typeface="Roboto Slab"/>
                <a:cs typeface="Roboto Slab"/>
                <a:sym typeface="Roboto Slab"/>
              </a:rPr>
              <a:t>Three Core Types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695325" y="30430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809625" y="304308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Supervised Learning: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Uses labeled inputs (data + known outputs).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695325" y="37669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809625" y="376698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Unsupervised Learning: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Uses unlabeled data; learns hidden patterns.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695325" y="44908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809625" y="449088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Reinforcement Learning: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Uses delayed feedback (rewards) based on actions.</a:t>
            </a:r>
            <a:endParaRPr/>
          </a:p>
        </p:txBody>
      </p:sp>
      <p:pic>
        <p:nvPicPr>
          <p:cNvPr id="130" name="Google Shape;13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9137" y="2743150"/>
            <a:ext cx="4796347" cy="23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Supervised Learning Overview</a:t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571500" y="464239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Predicting voter preference based on age and location.</a:t>
            </a:r>
            <a:endParaRPr/>
          </a:p>
        </p:txBody>
      </p:sp>
      <p:pic>
        <p:nvPicPr>
          <p:cNvPr descr="image.png" id="139" name="Google Shape;13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203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695325" y="265717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809625" y="2657177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Goal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Learn a function   f  (  x  )   mapping inputs to outputs.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695325" y="307627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809625" y="3076277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Training set contains paired examples:   </a:t>
            </a:r>
            <a:endParaRPr b="0" i="0" sz="1500" u="none" cap="none" strike="noStrik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   x   1   ,   y   1   )  ...  (   x   n   ,   y   n   )  .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695325" y="384229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809625" y="384229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Process is "supervised" by knowing the correct label (target) for each example.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Task 1: Classification</a:t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571500" y="2827883"/>
            <a:ext cx="555069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Roboto Slab"/>
                <a:ea typeface="Roboto Slab"/>
                <a:cs typeface="Roboto Slab"/>
                <a:sym typeface="Roboto Slab"/>
              </a:rPr>
              <a:t>Predicting Discrete Labels</a:t>
            </a:r>
            <a:endParaRPr/>
          </a:p>
        </p:txBody>
      </p:sp>
      <p:pic>
        <p:nvPicPr>
          <p:cNvPr id="155" name="Google Shape;155;p19"/>
          <p:cNvPicPr preferRelativeResize="0"/>
          <p:nvPr/>
        </p:nvPicPr>
        <p:blipFill rotWithShape="1">
          <a:blip r:embed="rId5">
            <a:alphaModFix/>
          </a:blip>
          <a:srcRect b="-1536" l="-16941" r="-26264" t="-1525"/>
          <a:stretch/>
        </p:blipFill>
        <p:spPr>
          <a:xfrm>
            <a:off x="6343650" y="2002035"/>
            <a:ext cx="5267324" cy="379094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695325" y="329073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809625" y="329073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output variable   y   is a discrete category.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695325" y="370983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809625" y="370983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Binary: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Two classes (e.g., Spam / Not Spam).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695325" y="412893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809625" y="412893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Multiclass: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&gt;2 classes (e.g., Cat / Dog / Lizard).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95325" y="454803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809625" y="454803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Objective: Draw a boundary (hyperplane) to separate groups.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Task 2: Regression</a:t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71500" y="2732633"/>
            <a:ext cx="555069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Roboto Slab"/>
                <a:ea typeface="Roboto Slab"/>
                <a:cs typeface="Roboto Slab"/>
                <a:sym typeface="Roboto Slab"/>
              </a:rPr>
              <a:t>Predicting Continuous Values</a:t>
            </a:r>
            <a:endParaRPr/>
          </a:p>
        </p:txBody>
      </p:sp>
      <p:pic>
        <p:nvPicPr>
          <p:cNvPr descr="image.png" id="173" name="Google Shape;17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203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695325" y="31954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809625" y="319548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output   y   is a real number (continuous).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695325" y="36145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809625" y="361458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Goal: Fit a function to model the trend (e.g., stock price, temperature).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95325" y="43384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809625" y="433848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Minimize error (e.g., Sum of Squared Error) between predicted and true values.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571500" y="47625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Supervised Learning Techniques/Algorithms</a:t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571500" y="2002035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85800" y="2002035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Linear Regression: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Fits straight line/plane to minimize error.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71500" y="2722172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85800" y="2722172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Logistic Regression: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Estimates probability for classification.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578518" y="3096585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92818" y="3096585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Support Vector Machines (SVM):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Finds maximal margin hyperplane to separate classes. Effective in high dimensions.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578518" y="4182959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92818" y="4182959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Decision Trees: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Sequence of binary splits; highly interpretable.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578518" y="4906859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92818" y="4906859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Naïve Bayes: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Probabilistic classifier assuming feature independence.</a:t>
            </a:r>
            <a:endParaRPr/>
          </a:p>
        </p:txBody>
      </p:sp>
      <p:pic>
        <p:nvPicPr>
          <p:cNvPr id="197" name="Google Shape;19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6925" y="2219413"/>
            <a:ext cx="4400775" cy="335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Supervised Learning Workflow</a:t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571500" y="456426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Loop: Inference comes from experience gained during training.</a:t>
            </a:r>
            <a:endParaRPr/>
          </a:p>
        </p:txBody>
      </p:sp>
      <p:pic>
        <p:nvPicPr>
          <p:cNvPr descr="image.png" id="207" name="Google Shape;20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203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800100" y="292596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952500" y="292596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Training: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Input labeled data   (  X  ,  Y  )   into algorithm.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800100" y="334506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952500" y="334506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Learning: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Generate a Learned Model (Hypothesis).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800100" y="376416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952500" y="376416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Inference: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Feed unseen data   X  '   to model to get Prediction   Y  '  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Unsupervised Learning</a:t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571500" y="2885033"/>
            <a:ext cx="555069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Roboto Slab"/>
                <a:ea typeface="Roboto Slab"/>
                <a:cs typeface="Roboto Slab"/>
                <a:sym typeface="Roboto Slab"/>
              </a:rPr>
              <a:t>Finding Hidden Structure</a:t>
            </a:r>
            <a:endParaRPr/>
          </a:p>
        </p:txBody>
      </p:sp>
      <p:pic>
        <p:nvPicPr>
          <p:cNvPr descr="image.png" id="223" name="Google Shape;22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203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695325" y="33478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809625" y="334788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Input data has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 labels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695325" y="37669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809625" y="376698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Goal: Discover implicit patterns, groups, or structures.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695325" y="41860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809625" y="418608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Key Applications: Clustering, Density Estimation, Dimensionality Reduction.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 txBox="1"/>
          <p:nvPr/>
        </p:nvSpPr>
        <p:spPr>
          <a:xfrm>
            <a:off x="571500" y="47625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Uns</a:t>
            </a:r>
            <a:r>
              <a:rPr b="1" lang="en-US" sz="3150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upervised Learning Techniques/Algorithms</a:t>
            </a:r>
            <a:endParaRPr/>
          </a:p>
        </p:txBody>
      </p:sp>
      <p:sp>
        <p:nvSpPr>
          <p:cNvPr id="235" name="Google Shape;235;p24"/>
          <p:cNvSpPr/>
          <p:nvPr/>
        </p:nvSpPr>
        <p:spPr>
          <a:xfrm>
            <a:off x="571500" y="1099095"/>
            <a:ext cx="110490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646645"/>
            <a:ext cx="596265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Reinforcement Learning (RL)</a:t>
            </a:r>
            <a:endParaRPr/>
          </a:p>
        </p:txBody>
      </p:sp>
      <p:sp>
        <p:nvSpPr>
          <p:cNvPr id="244" name="Google Shape;244;p25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5" name="Google Shape;24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203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 txBox="1"/>
          <p:nvPr/>
        </p:nvSpPr>
        <p:spPr>
          <a:xfrm>
            <a:off x="695325" y="30593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809625" y="305931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Agent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interacts with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Environment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695325" y="34784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809625" y="347841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Selects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Action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→ Receives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Reward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/Penalty.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695325" y="38975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809625" y="389751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Goal: Learn optimal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Policy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maximize cumulative reward.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695325" y="43166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809625" y="431661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Challenge: Credit Assignment (delayed rewards).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Comparing Core ML Types</a:t>
            </a:r>
            <a:endParaRPr/>
          </a:p>
        </p:txBody>
      </p:sp>
      <p:sp>
        <p:nvSpPr>
          <p:cNvPr id="260" name="Google Shape;260;p26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1" name="Google Shape;261;p26"/>
          <p:cNvGraphicFramePr/>
          <p:nvPr/>
        </p:nvGraphicFramePr>
        <p:xfrm>
          <a:off x="571500" y="27821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{064272D0-650C-4BD6-8BD6-01335C825B0B}</a:tableStyleId>
              </a:tblPr>
              <a:tblGrid>
                <a:gridCol w="2215150"/>
                <a:gridCol w="2620425"/>
                <a:gridCol w="3376750"/>
                <a:gridCol w="2836675"/>
              </a:tblGrid>
              <a:tr h="60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Source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Approach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60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Supervised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Labeled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Prediction / Classification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Map Input → Output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0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Unsupervised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Unlabeled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Structure / Clustering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Discover Patterns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0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Reinforcement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Feedback (Reward)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Control / Policy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Trial &amp; Error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62" name="Google Shape;262;p26"/>
          <p:cNvSpPr/>
          <p:nvPr/>
        </p:nvSpPr>
        <p:spPr>
          <a:xfrm>
            <a:off x="571500" y="3988891"/>
            <a:ext cx="221515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2786657" y="3988891"/>
            <a:ext cx="262041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5407074" y="3988891"/>
            <a:ext cx="337676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8783835" y="3988891"/>
            <a:ext cx="28366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571500" y="4588966"/>
            <a:ext cx="221515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2786657" y="4588966"/>
            <a:ext cx="262041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5407074" y="4588966"/>
            <a:ext cx="337676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8783835" y="4588966"/>
            <a:ext cx="28366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571500" y="5189041"/>
            <a:ext cx="221515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2786657" y="5189041"/>
            <a:ext cx="262041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5407074" y="5189041"/>
            <a:ext cx="337676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8783835" y="5189041"/>
            <a:ext cx="283666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Semi-Supervised Learning</a:t>
            </a:r>
            <a:endParaRPr/>
          </a:p>
        </p:txBody>
      </p:sp>
      <p:sp>
        <p:nvSpPr>
          <p:cNvPr id="281" name="Google Shape;281;p27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2" name="Google Shape;28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203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 txBox="1"/>
          <p:nvPr/>
        </p:nvSpPr>
        <p:spPr>
          <a:xfrm>
            <a:off x="695325" y="27545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809625" y="275451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Combines supervised and unsupervised methods.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695325" y="31736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6" name="Google Shape;286;p27"/>
          <p:cNvSpPr txBox="1"/>
          <p:nvPr/>
        </p:nvSpPr>
        <p:spPr>
          <a:xfrm>
            <a:off x="809625" y="317361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Scenario: Small amount of labeled data + Large amount of unlabeled data.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695325" y="38975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809625" y="389751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Method: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Cluster data first, then propagate labels to neighbors.</a:t>
            </a:r>
            <a:endParaRPr/>
          </a:p>
        </p:txBody>
      </p:sp>
      <p:sp>
        <p:nvSpPr>
          <p:cNvPr id="289" name="Google Shape;289;p27"/>
          <p:cNvSpPr txBox="1"/>
          <p:nvPr/>
        </p:nvSpPr>
        <p:spPr>
          <a:xfrm>
            <a:off x="695325" y="46214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809625" y="462141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Example: Google Photos face tagging.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94533"/>
            <a:ext cx="5286375" cy="2405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94533"/>
            <a:ext cx="5286375" cy="240595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8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Learning Taxonomy: Data Usage</a:t>
            </a:r>
            <a:endParaRPr/>
          </a:p>
        </p:txBody>
      </p:sp>
      <p:sp>
        <p:nvSpPr>
          <p:cNvPr id="299" name="Google Shape;299;p28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8"/>
          <p:cNvSpPr txBox="1"/>
          <p:nvPr/>
        </p:nvSpPr>
        <p:spPr>
          <a:xfrm>
            <a:off x="914400" y="3037433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Roboto Slab"/>
                <a:ea typeface="Roboto Slab"/>
                <a:cs typeface="Roboto Slab"/>
                <a:sym typeface="Roboto Slab"/>
              </a:rPr>
              <a:t>Batch Learning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6677025" y="3037433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Roboto Slab"/>
                <a:ea typeface="Roboto Slab"/>
                <a:cs typeface="Roboto Slab"/>
                <a:sym typeface="Roboto Slab"/>
              </a:rPr>
              <a:t>Online Learning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1038225" y="35002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3" name="Google Shape;303;p28"/>
          <p:cNvSpPr txBox="1"/>
          <p:nvPr/>
        </p:nvSpPr>
        <p:spPr>
          <a:xfrm>
            <a:off x="1152525" y="3500288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Offline training.</a:t>
            </a:r>
            <a:endParaRPr/>
          </a:p>
        </p:txBody>
      </p:sp>
      <p:sp>
        <p:nvSpPr>
          <p:cNvPr id="304" name="Google Shape;304;p28"/>
          <p:cNvSpPr txBox="1"/>
          <p:nvPr/>
        </p:nvSpPr>
        <p:spPr>
          <a:xfrm>
            <a:off x="1038225" y="39193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1152525" y="3919388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Uses all available data at once.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1038225" y="43384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7" name="Google Shape;307;p28"/>
          <p:cNvSpPr txBox="1"/>
          <p:nvPr/>
        </p:nvSpPr>
        <p:spPr>
          <a:xfrm>
            <a:off x="1152525" y="4338488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Model is static after training.</a:t>
            </a:r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6800850" y="35002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6915150" y="3500288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Incremental training.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6800850" y="39193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1" name="Google Shape;311;p28"/>
          <p:cNvSpPr txBox="1"/>
          <p:nvPr/>
        </p:nvSpPr>
        <p:spPr>
          <a:xfrm>
            <a:off x="6915150" y="3919388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Updates with single instances/mini-batches.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6800850" y="43384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6915150" y="4338488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Adapts to changing data (concept drift).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9"/>
          <p:cNvSpPr txBox="1"/>
          <p:nvPr/>
        </p:nvSpPr>
        <p:spPr>
          <a:xfrm>
            <a:off x="571500" y="47625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Instance-Based vs Model-Based</a:t>
            </a:r>
            <a:endParaRPr/>
          </a:p>
        </p:txBody>
      </p:sp>
      <p:sp>
        <p:nvSpPr>
          <p:cNvPr id="321" name="Google Shape;321;p29"/>
          <p:cNvSpPr/>
          <p:nvPr/>
        </p:nvSpPr>
        <p:spPr>
          <a:xfrm>
            <a:off x="571500" y="109909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2" name="Google Shape;32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203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9"/>
          <p:cNvSpPr txBox="1"/>
          <p:nvPr/>
        </p:nvSpPr>
        <p:spPr>
          <a:xfrm>
            <a:off x="695325" y="30212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4" name="Google Shape;324;p29"/>
          <p:cNvSpPr txBox="1"/>
          <p:nvPr/>
        </p:nvSpPr>
        <p:spPr>
          <a:xfrm>
            <a:off x="809625" y="302121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Instance-Based (Lazy):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Memorizes training examples. Generalizes by comparing new data to stored points (e.g., k-NN).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695325" y="40499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809625" y="404991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Model-Based: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Detects patterns to build a predictive function/model (e.g., Regression, NN).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 txBox="1"/>
          <p:nvPr/>
        </p:nvSpPr>
        <p:spPr>
          <a:xfrm>
            <a:off x="571500" y="47625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Past Papers</a:t>
            </a:r>
            <a:endParaRPr/>
          </a:p>
        </p:txBody>
      </p:sp>
      <p:sp>
        <p:nvSpPr>
          <p:cNvPr id="332" name="Google Shape;332;p30"/>
          <p:cNvSpPr/>
          <p:nvPr/>
        </p:nvSpPr>
        <p:spPr>
          <a:xfrm>
            <a:off x="571500" y="1099095"/>
            <a:ext cx="110490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265645"/>
            <a:ext cx="7800975" cy="515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1"/>
          <p:cNvSpPr txBox="1"/>
          <p:nvPr/>
        </p:nvSpPr>
        <p:spPr>
          <a:xfrm>
            <a:off x="2012275" y="1534350"/>
            <a:ext cx="8722200" cy="3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IGNORING BELOW SLIDES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3" name="Google Shape;34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251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73635"/>
            <a:ext cx="5286375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2"/>
          <p:cNvSpPr txBox="1"/>
          <p:nvPr/>
        </p:nvSpPr>
        <p:spPr>
          <a:xfrm>
            <a:off x="571500" y="476250"/>
            <a:ext cx="116016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Engineering Definition (Tom Mitchell)</a:t>
            </a:r>
            <a:endParaRPr/>
          </a:p>
        </p:txBody>
      </p:sp>
      <p:sp>
        <p:nvSpPr>
          <p:cNvPr id="347" name="Google Shape;347;p32"/>
          <p:cNvSpPr/>
          <p:nvPr/>
        </p:nvSpPr>
        <p:spPr>
          <a:xfrm>
            <a:off x="571500" y="1099095"/>
            <a:ext cx="110490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2"/>
          <p:cNvSpPr txBox="1"/>
          <p:nvPr/>
        </p:nvSpPr>
        <p:spPr>
          <a:xfrm>
            <a:off x="571500" y="2573535"/>
            <a:ext cx="528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program learns if its performance on Task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measured by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improves with Experience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349" name="Google Shape;34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0203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2"/>
          <p:cNvSpPr txBox="1"/>
          <p:nvPr/>
        </p:nvSpPr>
        <p:spPr>
          <a:xfrm>
            <a:off x="695325" y="415468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1" name="Google Shape;351;p32"/>
          <p:cNvSpPr txBox="1"/>
          <p:nvPr/>
        </p:nvSpPr>
        <p:spPr>
          <a:xfrm>
            <a:off x="809625" y="4154685"/>
            <a:ext cx="504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Task (T):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e.g., Recognizing handwritten words.</a:t>
            </a:r>
            <a:endParaRPr/>
          </a:p>
        </p:txBody>
      </p:sp>
      <p:sp>
        <p:nvSpPr>
          <p:cNvPr id="352" name="Google Shape;352;p32"/>
          <p:cNvSpPr txBox="1"/>
          <p:nvPr/>
        </p:nvSpPr>
        <p:spPr>
          <a:xfrm>
            <a:off x="695325" y="457378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3" name="Google Shape;353;p32"/>
          <p:cNvSpPr txBox="1"/>
          <p:nvPr/>
        </p:nvSpPr>
        <p:spPr>
          <a:xfrm>
            <a:off x="809625" y="4573785"/>
            <a:ext cx="504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Performance (P):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e.g., % correctly classified.</a:t>
            </a:r>
            <a:endParaRPr/>
          </a:p>
        </p:txBody>
      </p:sp>
      <p:sp>
        <p:nvSpPr>
          <p:cNvPr id="354" name="Google Shape;354;p32"/>
          <p:cNvSpPr txBox="1"/>
          <p:nvPr/>
        </p:nvSpPr>
        <p:spPr>
          <a:xfrm>
            <a:off x="695325" y="499288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5" name="Google Shape;355;p32"/>
          <p:cNvSpPr txBox="1"/>
          <p:nvPr/>
        </p:nvSpPr>
        <p:spPr>
          <a:xfrm>
            <a:off x="809625" y="4992885"/>
            <a:ext cx="504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Experience (E):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e.g., Database of labeled images.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