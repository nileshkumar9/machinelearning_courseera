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Roboto Slab"/>
      <p:regular r:id="rId28"/>
      <p:bold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49B5B4-B4A5-4C59-8C41-D060F55C007D}">
  <a:tblStyle styleId="{A949B5B4-B4A5-4C59-8C41-D060F55C00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Slab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Slab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5983fa3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5983fa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65983fa3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65983fa3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d0151f7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ad0151f7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9f33ab04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99f33ab048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9f33ab048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99f33ab048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65983fa3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65983fa3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25959"/>
            <a:ext cx="1160145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Introduction to Machine Learning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52775" y="4438501"/>
            <a:ext cx="58864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Module 1: Foundations, Definitions, and Taxonomy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78485"/>
            <a:ext cx="5286375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What is Machine Learning?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95325" y="24401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44018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Field of study giving computers the ability to learn from data without explicit programming.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95325" y="31640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16408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subset of Artificial Intelligence (AI).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5325" y="35831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358318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Algorithms improve performance through Experience (E).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52475" y="4411860"/>
            <a:ext cx="49625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 Shift: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machine generates the rules (model) by observing patterns, rather than humans defining every rule.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713" y="1547813"/>
            <a:ext cx="688657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1892425" y="2426575"/>
            <a:ext cx="94680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ML is used when: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Human expertise does not exist (navigating on Mars)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Humans can’t explain their expertise (Biometrics)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Models must be customized (personalized medicine)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0000"/>
                </a:solidFill>
              </a:rPr>
              <a:t>•</a:t>
            </a:r>
            <a:r>
              <a:rPr lang="en-US" sz="2500">
                <a:solidFill>
                  <a:srgbClr val="FF0000"/>
                </a:solidFill>
              </a:rPr>
              <a:t>Learning isn’t always useful:</a:t>
            </a:r>
            <a:endParaRPr sz="2500">
              <a:solidFill>
                <a:srgbClr val="FF0000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There is no need to “learn” to calculate payroll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2212025" y="455725"/>
            <a:ext cx="78966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Machine Learning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Need for Machine Learning</a:t>
            </a:r>
            <a:endParaRPr b="1" sz="3150">
              <a:solidFill>
                <a:srgbClr val="1E3A8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71500" y="1099095"/>
            <a:ext cx="110490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71500" y="1676650"/>
            <a:ext cx="11601600" cy="3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ML is used when:</a:t>
            </a:r>
            <a:endParaRPr sz="25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Human expertise does not exist (navigating on Mars)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Humans can’t explain their expertise (Biometrics)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Models must be customized (personalized medicine)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•</a:t>
            </a:r>
            <a:r>
              <a:rPr lang="en-US" sz="2500">
                <a:solidFill>
                  <a:srgbClr val="FF0000"/>
                </a:solidFill>
              </a:rPr>
              <a:t>Learning isn’t always useful:</a:t>
            </a:r>
            <a:endParaRPr sz="2500">
              <a:solidFill>
                <a:srgbClr val="FF0000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There is no need to “learn” to calculate payroll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Taxonomy of Machine Learning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571500" y="2580233"/>
            <a:ext cx="55506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Three Core Types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695325" y="30430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809625" y="30430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Supervised Learning: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labeled inputs (data + known outputs).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695325" y="37669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809625" y="37669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Unsupervised Learning: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unlabeled data; learns hidden patterns.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695325" y="44908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809625" y="44908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Reinforcement Learning: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delayed feedback (rewards) based on actions.</a:t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9137" y="2743150"/>
            <a:ext cx="4796347" cy="23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Supervised Learning Overview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571500" y="464239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Predicting voter preference based on age and location.</a:t>
            </a:r>
            <a:endParaRPr/>
          </a:p>
        </p:txBody>
      </p:sp>
      <p:pic>
        <p:nvPicPr>
          <p:cNvPr descr="image.png" id="146" name="Google Shape;14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695325" y="265717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809625" y="265717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Learn a function   f  (  x  )   mapping inputs to outputs.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695325" y="307627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809625" y="3076277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Training set contains paired examples:   </a:t>
            </a:r>
            <a:endParaRPr b="0" i="0" sz="150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   x   1   ,   y   1   )  ...  (   x   n   ,   y   n   )  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695325" y="384229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809625" y="384229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Process is "supervised" by knowing the correct label (target) for each example.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Task 1: Classification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571500" y="2827883"/>
            <a:ext cx="55506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Predicting Discrete Labels</a:t>
            </a:r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5">
            <a:alphaModFix/>
          </a:blip>
          <a:srcRect b="-1536" l="-16941" r="-26264" t="-1525"/>
          <a:stretch/>
        </p:blipFill>
        <p:spPr>
          <a:xfrm>
            <a:off x="6343650" y="2002035"/>
            <a:ext cx="5267324" cy="379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695325" y="32907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809625" y="329073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output variable   y   is a discrete category.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695325" y="37098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809625" y="370983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Binary: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Two classes (e.g., Spam / Not Spam).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95325" y="41289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809625" y="412893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Multiclass: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&gt;2 classes (e.g., Cat / Dog / Lizard).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95325" y="45480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809625" y="454803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Objective: Draw a boundary (hyperplane) to separate groups.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Task 2: Regression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571500" y="2732633"/>
            <a:ext cx="55506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Predicting Continuous Values</a:t>
            </a:r>
            <a:endParaRPr/>
          </a:p>
        </p:txBody>
      </p:sp>
      <p:pic>
        <p:nvPicPr>
          <p:cNvPr descr="image.png" id="180" name="Google Shape;18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695325" y="31954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809625" y="319548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output   y   is a real number (continuous).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95325" y="36145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809625" y="36145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 Fit a function to model the trend (e.g., stock price, temperature).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95325" y="43384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809625" y="43384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Minimize error (e.g., Sum of Squared Error) between predicted and true values.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Supervised Learning Techniques/Algorithms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200203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685800" y="200203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Linear Regression: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Fits straight line/plane to minimize error.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571500" y="272217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685800" y="2722172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Logistic Regression: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Estimates probability for classification.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8518" y="309658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92818" y="3096585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 Vector Machines (SVM):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Finds maximal margin hyperplane to separate classes. Effective in high dimensions.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8518" y="4182959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92818" y="4182959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Decision Trees: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Sequence of binary splits; highly interpretable.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8518" y="4906859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92818" y="4906859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Naïve Bayes: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Probabilistic classifier assuming feature independence.</a:t>
            </a: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6925" y="2219413"/>
            <a:ext cx="4400775" cy="335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Supervised Learning Workflow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456426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Loop: Inference comes from experience gained during training.</a:t>
            </a:r>
            <a:endParaRPr/>
          </a:p>
        </p:txBody>
      </p:sp>
      <p:pic>
        <p:nvPicPr>
          <p:cNvPr descr="image.png" id="214" name="Google Shape;21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800100" y="29259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952500" y="292596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Input labeled data   (  X  ,  Y  )   into algorithm.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00100" y="33450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952500" y="334506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Generate a Learned Model (Hypothesis).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800100" y="37641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952500" y="376416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Inference: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Feed unseen data   X  '   to model to get Prediction   Y  '  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Unsupervised Learning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571500" y="2885033"/>
            <a:ext cx="55506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Finding Hidden Structure</a:t>
            </a:r>
            <a:endParaRPr/>
          </a:p>
        </p:txBody>
      </p:sp>
      <p:pic>
        <p:nvPicPr>
          <p:cNvPr descr="image.png" id="230" name="Google Shape;23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695325" y="33478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809625" y="334788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 data has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labels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695325" y="37669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809625" y="376698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 Discover implicit patterns, groups, or structures.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695325" y="41860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809625" y="41860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 Applications: Clustering, Density Estimation, Dimensionality Reduction.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Uns</a:t>
            </a:r>
            <a:r>
              <a:rPr b="1" lang="en-US" sz="3150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upervised Learning Techniques/Algorithms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571500" y="1099095"/>
            <a:ext cx="110490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646645"/>
            <a:ext cx="596265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Reinforcement Learning (RL)</a:t>
            </a: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 txBox="1"/>
          <p:nvPr/>
        </p:nvSpPr>
        <p:spPr>
          <a:xfrm>
            <a:off x="695325" y="30593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809625" y="30593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Agent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interacts with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Environment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695325" y="34784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809625" y="34784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Selects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→ Receives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Reward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/Penalty.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695325" y="38975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809625" y="38975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 Learn optimal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Policy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maximize cumulative reward.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695325" y="43166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809625" y="43166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Challenge: Credit Assignment (delayed rewards).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Comparing Core ML Types</a:t>
            </a:r>
            <a:endParaRPr/>
          </a:p>
        </p:txBody>
      </p:sp>
      <p:sp>
        <p:nvSpPr>
          <p:cNvPr id="267" name="Google Shape;267;p27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p27"/>
          <p:cNvGraphicFramePr/>
          <p:nvPr/>
        </p:nvGraphicFramePr>
        <p:xfrm>
          <a:off x="571500" y="2782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{A949B5B4-B4A5-4C59-8C41-D060F55C007D}</a:tableStyleId>
              </a:tblPr>
              <a:tblGrid>
                <a:gridCol w="2215150"/>
                <a:gridCol w="2620425"/>
                <a:gridCol w="3376750"/>
                <a:gridCol w="2836675"/>
              </a:tblGrid>
              <a:tr h="60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Approach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60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Labeled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Prediction / 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Map Input → Output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0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Unsupervised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Unlabeled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Structure / Clustering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Discover Patterns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0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Reinforcement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Feedback (Reward)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/ Policy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Trial &amp; Error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p27"/>
          <p:cNvSpPr/>
          <p:nvPr/>
        </p:nvSpPr>
        <p:spPr>
          <a:xfrm>
            <a:off x="571500" y="3988891"/>
            <a:ext cx="221515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2786657" y="3988891"/>
            <a:ext cx="262041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5407074" y="3988891"/>
            <a:ext cx="337676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8783835" y="3988891"/>
            <a:ext cx="28366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571500" y="4588966"/>
            <a:ext cx="221515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2786657" y="4588966"/>
            <a:ext cx="262041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5407074" y="4588966"/>
            <a:ext cx="337676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8783835" y="4588966"/>
            <a:ext cx="28366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571500" y="5189041"/>
            <a:ext cx="221515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2786657" y="5189041"/>
            <a:ext cx="262041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5407074" y="5189041"/>
            <a:ext cx="337676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8783835" y="5189041"/>
            <a:ext cx="28366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Semi-Supervised Learning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9" name="Google Shape;28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95325" y="27545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809625" y="27545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Combines supervised and unsupervised methods.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695325" y="31736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809625" y="317361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Scenario: Small amount of labeled data + Large amount of unlabeled data.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695325" y="38975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809625" y="389751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Cluster data first, then propagate labels to neighbors.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695325" y="46214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809625" y="46214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Example: Google Photos face tagging.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4533"/>
            <a:ext cx="5286375" cy="2405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94533"/>
            <a:ext cx="5286375" cy="240595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Learning Taxonomy: Data Usage</a:t>
            </a:r>
            <a:endParaRPr/>
          </a:p>
        </p:txBody>
      </p:sp>
      <p:sp>
        <p:nvSpPr>
          <p:cNvPr id="306" name="Google Shape;306;p29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914400" y="3037433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Batch Learning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6677025" y="3037433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Online Learning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1038225" y="35002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1152525" y="35002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Offline training.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1038225" y="39193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1152525" y="39193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Uses all available data at once.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1038225" y="43384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1152525" y="43384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 is static after training.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6800850" y="35002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6915150" y="35002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Incremental training.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6800850" y="39193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6915150" y="39193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Updates with single instances/mini-batches.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6800850" y="43384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6915150" y="43384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Adapts to changing data (concept drift).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0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Instance-Based vs Model-Based</a:t>
            </a: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0"/>
          <p:cNvSpPr txBox="1"/>
          <p:nvPr/>
        </p:nvSpPr>
        <p:spPr>
          <a:xfrm>
            <a:off x="695325" y="30212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809625" y="302121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Instance-Based (Lazy):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Memorizes training examples. Generalizes by comparing new data to stored points (e.g., k-NN).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695325" y="40499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809625" y="404991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Model-Based: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Detects patterns to build a predictive function/model (e.g., Regression, NN).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Past Papers</a:t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571500" y="1099095"/>
            <a:ext cx="110490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65645"/>
            <a:ext cx="7800975" cy="51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/>
        </p:nvSpPr>
        <p:spPr>
          <a:xfrm>
            <a:off x="2012275" y="1534350"/>
            <a:ext cx="8722200" cy="3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IGNORING BELOW SLIDES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73635"/>
            <a:ext cx="52863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3"/>
          <p:cNvSpPr txBox="1"/>
          <p:nvPr/>
        </p:nvSpPr>
        <p:spPr>
          <a:xfrm>
            <a:off x="571500" y="476250"/>
            <a:ext cx="116016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Engineering Definition (Tom Mitchell)</a:t>
            </a:r>
            <a:endParaRPr/>
          </a:p>
        </p:txBody>
      </p:sp>
      <p:sp>
        <p:nvSpPr>
          <p:cNvPr id="354" name="Google Shape;354;p33"/>
          <p:cNvSpPr/>
          <p:nvPr/>
        </p:nvSpPr>
        <p:spPr>
          <a:xfrm>
            <a:off x="571500" y="1099095"/>
            <a:ext cx="110490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571500" y="2573535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program learns if its performance on Task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measured by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improves with Experience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356" name="Google Shape;35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3"/>
          <p:cNvSpPr txBox="1"/>
          <p:nvPr/>
        </p:nvSpPr>
        <p:spPr>
          <a:xfrm>
            <a:off x="695325" y="41546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809625" y="4154685"/>
            <a:ext cx="504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Task (T):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e.g., Recognizing handwritten words.</a:t>
            </a:r>
            <a:endParaRPr/>
          </a:p>
        </p:txBody>
      </p:sp>
      <p:sp>
        <p:nvSpPr>
          <p:cNvPr id="359" name="Google Shape;359;p33"/>
          <p:cNvSpPr txBox="1"/>
          <p:nvPr/>
        </p:nvSpPr>
        <p:spPr>
          <a:xfrm>
            <a:off x="695325" y="45737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809625" y="4573785"/>
            <a:ext cx="504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Performance (P):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e.g., % correctly classified.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695325" y="49928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809625" y="4992885"/>
            <a:ext cx="504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Experience (E):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e.g., Database of labeled images.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