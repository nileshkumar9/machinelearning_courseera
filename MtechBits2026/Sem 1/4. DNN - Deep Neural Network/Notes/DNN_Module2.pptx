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</p:sldIdLst>
  <p:sldSz cy="6858000" cx="12192000"/>
  <p:notesSz cx="6858000" cy="9144000"/>
  <p:embeddedFontLst>
    <p:embeddedFont>
      <p:font typeface="Poppins"/>
      <p:regular r:id="rId91"/>
      <p:bold r:id="rId92"/>
      <p:italic r:id="rId93"/>
      <p:boldItalic r:id="rId94"/>
    </p:embeddedFont>
    <p:embeddedFont>
      <p:font typeface="Lato"/>
      <p:regular r:id="rId95"/>
      <p:bold r:id="rId96"/>
      <p:italic r:id="rId97"/>
      <p:boldItalic r:id="rId9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2E079C-D724-438B-8256-930175225709}">
  <a:tblStyle styleId="{AD2E079C-D724-438B-8256-93017522570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Lato-regular.fntdata"/><Relationship Id="rId94" Type="http://schemas.openxmlformats.org/officeDocument/2006/relationships/font" Target="fonts/Poppins-boldItalic.fntdata"/><Relationship Id="rId97" Type="http://schemas.openxmlformats.org/officeDocument/2006/relationships/font" Target="fonts/Lato-italic.fntdata"/><Relationship Id="rId96" Type="http://schemas.openxmlformats.org/officeDocument/2006/relationships/font" Target="fonts/Lato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8" Type="http://schemas.openxmlformats.org/officeDocument/2006/relationships/font" Target="fonts/La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font" Target="fonts/Poppins-regular.fntdata"/><Relationship Id="rId90" Type="http://schemas.openxmlformats.org/officeDocument/2006/relationships/slide" Target="slides/slide84.xml"/><Relationship Id="rId93" Type="http://schemas.openxmlformats.org/officeDocument/2006/relationships/font" Target="fonts/Poppins-italic.fntdata"/><Relationship Id="rId92" Type="http://schemas.openxmlformats.org/officeDocument/2006/relationships/font" Target="fonts/Poppins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7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7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8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30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22.png"/><Relationship Id="rId6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27.png"/><Relationship Id="rId6" Type="http://schemas.openxmlformats.org/officeDocument/2006/relationships/image" Target="../media/image31.png"/><Relationship Id="rId7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36.png"/><Relationship Id="rId6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33.png"/><Relationship Id="rId5" Type="http://schemas.openxmlformats.org/officeDocument/2006/relationships/image" Target="../media/image30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29.png"/><Relationship Id="rId5" Type="http://schemas.openxmlformats.org/officeDocument/2006/relationships/image" Target="../media/image21.png"/><Relationship Id="rId6" Type="http://schemas.openxmlformats.org/officeDocument/2006/relationships/image" Target="../media/image14.png"/><Relationship Id="rId7" Type="http://schemas.openxmlformats.org/officeDocument/2006/relationships/image" Target="../media/image5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26.png"/><Relationship Id="rId6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23.png"/><Relationship Id="rId5" Type="http://schemas.openxmlformats.org/officeDocument/2006/relationships/image" Target="../media/image4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34.png"/><Relationship Id="rId5" Type="http://schemas.openxmlformats.org/officeDocument/2006/relationships/image" Target="../media/image23.png"/><Relationship Id="rId6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33.png"/><Relationship Id="rId5" Type="http://schemas.openxmlformats.org/officeDocument/2006/relationships/image" Target="../media/image47.png"/><Relationship Id="rId6" Type="http://schemas.openxmlformats.org/officeDocument/2006/relationships/image" Target="../media/image4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5.png"/><Relationship Id="rId4" Type="http://schemas.openxmlformats.org/officeDocument/2006/relationships/image" Target="../media/image51.png"/><Relationship Id="rId5" Type="http://schemas.openxmlformats.org/officeDocument/2006/relationships/image" Target="../media/image46.png"/><Relationship Id="rId6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37.png"/><Relationship Id="rId5" Type="http://schemas.openxmlformats.org/officeDocument/2006/relationships/image" Target="../media/image46.png"/><Relationship Id="rId6" Type="http://schemas.openxmlformats.org/officeDocument/2006/relationships/image" Target="../media/image5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5.png"/><Relationship Id="rId4" Type="http://schemas.openxmlformats.org/officeDocument/2006/relationships/image" Target="../media/image37.png"/><Relationship Id="rId5" Type="http://schemas.openxmlformats.org/officeDocument/2006/relationships/image" Target="../media/image5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52.png"/><Relationship Id="rId5" Type="http://schemas.openxmlformats.org/officeDocument/2006/relationships/image" Target="../media/image46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5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57.png"/><Relationship Id="rId5" Type="http://schemas.openxmlformats.org/officeDocument/2006/relationships/image" Target="../media/image56.png"/><Relationship Id="rId6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85.png"/><Relationship Id="rId7" Type="http://schemas.openxmlformats.org/officeDocument/2006/relationships/image" Target="../media/image6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60.png"/><Relationship Id="rId6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Relationship Id="rId4" Type="http://schemas.openxmlformats.org/officeDocument/2006/relationships/image" Target="../media/image46.png"/><Relationship Id="rId5" Type="http://schemas.openxmlformats.org/officeDocument/2006/relationships/image" Target="../media/image66.png"/><Relationship Id="rId6" Type="http://schemas.openxmlformats.org/officeDocument/2006/relationships/image" Target="../media/image10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Relationship Id="rId4" Type="http://schemas.openxmlformats.org/officeDocument/2006/relationships/image" Target="../media/image46.png"/><Relationship Id="rId5" Type="http://schemas.openxmlformats.org/officeDocument/2006/relationships/image" Target="../media/image86.png"/><Relationship Id="rId6" Type="http://schemas.openxmlformats.org/officeDocument/2006/relationships/image" Target="../media/image6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62.png"/><Relationship Id="rId6" Type="http://schemas.openxmlformats.org/officeDocument/2006/relationships/image" Target="../media/image61.png"/><Relationship Id="rId7" Type="http://schemas.openxmlformats.org/officeDocument/2006/relationships/image" Target="../media/image7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Relationship Id="rId4" Type="http://schemas.openxmlformats.org/officeDocument/2006/relationships/image" Target="../media/image63.png"/><Relationship Id="rId5" Type="http://schemas.openxmlformats.org/officeDocument/2006/relationships/image" Target="../media/image70.png"/><Relationship Id="rId6" Type="http://schemas.openxmlformats.org/officeDocument/2006/relationships/image" Target="../media/image4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Relationship Id="rId4" Type="http://schemas.openxmlformats.org/officeDocument/2006/relationships/image" Target="../media/image71.png"/><Relationship Id="rId5" Type="http://schemas.openxmlformats.org/officeDocument/2006/relationships/image" Target="../media/image82.png"/><Relationship Id="rId6" Type="http://schemas.openxmlformats.org/officeDocument/2006/relationships/image" Target="../media/image1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png"/><Relationship Id="rId4" Type="http://schemas.openxmlformats.org/officeDocument/2006/relationships/image" Target="../media/image67.png"/><Relationship Id="rId5" Type="http://schemas.openxmlformats.org/officeDocument/2006/relationships/image" Target="../media/image80.png"/><Relationship Id="rId6" Type="http://schemas.openxmlformats.org/officeDocument/2006/relationships/image" Target="../media/image7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2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Relationship Id="rId4" Type="http://schemas.openxmlformats.org/officeDocument/2006/relationships/image" Target="../media/image58.png"/><Relationship Id="rId5" Type="http://schemas.openxmlformats.org/officeDocument/2006/relationships/image" Target="../media/image21.png"/><Relationship Id="rId6" Type="http://schemas.openxmlformats.org/officeDocument/2006/relationships/image" Target="../media/image75.png"/><Relationship Id="rId7" Type="http://schemas.openxmlformats.org/officeDocument/2006/relationships/image" Target="../media/image1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.png"/><Relationship Id="rId4" Type="http://schemas.openxmlformats.org/officeDocument/2006/relationships/image" Target="../media/image78.png"/><Relationship Id="rId5" Type="http://schemas.openxmlformats.org/officeDocument/2006/relationships/image" Target="../media/image99.png"/><Relationship Id="rId6" Type="http://schemas.openxmlformats.org/officeDocument/2006/relationships/image" Target="../media/image14.png"/><Relationship Id="rId7" Type="http://schemas.openxmlformats.org/officeDocument/2006/relationships/image" Target="../media/image8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3.png"/><Relationship Id="rId4" Type="http://schemas.openxmlformats.org/officeDocument/2006/relationships/image" Target="../media/image51.png"/><Relationship Id="rId5" Type="http://schemas.openxmlformats.org/officeDocument/2006/relationships/image" Target="../media/image9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20.png"/><Relationship Id="rId6" Type="http://schemas.openxmlformats.org/officeDocument/2006/relationships/image" Target="../media/image14.png"/><Relationship Id="rId7" Type="http://schemas.openxmlformats.org/officeDocument/2006/relationships/image" Target="../media/image4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4.png"/><Relationship Id="rId4" Type="http://schemas.openxmlformats.org/officeDocument/2006/relationships/image" Target="../media/image10.png"/><Relationship Id="rId5" Type="http://schemas.openxmlformats.org/officeDocument/2006/relationships/image" Target="../media/image8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.png"/><Relationship Id="rId4" Type="http://schemas.openxmlformats.org/officeDocument/2006/relationships/image" Target="../media/image94.png"/><Relationship Id="rId5" Type="http://schemas.openxmlformats.org/officeDocument/2006/relationships/image" Target="../media/image37.png"/><Relationship Id="rId6" Type="http://schemas.openxmlformats.org/officeDocument/2006/relationships/image" Target="../media/image9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.png"/><Relationship Id="rId4" Type="http://schemas.openxmlformats.org/officeDocument/2006/relationships/image" Target="../media/image100.png"/><Relationship Id="rId5" Type="http://schemas.openxmlformats.org/officeDocument/2006/relationships/image" Target="../media/image88.png"/><Relationship Id="rId6" Type="http://schemas.openxmlformats.org/officeDocument/2006/relationships/image" Target="../media/image1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8.png"/><Relationship Id="rId4" Type="http://schemas.openxmlformats.org/officeDocument/2006/relationships/image" Target="../media/image102.png"/><Relationship Id="rId5" Type="http://schemas.openxmlformats.org/officeDocument/2006/relationships/image" Target="../media/image92.png"/><Relationship Id="rId6" Type="http://schemas.openxmlformats.org/officeDocument/2006/relationships/image" Target="../media/image1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.png"/><Relationship Id="rId4" Type="http://schemas.openxmlformats.org/officeDocument/2006/relationships/image" Target="../media/image102.png"/><Relationship Id="rId5" Type="http://schemas.openxmlformats.org/officeDocument/2006/relationships/image" Target="../media/image95.png"/><Relationship Id="rId6" Type="http://schemas.openxmlformats.org/officeDocument/2006/relationships/image" Target="../media/image1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8.png"/><Relationship Id="rId4" Type="http://schemas.openxmlformats.org/officeDocument/2006/relationships/image" Target="../media/image97.png"/><Relationship Id="rId5" Type="http://schemas.openxmlformats.org/officeDocument/2006/relationships/image" Target="../media/image10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8.png"/><Relationship Id="rId4" Type="http://schemas.openxmlformats.org/officeDocument/2006/relationships/image" Target="../media/image98.png"/><Relationship Id="rId5" Type="http://schemas.openxmlformats.org/officeDocument/2006/relationships/image" Target="../media/image49.png"/><Relationship Id="rId6" Type="http://schemas.openxmlformats.org/officeDocument/2006/relationships/image" Target="../media/image11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8.png"/><Relationship Id="rId4" Type="http://schemas.openxmlformats.org/officeDocument/2006/relationships/image" Target="../media/image111.png"/><Relationship Id="rId5" Type="http://schemas.openxmlformats.org/officeDocument/2006/relationships/image" Target="../media/image49.png"/><Relationship Id="rId6" Type="http://schemas.openxmlformats.org/officeDocument/2006/relationships/image" Target="../media/image10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8.png"/><Relationship Id="rId4" Type="http://schemas.openxmlformats.org/officeDocument/2006/relationships/image" Target="../media/image110.png"/><Relationship Id="rId5" Type="http://schemas.openxmlformats.org/officeDocument/2006/relationships/image" Target="../media/image29.png"/><Relationship Id="rId6" Type="http://schemas.openxmlformats.org/officeDocument/2006/relationships/image" Target="../media/image107.png"/><Relationship Id="rId7" Type="http://schemas.openxmlformats.org/officeDocument/2006/relationships/image" Target="../media/image109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06.png"/><Relationship Id="rId4" Type="http://schemas.openxmlformats.org/officeDocument/2006/relationships/image" Target="../media/image105.png"/><Relationship Id="rId5" Type="http://schemas.openxmlformats.org/officeDocument/2006/relationships/image" Target="../media/image112.png"/><Relationship Id="rId6" Type="http://schemas.openxmlformats.org/officeDocument/2006/relationships/image" Target="../media/image33.png"/><Relationship Id="rId7" Type="http://schemas.openxmlformats.org/officeDocument/2006/relationships/image" Target="../media/image11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18.png"/><Relationship Id="rId4" Type="http://schemas.openxmlformats.org/officeDocument/2006/relationships/image" Target="../media/image46.png"/><Relationship Id="rId5" Type="http://schemas.openxmlformats.org/officeDocument/2006/relationships/image" Target="../media/image5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28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8.png"/><Relationship Id="rId4" Type="http://schemas.openxmlformats.org/officeDocument/2006/relationships/image" Target="../media/image125.png"/><Relationship Id="rId5" Type="http://schemas.openxmlformats.org/officeDocument/2006/relationships/image" Target="../media/image43.png"/><Relationship Id="rId6" Type="http://schemas.openxmlformats.org/officeDocument/2006/relationships/image" Target="../media/image12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8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.png"/><Relationship Id="rId4" Type="http://schemas.openxmlformats.org/officeDocument/2006/relationships/image" Target="../media/image114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.png"/><Relationship Id="rId4" Type="http://schemas.openxmlformats.org/officeDocument/2006/relationships/image" Target="../media/image121.png"/><Relationship Id="rId5" Type="http://schemas.openxmlformats.org/officeDocument/2006/relationships/image" Target="../media/image134.png"/><Relationship Id="rId6" Type="http://schemas.openxmlformats.org/officeDocument/2006/relationships/image" Target="../media/image37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8.png"/><Relationship Id="rId4" Type="http://schemas.openxmlformats.org/officeDocument/2006/relationships/image" Target="../media/image116.png"/><Relationship Id="rId5" Type="http://schemas.openxmlformats.org/officeDocument/2006/relationships/image" Target="../media/image122.png"/><Relationship Id="rId6" Type="http://schemas.openxmlformats.org/officeDocument/2006/relationships/image" Target="../media/image129.png"/><Relationship Id="rId7" Type="http://schemas.openxmlformats.org/officeDocument/2006/relationships/image" Target="../media/image119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8.png"/><Relationship Id="rId4" Type="http://schemas.openxmlformats.org/officeDocument/2006/relationships/image" Target="../media/image133.png"/><Relationship Id="rId5" Type="http://schemas.openxmlformats.org/officeDocument/2006/relationships/image" Target="../media/image132.png"/><Relationship Id="rId6" Type="http://schemas.openxmlformats.org/officeDocument/2006/relationships/image" Target="../media/image136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27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8.png"/><Relationship Id="rId4" Type="http://schemas.openxmlformats.org/officeDocument/2006/relationships/image" Target="../media/image126.png"/><Relationship Id="rId5" Type="http://schemas.openxmlformats.org/officeDocument/2006/relationships/image" Target="../media/image14.png"/><Relationship Id="rId6" Type="http://schemas.openxmlformats.org/officeDocument/2006/relationships/image" Target="../media/image135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image" Target="../media/image124.png"/><Relationship Id="rId7" Type="http://schemas.openxmlformats.org/officeDocument/2006/relationships/image" Target="../media/image140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8.png"/><Relationship Id="rId4" Type="http://schemas.openxmlformats.org/officeDocument/2006/relationships/image" Target="../media/image37.png"/><Relationship Id="rId5" Type="http://schemas.openxmlformats.org/officeDocument/2006/relationships/image" Target="../media/image146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8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8.png"/><Relationship Id="rId4" Type="http://schemas.openxmlformats.org/officeDocument/2006/relationships/image" Target="../media/image145.png"/><Relationship Id="rId5" Type="http://schemas.openxmlformats.org/officeDocument/2006/relationships/image" Target="../media/image155.png"/><Relationship Id="rId6" Type="http://schemas.openxmlformats.org/officeDocument/2006/relationships/image" Target="../media/image138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8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8.png"/><Relationship Id="rId4" Type="http://schemas.openxmlformats.org/officeDocument/2006/relationships/image" Target="../media/image143.png"/><Relationship Id="rId5" Type="http://schemas.openxmlformats.org/officeDocument/2006/relationships/image" Target="../media/image139.png"/><Relationship Id="rId6" Type="http://schemas.openxmlformats.org/officeDocument/2006/relationships/image" Target="../media/image13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8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47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37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54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44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41.png"/><Relationship Id="rId4" Type="http://schemas.openxmlformats.org/officeDocument/2006/relationships/image" Target="../media/image148.png"/><Relationship Id="rId9" Type="http://schemas.openxmlformats.org/officeDocument/2006/relationships/image" Target="../media/image152.png"/><Relationship Id="rId5" Type="http://schemas.openxmlformats.org/officeDocument/2006/relationships/image" Target="../media/image157.png"/><Relationship Id="rId6" Type="http://schemas.openxmlformats.org/officeDocument/2006/relationships/image" Target="../media/image142.png"/><Relationship Id="rId7" Type="http://schemas.openxmlformats.org/officeDocument/2006/relationships/image" Target="../media/image151.png"/><Relationship Id="rId8" Type="http://schemas.openxmlformats.org/officeDocument/2006/relationships/image" Target="../media/image156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50.png"/><Relationship Id="rId4" Type="http://schemas.openxmlformats.org/officeDocument/2006/relationships/image" Target="../media/image153.png"/><Relationship Id="rId5" Type="http://schemas.openxmlformats.org/officeDocument/2006/relationships/image" Target="../media/image149.png"/><Relationship Id="rId6" Type="http://schemas.openxmlformats.org/officeDocument/2006/relationships/image" Target="../media/image15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05288" y="2453580"/>
            <a:ext cx="1138142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Deep Neural Network (DNN)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76275" y="3787080"/>
            <a:ext cx="108394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Module 2: Artificial Neuron and Perceptron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840343" y="2388840"/>
            <a:ext cx="10511313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Part 1: The Brain: Our Inspiration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619750" y="3769965"/>
            <a:ext cx="952500" cy="47625"/>
          </a:xfrm>
          <a:prstGeom prst="rect">
            <a:avLst/>
          </a:prstGeom>
          <a:solidFill>
            <a:srgbClr val="A9D4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4167187" y="4103340"/>
            <a:ext cx="38576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Understanding the Biological Blueprint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14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71500" y="20002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Learning Through Association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904875" y="26479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human brain is the primary inspiration for ANNs.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04875" y="30956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Humans learn, solve problems, and recognize patterns.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04875" y="35433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A core theory is </a:t>
            </a:r>
            <a:r>
              <a:rPr b="1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Associationism</a:t>
            </a: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: we learn by associating new ideas with existing ones.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04875" y="429577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ANNs are a computational model inspired by this process.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How Do Humans Learn?</a:t>
            </a:r>
            <a:endParaRPr/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955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432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909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434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77752" y="2186002"/>
            <a:ext cx="4832225" cy="344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1809750" y="262532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A Massively Parallel System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2190750" y="327302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brain is a mass of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interconnected neurons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2190750" y="379868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It functions as a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massively parallel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computational system.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2190750" y="4324350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This parallel structure is what allows it to perform complex tasks so quickly, despite its components being slow.</a:t>
            </a:r>
            <a:endParaRPr/>
          </a:p>
        </p:txBody>
      </p:sp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32065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846314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37197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Observation: The Brain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1809750" y="276120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Estimates of Scale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2190750" y="3408908"/>
            <a:ext cx="8191500" cy="366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Number of neurons: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~1010 (10 billion)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2190750" y="3966269"/>
            <a:ext cx="8191500" cy="366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Connections per neuron: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~104 to 105 (10k - 100k)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2190750" y="452363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Neuron switching time: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~0.001 second (1 millisecond)</a:t>
            </a:r>
            <a:endParaRPr/>
          </a:p>
        </p:txBody>
      </p:sp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45653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01389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57125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Brain Scale Estimates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1809750" y="253007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The 100-Step Puzzle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2190750" y="317777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Scene recognition time: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~0.1 to 1 second.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2190750" y="370343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Neuron switching time: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~0.001 second.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2190750" y="422910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Conclusion: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The brain must perform complex tasks in ~100 inference steps.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2190750" y="475476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This is only possible through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massive parallel computation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225403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751064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27672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80238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The Brain's Inference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1395412" y="2388840"/>
            <a:ext cx="9401175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Part 2: The Biological Neuron</a:t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5619750" y="3769965"/>
            <a:ext cx="952500" cy="47625"/>
          </a:xfrm>
          <a:prstGeom prst="rect">
            <a:avLst/>
          </a:prstGeom>
          <a:solidFill>
            <a:srgbClr val="A9D4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4476750" y="4103340"/>
            <a:ext cx="3238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Original Processing Element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571500" y="20002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Signal Flow Direction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904875" y="26479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Electrical impulses travel from other neurons to the dendrites.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904875" y="3400425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They are processed in the Cell Body (Soma).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904875" y="38481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An output signal is transmitted down the Axon to the axon terminals (Synapses).</a:t>
            </a:r>
            <a:endParaRPr/>
          </a:p>
        </p:txBody>
      </p:sp>
      <p:pic>
        <p:nvPicPr>
          <p:cNvPr descr="image.png" id="171" name="Google Shape;17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Biological Neuron Structure</a:t>
            </a:r>
            <a:endParaRPr/>
          </a:p>
        </p:txBody>
      </p:sp>
      <p:pic>
        <p:nvPicPr>
          <p:cNvPr descr="image.png" id="173" name="Google Shape;17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955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480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95725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1809750" y="253007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Components and Functions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2190750" y="317777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Dendrites: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Receive signals (inputs) from other neurons.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2190750" y="370343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Cell Body (Soma):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Processes incoming signals (integration).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2190750" y="422910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Axon: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Transmits the output signal (output).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2190750" y="475476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Synapses: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Connection points to other neurons, where signals are passed.</a:t>
            </a:r>
            <a:endParaRPr/>
          </a:p>
        </p:txBody>
      </p:sp>
      <p:pic>
        <p:nvPicPr>
          <p:cNvPr descr="image.png" id="186" name="Google Shape;18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22540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75106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27672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80238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Key Components of a Neuron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1809750" y="262532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Receive → Integrate → Fire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2190750" y="327302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1. Receive: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Collects thousands of signals from other neurons via its dendrites.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2190750" y="379868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2. Integrate: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The cell body sums up these incoming signals.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2190750" y="4324350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3. Fire: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If the integrated signal exceeds a biological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threshold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, the neuron fires an output signal.</a:t>
            </a:r>
            <a:endParaRPr/>
          </a:p>
        </p:txBody>
      </p:sp>
      <p:pic>
        <p:nvPicPr>
          <p:cNvPr descr="image.png" id="200" name="Google Shape;20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320653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846314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371975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Biological Neuron Function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3"/>
          <p:cNvSpPr txBox="1"/>
          <p:nvPr/>
        </p:nvSpPr>
        <p:spPr>
          <a:xfrm>
            <a:off x="1600438" y="2865090"/>
            <a:ext cx="8991123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Part 3: The Artificial Neuron</a:t>
            </a:r>
            <a:endParaRPr/>
          </a:p>
        </p:txBody>
      </p:sp>
      <p:sp>
        <p:nvSpPr>
          <p:cNvPr id="210" name="Google Shape;210;p23"/>
          <p:cNvSpPr/>
          <p:nvPr/>
        </p:nvSpPr>
        <p:spPr>
          <a:xfrm>
            <a:off x="5619750" y="4246215"/>
            <a:ext cx="952500" cy="47625"/>
          </a:xfrm>
          <a:prstGeom prst="rect">
            <a:avLst/>
          </a:prstGeom>
          <a:solidFill>
            <a:srgbClr val="A9D4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4848225" y="4579590"/>
            <a:ext cx="24955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Mathematical Model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Part 3: The Artificial Neuron</a:t>
            </a:r>
            <a:endParaRPr/>
          </a:p>
        </p:txBody>
      </p:sp>
      <p:sp>
        <p:nvSpPr>
          <p:cNvPr id="213" name="Google Shape;213;p23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4"/>
          <p:cNvSpPr txBox="1"/>
          <p:nvPr/>
        </p:nvSpPr>
        <p:spPr>
          <a:xfrm>
            <a:off x="1809750" y="253007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A Simplified Computational Model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2190750" y="317777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A processing element inspired by the biological neuron.</a:t>
            </a:r>
            <a:endParaRPr/>
          </a:p>
        </p:txBody>
      </p:sp>
      <p:sp>
        <p:nvSpPr>
          <p:cNvPr id="222" name="Google Shape;222;p24"/>
          <p:cNvSpPr txBox="1"/>
          <p:nvPr/>
        </p:nvSpPr>
        <p:spPr>
          <a:xfrm>
            <a:off x="2190750" y="370343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Each artificial neuron will perform a basic computation.</a:t>
            </a:r>
            <a:endParaRPr/>
          </a:p>
        </p:txBody>
      </p:sp>
      <p:sp>
        <p:nvSpPr>
          <p:cNvPr id="223" name="Google Shape;223;p24"/>
          <p:cNvSpPr txBox="1"/>
          <p:nvPr/>
        </p:nvSpPr>
        <p:spPr>
          <a:xfrm>
            <a:off x="2190750" y="422910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Like the brain, the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interconnections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between neurons store the knowledge it learns.</a:t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2190750" y="475476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This knowledge is stored as numerical values called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parameters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or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weights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225" name="Google Shape;22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225403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75106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27672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80238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Motivation for Artificial Neurons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5"/>
          <p:cNvSpPr txBox="1"/>
          <p:nvPr/>
        </p:nvSpPr>
        <p:spPr>
          <a:xfrm>
            <a:off x="1809750" y="253007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The "Knobs" of the Model</a:t>
            </a:r>
            <a:endParaRPr/>
          </a:p>
        </p:txBody>
      </p:sp>
      <p:sp>
        <p:nvSpPr>
          <p:cNvPr id="236" name="Google Shape;236;p25"/>
          <p:cNvSpPr txBox="1"/>
          <p:nvPr/>
        </p:nvSpPr>
        <p:spPr>
          <a:xfrm>
            <a:off x="2190750" y="317777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Parameters are the numbers that the model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"learns"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from the data.</a:t>
            </a:r>
            <a:endParaRPr/>
          </a:p>
        </p:txBody>
      </p:sp>
      <p:sp>
        <p:nvSpPr>
          <p:cNvPr id="237" name="Google Shape;237;p25"/>
          <p:cNvSpPr txBox="1"/>
          <p:nvPr/>
        </p:nvSpPr>
        <p:spPr>
          <a:xfrm>
            <a:off x="2190750" y="370343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They represent the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"knowledge"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stored in the model.</a:t>
            </a:r>
            <a:endParaRPr/>
          </a:p>
        </p:txBody>
      </p:sp>
      <p:sp>
        <p:nvSpPr>
          <p:cNvPr id="238" name="Google Shape;238;p25"/>
          <p:cNvSpPr txBox="1"/>
          <p:nvPr/>
        </p:nvSpPr>
        <p:spPr>
          <a:xfrm>
            <a:off x="2190750" y="422910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In a neural network, the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weights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biases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are the parameters.</a:t>
            </a:r>
            <a:endParaRPr/>
          </a:p>
        </p:txBody>
      </p:sp>
      <p:sp>
        <p:nvSpPr>
          <p:cNvPr id="239" name="Google Shape;239;p25"/>
          <p:cNvSpPr txBox="1"/>
          <p:nvPr/>
        </p:nvSpPr>
        <p:spPr>
          <a:xfrm>
            <a:off x="2190750" y="475476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"Training a model" is the process of finding the best possible values for these parameters.</a:t>
            </a:r>
            <a:endParaRPr/>
          </a:p>
        </p:txBody>
      </p:sp>
      <p:pic>
        <p:nvPicPr>
          <p:cNvPr descr="image.png" id="240" name="Google Shape;24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22540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75106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27672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80238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Jargon: What are "Parameters"?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6"/>
          <p:cNvSpPr txBox="1"/>
          <p:nvPr/>
        </p:nvSpPr>
        <p:spPr>
          <a:xfrm>
            <a:off x="571500" y="20002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A Simple Processor</a:t>
            </a:r>
            <a:endParaRPr/>
          </a:p>
        </p:txBody>
      </p:sp>
      <p:sp>
        <p:nvSpPr>
          <p:cNvPr id="252" name="Google Shape;252;p26"/>
          <p:cNvSpPr txBox="1"/>
          <p:nvPr/>
        </p:nvSpPr>
        <p:spPr>
          <a:xfrm>
            <a:off x="904875" y="26479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Inputs (x):</a:t>
            </a: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Numerical values from data (or previous neurons).</a:t>
            </a:r>
            <a:endParaRPr/>
          </a:p>
        </p:txBody>
      </p:sp>
      <p:sp>
        <p:nvSpPr>
          <p:cNvPr id="253" name="Google Shape;253;p26"/>
          <p:cNvSpPr txBox="1"/>
          <p:nvPr/>
        </p:nvSpPr>
        <p:spPr>
          <a:xfrm>
            <a:off x="904875" y="34004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Neuron (N):</a:t>
            </a: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The processing unit that performs a computation.</a:t>
            </a:r>
            <a:endParaRPr/>
          </a:p>
        </p:txBody>
      </p:sp>
      <p:sp>
        <p:nvSpPr>
          <p:cNvPr id="254" name="Google Shape;254;p26"/>
          <p:cNvSpPr txBox="1"/>
          <p:nvPr/>
        </p:nvSpPr>
        <p:spPr>
          <a:xfrm>
            <a:off x="904875" y="41529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Output (ŷ):</a:t>
            </a: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The single numerical output of the neuron.</a:t>
            </a:r>
            <a:endParaRPr/>
          </a:p>
        </p:txBody>
      </p:sp>
      <p:pic>
        <p:nvPicPr>
          <p:cNvPr descr="image.png" id="255" name="Google Shape;25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Artificial Neuron Diagram</a:t>
            </a:r>
            <a:endParaRPr/>
          </a:p>
        </p:txBody>
      </p:sp>
      <p:pic>
        <p:nvPicPr>
          <p:cNvPr descr="image.png" id="257" name="Google Shape;257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955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480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00525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7"/>
          <p:cNvSpPr txBox="1"/>
          <p:nvPr/>
        </p:nvSpPr>
        <p:spPr>
          <a:xfrm>
            <a:off x="1809750" y="2350889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The Two Types of Parameters</a:t>
            </a:r>
            <a:endParaRPr/>
          </a:p>
        </p:txBody>
      </p:sp>
      <p:sp>
        <p:nvSpPr>
          <p:cNvPr id="266" name="Google Shape;266;p27"/>
          <p:cNvSpPr txBox="1"/>
          <p:nvPr/>
        </p:nvSpPr>
        <p:spPr>
          <a:xfrm>
            <a:off x="2190750" y="2998589"/>
            <a:ext cx="8191500" cy="10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Weight (w):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Represents the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importance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of an input.</a:t>
            </a:r>
            <a:endParaRPr/>
          </a:p>
        </p:txBody>
      </p:sp>
      <p:sp>
        <p:nvSpPr>
          <p:cNvPr id="267" name="Google Shape;267;p27"/>
          <p:cNvSpPr txBox="1"/>
          <p:nvPr/>
        </p:nvSpPr>
        <p:spPr>
          <a:xfrm>
            <a:off x="2190750" y="4229100"/>
            <a:ext cx="8191500" cy="10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Bias (b):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An "offset" that controls how easy it is for the neuron to fire.</a:t>
            </a:r>
            <a:endParaRPr/>
          </a:p>
        </p:txBody>
      </p:sp>
      <p:pic>
        <p:nvPicPr>
          <p:cNvPr descr="image.png" id="268" name="Google Shape;26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046214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276725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Jargon: Weights vs. Bias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8"/>
          <p:cNvSpPr txBox="1"/>
          <p:nvPr/>
        </p:nvSpPr>
        <p:spPr>
          <a:xfrm>
            <a:off x="1809750" y="2582316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Inputs, Weights, and Bias</a:t>
            </a:r>
            <a:endParaRPr/>
          </a:p>
        </p:txBody>
      </p:sp>
      <p:sp>
        <p:nvSpPr>
          <p:cNvPr id="277" name="Google Shape;277;p28"/>
          <p:cNvSpPr txBox="1"/>
          <p:nvPr/>
        </p:nvSpPr>
        <p:spPr>
          <a:xfrm>
            <a:off x="2190750" y="3230016"/>
            <a:ext cx="8191500" cy="378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Inputs (xi):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The features of our data.</a:t>
            </a:r>
            <a:endParaRPr/>
          </a:p>
        </p:txBody>
      </p:sp>
      <p:sp>
        <p:nvSpPr>
          <p:cNvPr id="278" name="Google Shape;278;p28"/>
          <p:cNvSpPr txBox="1"/>
          <p:nvPr/>
        </p:nvSpPr>
        <p:spPr>
          <a:xfrm>
            <a:off x="2190750" y="3798689"/>
            <a:ext cx="8191500" cy="713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Weights (wi):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Parameters that show the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importance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of each input. This is the "knowledge" the neuron learns.</a:t>
            </a:r>
            <a:endParaRPr/>
          </a:p>
        </p:txBody>
      </p:sp>
      <p:sp>
        <p:nvSpPr>
          <p:cNvPr id="279" name="Google Shape;279;p28"/>
          <p:cNvSpPr txBox="1"/>
          <p:nvPr/>
        </p:nvSpPr>
        <p:spPr>
          <a:xfrm>
            <a:off x="2190750" y="4702522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Bias (b):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A special parameter that acts like an "offset" or "threshold" for firing.</a:t>
            </a:r>
            <a:endParaRPr/>
          </a:p>
        </p:txBody>
      </p:sp>
      <p:pic>
        <p:nvPicPr>
          <p:cNvPr descr="image.png" id="280" name="Google Shape;28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27764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846314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750147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Components Explained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9"/>
          <p:cNvSpPr txBox="1"/>
          <p:nvPr/>
        </p:nvSpPr>
        <p:spPr>
          <a:xfrm>
            <a:off x="1809750" y="2272903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How Neurons "Listen"</a:t>
            </a:r>
            <a:endParaRPr/>
          </a:p>
        </p:txBody>
      </p:sp>
      <p:sp>
        <p:nvSpPr>
          <p:cNvPr id="290" name="Google Shape;290;p29"/>
          <p:cNvSpPr txBox="1"/>
          <p:nvPr/>
        </p:nvSpPr>
        <p:spPr>
          <a:xfrm>
            <a:off x="2190750" y="2920603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It's the first step of the neuron's calculation.</a:t>
            </a:r>
            <a:endParaRPr/>
          </a:p>
        </p:txBody>
      </p:sp>
      <p:sp>
        <p:nvSpPr>
          <p:cNvPr id="291" name="Google Shape;291;p29"/>
          <p:cNvSpPr txBox="1"/>
          <p:nvPr/>
        </p:nvSpPr>
        <p:spPr>
          <a:xfrm>
            <a:off x="2190750" y="3446264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You take each input, multiply it by its "importance" (the weight), and then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sum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them all together.</a:t>
            </a:r>
            <a:endParaRPr/>
          </a:p>
        </p:txBody>
      </p:sp>
      <p:sp>
        <p:nvSpPr>
          <p:cNvPr id="292" name="Google Shape;292;p29"/>
          <p:cNvSpPr txBox="1"/>
          <p:nvPr/>
        </p:nvSpPr>
        <p:spPr>
          <a:xfrm>
            <a:off x="2190750" y="4307085"/>
            <a:ext cx="8191500" cy="10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This single number combines all inputs into one value.</a:t>
            </a:r>
            <a:endParaRPr/>
          </a:p>
        </p:txBody>
      </p:sp>
      <p:pic>
        <p:nvPicPr>
          <p:cNvPr descr="image.png" id="293" name="Google Shape;29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968228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493889"/>
            <a:ext cx="2095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35471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Jargon: What is a "Weighted Sum"?</a:t>
            </a:r>
            <a:endParaRPr/>
          </a:p>
        </p:txBody>
      </p:sp>
      <p:sp>
        <p:nvSpPr>
          <p:cNvPr id="297" name="Google Shape;297;p29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9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0"/>
          <p:cNvSpPr txBox="1"/>
          <p:nvPr/>
        </p:nvSpPr>
        <p:spPr>
          <a:xfrm>
            <a:off x="1809750" y="2457747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Step 1: The Weighted Sum (z)</a:t>
            </a:r>
            <a:endParaRPr/>
          </a:p>
        </p:txBody>
      </p:sp>
      <p:sp>
        <p:nvSpPr>
          <p:cNvPr id="305" name="Google Shape;305;p30"/>
          <p:cNvSpPr txBox="1"/>
          <p:nvPr/>
        </p:nvSpPr>
        <p:spPr>
          <a:xfrm>
            <a:off x="2190750" y="3105447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neuron first computes a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weighted sum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of its inputs.</a:t>
            </a:r>
            <a:endParaRPr/>
          </a:p>
        </p:txBody>
      </p:sp>
      <p:sp>
        <p:nvSpPr>
          <p:cNvPr id="306" name="Google Shape;306;p30"/>
          <p:cNvSpPr txBox="1"/>
          <p:nvPr/>
        </p:nvSpPr>
        <p:spPr>
          <a:xfrm>
            <a:off x="2190750" y="363110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This is the core of "linear" models.</a:t>
            </a:r>
            <a:endParaRPr/>
          </a:p>
        </p:txBody>
      </p:sp>
      <p:sp>
        <p:nvSpPr>
          <p:cNvPr id="307" name="Google Shape;307;p30"/>
          <p:cNvSpPr txBox="1"/>
          <p:nvPr/>
        </p:nvSpPr>
        <p:spPr>
          <a:xfrm>
            <a:off x="2190750" y="4827091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This sum 'z' is the "integrated signal" before the "firing" decision.</a:t>
            </a:r>
            <a:endParaRPr/>
          </a:p>
        </p:txBody>
      </p:sp>
      <p:pic>
        <p:nvPicPr>
          <p:cNvPr descr="image.png" id="308" name="Google Shape;30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15307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67873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87471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Mathematical Operation: Weighted Sum</a:t>
            </a:r>
            <a:endParaRPr/>
          </a:p>
        </p:txBody>
      </p:sp>
      <p:sp>
        <p:nvSpPr>
          <p:cNvPr id="312" name="Google Shape;312;p30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0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8" name="Google Shape;31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1"/>
          <p:cNvSpPr txBox="1"/>
          <p:nvPr/>
        </p:nvSpPr>
        <p:spPr>
          <a:xfrm>
            <a:off x="1809750" y="2440483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The "Firing" Decision</a:t>
            </a:r>
            <a:endParaRPr/>
          </a:p>
        </p:txBody>
      </p:sp>
      <p:sp>
        <p:nvSpPr>
          <p:cNvPr id="320" name="Google Shape;320;p31"/>
          <p:cNvSpPr txBox="1"/>
          <p:nvPr/>
        </p:nvSpPr>
        <p:spPr>
          <a:xfrm>
            <a:off x="2190750" y="3088183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This is the neuron's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"decision"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mechanism.</a:t>
            </a:r>
            <a:endParaRPr/>
          </a:p>
        </p:txBody>
      </p:sp>
      <p:sp>
        <p:nvSpPr>
          <p:cNvPr id="321" name="Google Shape;321;p31"/>
          <p:cNvSpPr txBox="1"/>
          <p:nvPr/>
        </p:nvSpPr>
        <p:spPr>
          <a:xfrm>
            <a:off x="2190750" y="3613844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It's the second step of the calculation, applied *after* the weighted sum.</a:t>
            </a:r>
            <a:endParaRPr/>
          </a:p>
        </p:txBody>
      </p:sp>
      <p:sp>
        <p:nvSpPr>
          <p:cNvPr id="322" name="Google Shape;322;p31"/>
          <p:cNvSpPr txBox="1"/>
          <p:nvPr/>
        </p:nvSpPr>
        <p:spPr>
          <a:xfrm>
            <a:off x="2190750" y="4139505"/>
            <a:ext cx="8191500" cy="10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It takes the weighted sum (z) and decides what the final output (ŷ) should be.</a:t>
            </a:r>
            <a:endParaRPr/>
          </a:p>
        </p:txBody>
      </p:sp>
      <p:pic>
        <p:nvPicPr>
          <p:cNvPr descr="image.png" id="323" name="Google Shape;32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135808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661469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18713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Jargon: "Activation Function"</a:t>
            </a:r>
            <a:endParaRPr/>
          </a:p>
        </p:txBody>
      </p:sp>
      <p:sp>
        <p:nvSpPr>
          <p:cNvPr id="327" name="Google Shape;327;p31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1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3" name="Google Shape;33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2"/>
          <p:cNvSpPr txBox="1"/>
          <p:nvPr/>
        </p:nvSpPr>
        <p:spPr>
          <a:xfrm>
            <a:off x="1809750" y="2831901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Step 2: The Activation Function (f)</a:t>
            </a:r>
            <a:endParaRPr/>
          </a:p>
        </p:txBody>
      </p:sp>
      <p:sp>
        <p:nvSpPr>
          <p:cNvPr id="335" name="Google Shape;335;p32"/>
          <p:cNvSpPr txBox="1"/>
          <p:nvPr/>
        </p:nvSpPr>
        <p:spPr>
          <a:xfrm>
            <a:off x="2190750" y="3479601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weighted sum 'z' is then passed through an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activation function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'f'.</a:t>
            </a:r>
            <a:endParaRPr/>
          </a:p>
        </p:txBody>
      </p:sp>
      <p:sp>
        <p:nvSpPr>
          <p:cNvPr id="336" name="Google Shape;336;p32"/>
          <p:cNvSpPr txBox="1"/>
          <p:nvPr/>
        </p:nvSpPr>
        <p:spPr>
          <a:xfrm>
            <a:off x="2190750" y="4005262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This function makes the "firing decision" and produces the final output.</a:t>
            </a:r>
            <a:endParaRPr/>
          </a:p>
        </p:txBody>
      </p:sp>
      <p:pic>
        <p:nvPicPr>
          <p:cNvPr descr="image.png" id="337" name="Google Shape;33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527226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05288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Mathematical Operation: Activation</a:t>
            </a:r>
            <a:endParaRPr/>
          </a:p>
        </p:txBody>
      </p:sp>
      <p:sp>
        <p:nvSpPr>
          <p:cNvPr id="340" name="Google Shape;340;p32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2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6" name="Google Shape;34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3"/>
          <p:cNvSpPr txBox="1"/>
          <p:nvPr/>
        </p:nvSpPr>
        <p:spPr>
          <a:xfrm>
            <a:off x="1809750" y="2267247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(or "Forward Pass")</a:t>
            </a:r>
            <a:endParaRPr/>
          </a:p>
        </p:txBody>
      </p:sp>
      <p:sp>
        <p:nvSpPr>
          <p:cNvPr id="348" name="Google Shape;348;p33"/>
          <p:cNvSpPr txBox="1"/>
          <p:nvPr/>
        </p:nvSpPr>
        <p:spPr>
          <a:xfrm>
            <a:off x="2190750" y="2914947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This is the *entire process* of getting a prediction from an input.</a:t>
            </a:r>
            <a:endParaRPr/>
          </a:p>
        </p:txBody>
      </p:sp>
      <p:sp>
        <p:nvSpPr>
          <p:cNvPr id="349" name="Google Shape;349;p33"/>
          <p:cNvSpPr txBox="1"/>
          <p:nvPr/>
        </p:nvSpPr>
        <p:spPr>
          <a:xfrm>
            <a:off x="2190750" y="344060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It's called "forward" because information flows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forward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(from input to output).</a:t>
            </a:r>
            <a:endParaRPr/>
          </a:p>
        </p:txBody>
      </p:sp>
      <p:sp>
        <p:nvSpPr>
          <p:cNvPr id="350" name="Google Shape;350;p33"/>
          <p:cNvSpPr txBox="1"/>
          <p:nvPr/>
        </p:nvSpPr>
        <p:spPr>
          <a:xfrm>
            <a:off x="2190750" y="396626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Step 1: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Calculate the Weighted Sum (z).</a:t>
            </a:r>
            <a:endParaRPr/>
          </a:p>
        </p:txBody>
      </p:sp>
      <p:sp>
        <p:nvSpPr>
          <p:cNvPr id="351" name="Google Shape;351;p33"/>
          <p:cNvSpPr txBox="1"/>
          <p:nvPr/>
        </p:nvSpPr>
        <p:spPr>
          <a:xfrm>
            <a:off x="2190750" y="449193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Step 2: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Apply the Activation Function (f) to 'z' to get the final output (ŷ).</a:t>
            </a:r>
            <a:endParaRPr/>
          </a:p>
        </p:txBody>
      </p:sp>
      <p:sp>
        <p:nvSpPr>
          <p:cNvPr id="352" name="Google Shape;352;p33"/>
          <p:cNvSpPr txBox="1"/>
          <p:nvPr/>
        </p:nvSpPr>
        <p:spPr>
          <a:xfrm>
            <a:off x="2190750" y="5017591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This is the "thinking" or "predicting" part of the neuron.</a:t>
            </a:r>
            <a:endParaRPr/>
          </a:p>
        </p:txBody>
      </p:sp>
      <p:pic>
        <p:nvPicPr>
          <p:cNvPr descr="image.png" id="353" name="Google Shape;35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96257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48823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01389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53955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09750" y="5065216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Jargon: "Forward Computation"</a:t>
            </a:r>
            <a:endParaRPr/>
          </a:p>
        </p:txBody>
      </p:sp>
      <p:sp>
        <p:nvSpPr>
          <p:cNvPr id="359" name="Google Shape;359;p33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3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5" name="Google Shape;36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4"/>
          <p:cNvSpPr txBox="1"/>
          <p:nvPr/>
        </p:nvSpPr>
        <p:spPr>
          <a:xfrm>
            <a:off x="571500" y="1614487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NumPy Implementation</a:t>
            </a:r>
            <a:endParaRPr/>
          </a:p>
        </p:txBody>
      </p:sp>
      <p:sp>
        <p:nvSpPr>
          <p:cNvPr id="367" name="Google Shape;367;p3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Forward Computation: NumPy Code</a:t>
            </a:r>
            <a:endParaRPr/>
          </a:p>
        </p:txBody>
      </p:sp>
      <p:sp>
        <p:nvSpPr>
          <p:cNvPr id="368" name="Google Shape;368;p34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4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4" name="Google Shape;37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5"/>
          <p:cNvSpPr txBox="1"/>
          <p:nvPr/>
        </p:nvSpPr>
        <p:spPr>
          <a:xfrm>
            <a:off x="1295400" y="2388840"/>
            <a:ext cx="96012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Part 4: Biological vs. Artificial</a:t>
            </a:r>
            <a:endParaRPr/>
          </a:p>
        </p:txBody>
      </p:sp>
      <p:sp>
        <p:nvSpPr>
          <p:cNvPr id="376" name="Google Shape;376;p35"/>
          <p:cNvSpPr/>
          <p:nvPr/>
        </p:nvSpPr>
        <p:spPr>
          <a:xfrm>
            <a:off x="5619750" y="3769965"/>
            <a:ext cx="952500" cy="47625"/>
          </a:xfrm>
          <a:prstGeom prst="rect">
            <a:avLst/>
          </a:prstGeom>
          <a:solidFill>
            <a:srgbClr val="A9D4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5"/>
          <p:cNvSpPr txBox="1"/>
          <p:nvPr/>
        </p:nvSpPr>
        <p:spPr>
          <a:xfrm>
            <a:off x="5395912" y="4103340"/>
            <a:ext cx="14001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A Comparison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2" name="Google Shape;38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43558"/>
            <a:ext cx="5286375" cy="3723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43558"/>
            <a:ext cx="5286375" cy="3723382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6"/>
          <p:cNvSpPr txBox="1"/>
          <p:nvPr/>
        </p:nvSpPr>
        <p:spPr>
          <a:xfrm>
            <a:off x="962025" y="2737991"/>
            <a:ext cx="473059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9D4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 Neuron</a:t>
            </a:r>
            <a:endParaRPr/>
          </a:p>
        </p:txBody>
      </p:sp>
      <p:sp>
        <p:nvSpPr>
          <p:cNvPr id="386" name="Google Shape;386;p36"/>
          <p:cNvSpPr txBox="1"/>
          <p:nvPr/>
        </p:nvSpPr>
        <p:spPr>
          <a:xfrm>
            <a:off x="6724650" y="2737991"/>
            <a:ext cx="473059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9D4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 Neuron</a:t>
            </a:r>
            <a:endParaRPr/>
          </a:p>
        </p:txBody>
      </p:sp>
      <p:sp>
        <p:nvSpPr>
          <p:cNvPr id="387" name="Google Shape;387;p36"/>
          <p:cNvSpPr txBox="1"/>
          <p:nvPr/>
        </p:nvSpPr>
        <p:spPr>
          <a:xfrm>
            <a:off x="1295400" y="3138041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Complex biochemical processes</a:t>
            </a:r>
            <a:endParaRPr/>
          </a:p>
        </p:txBody>
      </p:sp>
      <p:sp>
        <p:nvSpPr>
          <p:cNvPr id="388" name="Google Shape;388;p36"/>
          <p:cNvSpPr txBox="1"/>
          <p:nvPr/>
        </p:nvSpPr>
        <p:spPr>
          <a:xfrm>
            <a:off x="1295400" y="3585716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Analog signal processing</a:t>
            </a:r>
            <a:endParaRPr/>
          </a:p>
        </p:txBody>
      </p:sp>
      <p:sp>
        <p:nvSpPr>
          <p:cNvPr id="389" name="Google Shape;389;p36"/>
          <p:cNvSpPr txBox="1"/>
          <p:nvPr/>
        </p:nvSpPr>
        <p:spPr>
          <a:xfrm>
            <a:off x="1295400" y="4033391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Parallel and asynchronous</a:t>
            </a:r>
            <a:endParaRPr/>
          </a:p>
        </p:txBody>
      </p:sp>
      <p:sp>
        <p:nvSpPr>
          <p:cNvPr id="390" name="Google Shape;390;p36"/>
          <p:cNvSpPr txBox="1"/>
          <p:nvPr/>
        </p:nvSpPr>
        <p:spPr>
          <a:xfrm>
            <a:off x="1295400" y="4481066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Fault tolerant</a:t>
            </a:r>
            <a:endParaRPr/>
          </a:p>
        </p:txBody>
      </p:sp>
      <p:sp>
        <p:nvSpPr>
          <p:cNvPr id="391" name="Google Shape;391;p36"/>
          <p:cNvSpPr txBox="1"/>
          <p:nvPr/>
        </p:nvSpPr>
        <p:spPr>
          <a:xfrm>
            <a:off x="1295400" y="4928741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Learns through experience</a:t>
            </a:r>
            <a:endParaRPr/>
          </a:p>
        </p:txBody>
      </p:sp>
      <p:sp>
        <p:nvSpPr>
          <p:cNvPr id="392" name="Google Shape;392;p36"/>
          <p:cNvSpPr txBox="1"/>
          <p:nvPr/>
        </p:nvSpPr>
        <p:spPr>
          <a:xfrm>
            <a:off x="7058025" y="3138041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Simple mathematical model</a:t>
            </a:r>
            <a:endParaRPr/>
          </a:p>
        </p:txBody>
      </p:sp>
      <p:sp>
        <p:nvSpPr>
          <p:cNvPr id="393" name="Google Shape;393;p36"/>
          <p:cNvSpPr txBox="1"/>
          <p:nvPr/>
        </p:nvSpPr>
        <p:spPr>
          <a:xfrm>
            <a:off x="7058025" y="3585716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Digital computation</a:t>
            </a:r>
            <a:endParaRPr/>
          </a:p>
        </p:txBody>
      </p:sp>
      <p:sp>
        <p:nvSpPr>
          <p:cNvPr id="394" name="Google Shape;394;p36"/>
          <p:cNvSpPr txBox="1"/>
          <p:nvPr/>
        </p:nvSpPr>
        <p:spPr>
          <a:xfrm>
            <a:off x="7058025" y="4033391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Often parallel, but synchronous</a:t>
            </a:r>
            <a:endParaRPr/>
          </a:p>
        </p:txBody>
      </p:sp>
      <p:sp>
        <p:nvSpPr>
          <p:cNvPr id="395" name="Google Shape;395;p36"/>
          <p:cNvSpPr txBox="1"/>
          <p:nvPr/>
        </p:nvSpPr>
        <p:spPr>
          <a:xfrm>
            <a:off x="7058025" y="4481066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Deterministic behavior</a:t>
            </a:r>
            <a:endParaRPr/>
          </a:p>
        </p:txBody>
      </p:sp>
      <p:sp>
        <p:nvSpPr>
          <p:cNvPr id="396" name="Google Shape;396;p36"/>
          <p:cNvSpPr txBox="1"/>
          <p:nvPr/>
        </p:nvSpPr>
        <p:spPr>
          <a:xfrm>
            <a:off x="7058025" y="4928741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Learns through algorithms</a:t>
            </a:r>
            <a:endParaRPr/>
          </a:p>
        </p:txBody>
      </p:sp>
      <p:sp>
        <p:nvSpPr>
          <p:cNvPr id="397" name="Google Shape;397;p3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Biological vs. Artificial Neurons</a:t>
            </a:r>
            <a:endParaRPr/>
          </a:p>
        </p:txBody>
      </p:sp>
      <p:pic>
        <p:nvPicPr>
          <p:cNvPr descr="image.png" id="398" name="Google Shape;398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318566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363334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0" name="Google Shape;400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408101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1" name="Google Shape;401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452869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2" name="Google Shape;402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497636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3" name="Google Shape;403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318566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4" name="Google Shape;404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363334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5" name="Google Shape;405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4081016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6" name="Google Shape;406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452869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7" name="Google Shape;407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4976366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2" name="Google Shape;41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7"/>
          <p:cNvSpPr txBox="1"/>
          <p:nvPr/>
        </p:nvSpPr>
        <p:spPr>
          <a:xfrm>
            <a:off x="295275" y="1936402"/>
            <a:ext cx="1160145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Part 5: Artificial Neural Networks (ANN)</a:t>
            </a:r>
            <a:endParaRPr/>
          </a:p>
        </p:txBody>
      </p:sp>
      <p:sp>
        <p:nvSpPr>
          <p:cNvPr id="414" name="Google Shape;414;p37"/>
          <p:cNvSpPr/>
          <p:nvPr/>
        </p:nvSpPr>
        <p:spPr>
          <a:xfrm>
            <a:off x="5619750" y="4222402"/>
            <a:ext cx="952500" cy="47625"/>
          </a:xfrm>
          <a:prstGeom prst="rect">
            <a:avLst/>
          </a:prstGeom>
          <a:solidFill>
            <a:srgbClr val="A9D4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7"/>
          <p:cNvSpPr txBox="1"/>
          <p:nvPr/>
        </p:nvSpPr>
        <p:spPr>
          <a:xfrm>
            <a:off x="4729162" y="4555777"/>
            <a:ext cx="27336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From Neurons to Networks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0" name="Google Shape;42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8"/>
          <p:cNvSpPr txBox="1"/>
          <p:nvPr/>
        </p:nvSpPr>
        <p:spPr>
          <a:xfrm>
            <a:off x="1809750" y="253007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A Network of Processors</a:t>
            </a:r>
            <a:endParaRPr/>
          </a:p>
        </p:txBody>
      </p:sp>
      <p:sp>
        <p:nvSpPr>
          <p:cNvPr id="422" name="Google Shape;422;p38"/>
          <p:cNvSpPr txBox="1"/>
          <p:nvPr/>
        </p:nvSpPr>
        <p:spPr>
          <a:xfrm>
            <a:off x="2190750" y="317777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A computational model inspired by the human brain.</a:t>
            </a:r>
            <a:endParaRPr/>
          </a:p>
        </p:txBody>
      </p:sp>
      <p:sp>
        <p:nvSpPr>
          <p:cNvPr id="423" name="Google Shape;423;p38"/>
          <p:cNvSpPr txBox="1"/>
          <p:nvPr/>
        </p:nvSpPr>
        <p:spPr>
          <a:xfrm>
            <a:off x="2190750" y="370343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It consists of many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interconnected neurons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that process information.</a:t>
            </a:r>
            <a:endParaRPr/>
          </a:p>
        </p:txBody>
      </p:sp>
      <p:sp>
        <p:nvSpPr>
          <p:cNvPr id="424" name="Google Shape;424;p38"/>
          <p:cNvSpPr txBox="1"/>
          <p:nvPr/>
        </p:nvSpPr>
        <p:spPr>
          <a:xfrm>
            <a:off x="2190750" y="422910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These networks can learn patterns from data through a training process.</a:t>
            </a:r>
            <a:endParaRPr/>
          </a:p>
        </p:txBody>
      </p:sp>
      <p:sp>
        <p:nvSpPr>
          <p:cNvPr id="425" name="Google Shape;425;p38"/>
          <p:cNvSpPr txBox="1"/>
          <p:nvPr/>
        </p:nvSpPr>
        <p:spPr>
          <a:xfrm>
            <a:off x="2190750" y="475476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They are powerful tools capable of approximating very complex functions.</a:t>
            </a:r>
            <a:endParaRPr/>
          </a:p>
        </p:txBody>
      </p:sp>
      <p:pic>
        <p:nvPicPr>
          <p:cNvPr descr="image.png" id="426" name="Google Shape;426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225403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7" name="Google Shape;427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75106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8" name="Google Shape;428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27672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9" name="Google Shape;429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80238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3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What is an ANN?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5" name="Google Shape;43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6" name="Google Shape;436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9"/>
          <p:cNvSpPr txBox="1"/>
          <p:nvPr/>
        </p:nvSpPr>
        <p:spPr>
          <a:xfrm>
            <a:off x="571500" y="20002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Layers of Neurons</a:t>
            </a:r>
            <a:endParaRPr/>
          </a:p>
        </p:txBody>
      </p:sp>
      <p:sp>
        <p:nvSpPr>
          <p:cNvPr id="438" name="Google Shape;438;p39"/>
          <p:cNvSpPr txBox="1"/>
          <p:nvPr/>
        </p:nvSpPr>
        <p:spPr>
          <a:xfrm>
            <a:off x="904875" y="26479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Input Layer:</a:t>
            </a: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Receives the raw features (e.g., pixels, house size).</a:t>
            </a:r>
            <a:endParaRPr/>
          </a:p>
        </p:txBody>
      </p:sp>
      <p:sp>
        <p:nvSpPr>
          <p:cNvPr id="439" name="Google Shape;439;p39"/>
          <p:cNvSpPr txBox="1"/>
          <p:nvPr/>
        </p:nvSpPr>
        <p:spPr>
          <a:xfrm>
            <a:off x="904875" y="34004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Hidden Layers:</a:t>
            </a: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One or more layers of neurons that learn representations of the data.</a:t>
            </a:r>
            <a:endParaRPr/>
          </a:p>
        </p:txBody>
      </p:sp>
      <p:sp>
        <p:nvSpPr>
          <p:cNvPr id="440" name="Google Shape;440;p39"/>
          <p:cNvSpPr txBox="1"/>
          <p:nvPr/>
        </p:nvSpPr>
        <p:spPr>
          <a:xfrm>
            <a:off x="904875" y="41529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Output Layer:</a:t>
            </a: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The final layer that produces the prediction (e.g., "cat", "price").</a:t>
            </a:r>
            <a:endParaRPr/>
          </a:p>
        </p:txBody>
      </p:sp>
      <p:pic>
        <p:nvPicPr>
          <p:cNvPr descr="image.png" id="441" name="Google Shape;441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ANN Architecture</a:t>
            </a:r>
            <a:endParaRPr/>
          </a:p>
        </p:txBody>
      </p:sp>
      <p:pic>
        <p:nvPicPr>
          <p:cNvPr descr="image.png" id="443" name="Google Shape;443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6955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4" name="Google Shape;444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480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5" name="Google Shape;445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00525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0" name="Google Shape;45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40"/>
          <p:cNvSpPr txBox="1"/>
          <p:nvPr/>
        </p:nvSpPr>
        <p:spPr>
          <a:xfrm>
            <a:off x="1809750" y="2440483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A One-Way Street</a:t>
            </a:r>
            <a:endParaRPr/>
          </a:p>
        </p:txBody>
      </p:sp>
      <p:sp>
        <p:nvSpPr>
          <p:cNvPr id="452" name="Google Shape;452;p40"/>
          <p:cNvSpPr txBox="1"/>
          <p:nvPr/>
        </p:nvSpPr>
        <p:spPr>
          <a:xfrm>
            <a:off x="2190750" y="3088183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A "feed-forward" network is one where information flows in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one direction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453" name="Google Shape;453;p40"/>
          <p:cNvSpPr txBox="1"/>
          <p:nvPr/>
        </p:nvSpPr>
        <p:spPr>
          <a:xfrm>
            <a:off x="2190750" y="3613844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Data flows from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Inputs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→ to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Hidden Layers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→ to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Output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454" name="Google Shape;454;p40"/>
          <p:cNvSpPr txBox="1"/>
          <p:nvPr/>
        </p:nvSpPr>
        <p:spPr>
          <a:xfrm>
            <a:off x="2190750" y="4139505"/>
            <a:ext cx="8191500" cy="10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There are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no loops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, and information never flows backward.</a:t>
            </a:r>
            <a:endParaRPr/>
          </a:p>
        </p:txBody>
      </p:sp>
      <p:pic>
        <p:nvPicPr>
          <p:cNvPr descr="image.png" id="455" name="Google Shape;45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135808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6" name="Google Shape;456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661469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7" name="Google Shape;457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18713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Jargon: "Feed-Forward"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3" name="Google Shape;46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1"/>
          <p:cNvSpPr txBox="1"/>
          <p:nvPr/>
        </p:nvSpPr>
        <p:spPr>
          <a:xfrm>
            <a:off x="1809750" y="2457747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Connection Types</a:t>
            </a:r>
            <a:endParaRPr/>
          </a:p>
        </p:txBody>
      </p:sp>
      <p:sp>
        <p:nvSpPr>
          <p:cNvPr id="465" name="Google Shape;465;p41"/>
          <p:cNvSpPr txBox="1"/>
          <p:nvPr/>
        </p:nvSpPr>
        <p:spPr>
          <a:xfrm>
            <a:off x="2190750" y="3105447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Feed-forward: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The simplest type. Information flows one way, from input to output. (e.g., Perceptrons, MLPs).</a:t>
            </a:r>
            <a:endParaRPr/>
          </a:p>
        </p:txBody>
      </p:sp>
      <p:sp>
        <p:nvSpPr>
          <p:cNvPr id="466" name="Google Shape;466;p41"/>
          <p:cNvSpPr txBox="1"/>
          <p:nvPr/>
        </p:nvSpPr>
        <p:spPr>
          <a:xfrm>
            <a:off x="2190750" y="3966269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Recursive (Recurrent):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Connections can form loops, creating "memory." (e.g., RNNs, for sequence data).</a:t>
            </a:r>
            <a:endParaRPr/>
          </a:p>
        </p:txBody>
      </p:sp>
      <p:sp>
        <p:nvSpPr>
          <p:cNvPr id="467" name="Google Shape;467;p41"/>
          <p:cNvSpPr txBox="1"/>
          <p:nvPr/>
        </p:nvSpPr>
        <p:spPr>
          <a:xfrm>
            <a:off x="2190750" y="4827091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Self-loop: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A neuron's output can feed back into its own input.</a:t>
            </a:r>
            <a:endParaRPr/>
          </a:p>
        </p:txBody>
      </p:sp>
      <p:pic>
        <p:nvPicPr>
          <p:cNvPr descr="image.png" id="468" name="Google Shape;468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15307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9" name="Google Shape;469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01389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0" name="Google Shape;470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87471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4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Information Flow in ANNs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6" name="Google Shape;47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42"/>
          <p:cNvSpPr txBox="1"/>
          <p:nvPr/>
        </p:nvSpPr>
        <p:spPr>
          <a:xfrm>
            <a:off x="1809750" y="253007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Key Characteristics</a:t>
            </a:r>
            <a:endParaRPr/>
          </a:p>
        </p:txBody>
      </p:sp>
      <p:sp>
        <p:nvSpPr>
          <p:cNvPr id="478" name="Google Shape;478;p42"/>
          <p:cNvSpPr txBox="1"/>
          <p:nvPr/>
        </p:nvSpPr>
        <p:spPr>
          <a:xfrm>
            <a:off x="2190750" y="317777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Many neuron-like threshold switching units.</a:t>
            </a:r>
            <a:endParaRPr/>
          </a:p>
        </p:txBody>
      </p:sp>
      <p:sp>
        <p:nvSpPr>
          <p:cNvPr id="479" name="Google Shape;479;p42"/>
          <p:cNvSpPr txBox="1"/>
          <p:nvPr/>
        </p:nvSpPr>
        <p:spPr>
          <a:xfrm>
            <a:off x="2190750" y="370343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Many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weighted interconnections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among units.</a:t>
            </a:r>
            <a:endParaRPr/>
          </a:p>
        </p:txBody>
      </p:sp>
      <p:sp>
        <p:nvSpPr>
          <p:cNvPr id="480" name="Google Shape;480;p42"/>
          <p:cNvSpPr txBox="1"/>
          <p:nvPr/>
        </p:nvSpPr>
        <p:spPr>
          <a:xfrm>
            <a:off x="2190750" y="422910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Highly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parallel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distributed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process (PDP).</a:t>
            </a:r>
            <a:endParaRPr/>
          </a:p>
        </p:txBody>
      </p:sp>
      <p:sp>
        <p:nvSpPr>
          <p:cNvPr id="481" name="Google Shape;481;p42"/>
          <p:cNvSpPr txBox="1"/>
          <p:nvPr/>
        </p:nvSpPr>
        <p:spPr>
          <a:xfrm>
            <a:off x="2190750" y="475476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Emphasis on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tuning parameters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(weights) automatically through learning.</a:t>
            </a:r>
            <a:endParaRPr/>
          </a:p>
        </p:txBody>
      </p:sp>
      <p:pic>
        <p:nvPicPr>
          <p:cNvPr descr="image.png" id="482" name="Google Shape;482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225403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3" name="Google Shape;483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751064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4" name="Google Shape;484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2767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5" name="Google Shape;485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80238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Properties of ANNs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1" name="Google Shape;49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43"/>
          <p:cNvSpPr txBox="1"/>
          <p:nvPr/>
        </p:nvSpPr>
        <p:spPr>
          <a:xfrm>
            <a:off x="1070371" y="2388840"/>
            <a:ext cx="10051256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Part 6: When to Consider ANNs</a:t>
            </a:r>
            <a:endParaRPr/>
          </a:p>
        </p:txBody>
      </p:sp>
      <p:sp>
        <p:nvSpPr>
          <p:cNvPr id="493" name="Google Shape;493;p43"/>
          <p:cNvSpPr/>
          <p:nvPr/>
        </p:nvSpPr>
        <p:spPr>
          <a:xfrm>
            <a:off x="5619750" y="3769965"/>
            <a:ext cx="952500" cy="47625"/>
          </a:xfrm>
          <a:prstGeom prst="rect">
            <a:avLst/>
          </a:prstGeom>
          <a:solidFill>
            <a:srgbClr val="A9D4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43"/>
          <p:cNvSpPr txBox="1"/>
          <p:nvPr/>
        </p:nvSpPr>
        <p:spPr>
          <a:xfrm>
            <a:off x="4933950" y="4103340"/>
            <a:ext cx="23241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Choosing the Right Tool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9" name="Google Shape;49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44"/>
          <p:cNvSpPr txBox="1"/>
          <p:nvPr/>
        </p:nvSpPr>
        <p:spPr>
          <a:xfrm>
            <a:off x="1809750" y="279290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Problem Characteristics</a:t>
            </a:r>
            <a:endParaRPr/>
          </a:p>
        </p:txBody>
      </p:sp>
      <p:sp>
        <p:nvSpPr>
          <p:cNvPr id="501" name="Google Shape;501;p44"/>
          <p:cNvSpPr txBox="1"/>
          <p:nvPr/>
        </p:nvSpPr>
        <p:spPr>
          <a:xfrm>
            <a:off x="2190750" y="344060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Input is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high-dimensional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(e.g., raw sensor input, images, text).</a:t>
            </a:r>
            <a:endParaRPr/>
          </a:p>
        </p:txBody>
      </p:sp>
      <p:sp>
        <p:nvSpPr>
          <p:cNvPr id="502" name="Google Shape;502;p44"/>
          <p:cNvSpPr txBox="1"/>
          <p:nvPr/>
        </p:nvSpPr>
        <p:spPr>
          <a:xfrm>
            <a:off x="2190750" y="396626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Data is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possibly noisy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(contains errors or inconsistencies).</a:t>
            </a:r>
            <a:endParaRPr/>
          </a:p>
        </p:txBody>
      </p:sp>
      <p:sp>
        <p:nvSpPr>
          <p:cNvPr id="503" name="Google Shape;503;p44"/>
          <p:cNvSpPr txBox="1"/>
          <p:nvPr/>
        </p:nvSpPr>
        <p:spPr>
          <a:xfrm>
            <a:off x="2190750" y="449193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Output can be discrete (classification), real-valued (regression), or a vector of values.</a:t>
            </a:r>
            <a:endParaRPr/>
          </a:p>
        </p:txBody>
      </p:sp>
      <p:pic>
        <p:nvPicPr>
          <p:cNvPr descr="image.png" id="504" name="Google Shape;504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488233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5" name="Google Shape;505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013894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6" name="Google Shape;506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53955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When to Use ANNs: Input Data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2" name="Google Shape;51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5"/>
          <p:cNvSpPr txBox="1"/>
          <p:nvPr/>
        </p:nvSpPr>
        <p:spPr>
          <a:xfrm>
            <a:off x="1809750" y="262532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Function and Interpretability</a:t>
            </a:r>
            <a:endParaRPr/>
          </a:p>
        </p:txBody>
      </p:sp>
      <p:sp>
        <p:nvSpPr>
          <p:cNvPr id="514" name="Google Shape;514;p45"/>
          <p:cNvSpPr txBox="1"/>
          <p:nvPr/>
        </p:nvSpPr>
        <p:spPr>
          <a:xfrm>
            <a:off x="2190750" y="327302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form of the target function is unknown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or highly complex.</a:t>
            </a:r>
            <a:endParaRPr/>
          </a:p>
        </p:txBody>
      </p:sp>
      <p:sp>
        <p:nvSpPr>
          <p:cNvPr id="515" name="Google Shape;515;p45"/>
          <p:cNvSpPr txBox="1"/>
          <p:nvPr/>
        </p:nvSpPr>
        <p:spPr>
          <a:xfrm>
            <a:off x="2190750" y="379868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Human readability or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explainability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of the result is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unimportant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516" name="Google Shape;516;p45"/>
          <p:cNvSpPr txBox="1"/>
          <p:nvPr/>
        </p:nvSpPr>
        <p:spPr>
          <a:xfrm>
            <a:off x="2190750" y="4324350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If you can solve a problem with a simple model (like linear regression), you should! Use ANNs for complex problems.</a:t>
            </a:r>
            <a:endParaRPr/>
          </a:p>
        </p:txBody>
      </p:sp>
      <p:pic>
        <p:nvPicPr>
          <p:cNvPr descr="image.png" id="517" name="Google Shape;517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32065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8" name="Google Shape;518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846314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9" name="Google Shape;519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371975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4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When to Use ANNs: Problem Type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5" name="Google Shape;52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46"/>
          <p:cNvSpPr txBox="1"/>
          <p:nvPr/>
        </p:nvSpPr>
        <p:spPr>
          <a:xfrm>
            <a:off x="1809750" y="279290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Where ANNs Excel</a:t>
            </a:r>
            <a:endParaRPr/>
          </a:p>
        </p:txBody>
      </p:sp>
      <p:sp>
        <p:nvSpPr>
          <p:cNvPr id="527" name="Google Shape;527;p46"/>
          <p:cNvSpPr txBox="1"/>
          <p:nvPr/>
        </p:nvSpPr>
        <p:spPr>
          <a:xfrm>
            <a:off x="2190750" y="344060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Speech phoneme recognition: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High-dim, noisy audio data.</a:t>
            </a:r>
            <a:endParaRPr/>
          </a:p>
        </p:txBody>
      </p:sp>
      <p:sp>
        <p:nvSpPr>
          <p:cNvPr id="528" name="Google Shape;528;p46"/>
          <p:cNvSpPr txBox="1"/>
          <p:nvPr/>
        </p:nvSpPr>
        <p:spPr>
          <a:xfrm>
            <a:off x="2190750" y="396626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Image classification: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High-dim pixel data, complex function.</a:t>
            </a:r>
            <a:endParaRPr/>
          </a:p>
        </p:txBody>
      </p:sp>
      <p:sp>
        <p:nvSpPr>
          <p:cNvPr id="529" name="Google Shape;529;p46"/>
          <p:cNvSpPr txBox="1"/>
          <p:nvPr/>
        </p:nvSpPr>
        <p:spPr>
          <a:xfrm>
            <a:off x="2190750" y="449193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Financial prediction: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High-dim, noisy market data.</a:t>
            </a:r>
            <a:endParaRPr/>
          </a:p>
        </p:txBody>
      </p:sp>
      <p:pic>
        <p:nvPicPr>
          <p:cNvPr descr="image.png" id="530" name="Google Shape;530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488233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1" name="Google Shape;531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01389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2" name="Google Shape;532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53955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4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Real-World Examples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8" name="Google Shape;53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47"/>
          <p:cNvSpPr txBox="1"/>
          <p:nvPr/>
        </p:nvSpPr>
        <p:spPr>
          <a:xfrm>
            <a:off x="2450544" y="2388840"/>
            <a:ext cx="7290911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Part 7: Connectionism</a:t>
            </a:r>
            <a:endParaRPr/>
          </a:p>
        </p:txBody>
      </p:sp>
      <p:sp>
        <p:nvSpPr>
          <p:cNvPr id="540" name="Google Shape;540;p47"/>
          <p:cNvSpPr/>
          <p:nvPr/>
        </p:nvSpPr>
        <p:spPr>
          <a:xfrm>
            <a:off x="5619750" y="3769965"/>
            <a:ext cx="952500" cy="47625"/>
          </a:xfrm>
          <a:prstGeom prst="rect">
            <a:avLst/>
          </a:prstGeom>
          <a:solidFill>
            <a:srgbClr val="A9D4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47"/>
          <p:cNvSpPr txBox="1"/>
          <p:nvPr/>
        </p:nvSpPr>
        <p:spPr>
          <a:xfrm>
            <a:off x="4643437" y="4103340"/>
            <a:ext cx="29051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Philosophy Behind ANNs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6" name="Google Shape;54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8"/>
          <p:cNvSpPr txBox="1"/>
          <p:nvPr/>
        </p:nvSpPr>
        <p:spPr>
          <a:xfrm>
            <a:off x="1809750" y="279290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A "Connectionist" Approach</a:t>
            </a:r>
            <a:endParaRPr/>
          </a:p>
        </p:txBody>
      </p:sp>
      <p:sp>
        <p:nvSpPr>
          <p:cNvPr id="548" name="Google Shape;548;p48"/>
          <p:cNvSpPr txBox="1"/>
          <p:nvPr/>
        </p:nvSpPr>
        <p:spPr>
          <a:xfrm>
            <a:off x="2190750" y="344060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Neural networks are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connectionist machines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549" name="Google Shape;549;p48"/>
          <p:cNvSpPr txBox="1"/>
          <p:nvPr/>
        </p:nvSpPr>
        <p:spPr>
          <a:xfrm>
            <a:off x="2190750" y="396626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They are composed of a network of simple processing elements (neurons).</a:t>
            </a:r>
            <a:endParaRPr/>
          </a:p>
        </p:txBody>
      </p:sp>
      <p:sp>
        <p:nvSpPr>
          <p:cNvPr id="550" name="Google Shape;550;p48"/>
          <p:cNvSpPr txBox="1"/>
          <p:nvPr/>
        </p:nvSpPr>
        <p:spPr>
          <a:xfrm>
            <a:off x="2190750" y="449193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All "world knowledge" is stored in the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connections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between these elements.</a:t>
            </a:r>
            <a:endParaRPr/>
          </a:p>
        </p:txBody>
      </p:sp>
      <p:pic>
        <p:nvPicPr>
          <p:cNvPr descr="image.png" id="551" name="Google Shape;551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488233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2" name="Google Shape;552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01389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3" name="Google Shape;553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53955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4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Connectionist Machines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59" name="Google Shape;55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9"/>
          <p:cNvSpPr txBox="1"/>
          <p:nvPr/>
        </p:nvSpPr>
        <p:spPr>
          <a:xfrm>
            <a:off x="1809750" y="253007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Core Ideas</a:t>
            </a:r>
            <a:endParaRPr/>
          </a:p>
        </p:txBody>
      </p:sp>
      <p:sp>
        <p:nvSpPr>
          <p:cNvPr id="561" name="Google Shape;561;p49"/>
          <p:cNvSpPr txBox="1"/>
          <p:nvPr/>
        </p:nvSpPr>
        <p:spPr>
          <a:xfrm>
            <a:off x="2190750" y="317777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Intelligence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emerges from many simple processing neurons.</a:t>
            </a:r>
            <a:endParaRPr/>
          </a:p>
        </p:txBody>
      </p:sp>
      <p:sp>
        <p:nvSpPr>
          <p:cNvPr id="562" name="Google Shape;562;p49"/>
          <p:cNvSpPr txBox="1"/>
          <p:nvPr/>
        </p:nvSpPr>
        <p:spPr>
          <a:xfrm>
            <a:off x="2190750" y="370343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Knowledge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is stored in the connection weights.</a:t>
            </a:r>
            <a:endParaRPr/>
          </a:p>
        </p:txBody>
      </p:sp>
      <p:sp>
        <p:nvSpPr>
          <p:cNvPr id="563" name="Google Shape;563;p49"/>
          <p:cNvSpPr txBox="1"/>
          <p:nvPr/>
        </p:nvSpPr>
        <p:spPr>
          <a:xfrm>
            <a:off x="2190750" y="422910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Learning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is the process of modifying these connection strengths.</a:t>
            </a:r>
            <a:endParaRPr/>
          </a:p>
        </p:txBody>
      </p:sp>
      <p:sp>
        <p:nvSpPr>
          <p:cNvPr id="564" name="Google Shape;564;p49"/>
          <p:cNvSpPr txBox="1"/>
          <p:nvPr/>
        </p:nvSpPr>
        <p:spPr>
          <a:xfrm>
            <a:off x="2190750" y="475476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Parallel Distributed Processing (PDP)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is the mode of computation.</a:t>
            </a:r>
            <a:endParaRPr/>
          </a:p>
        </p:txBody>
      </p:sp>
      <p:pic>
        <p:nvPicPr>
          <p:cNvPr descr="image.png" id="565" name="Google Shape;565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225403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6" name="Google Shape;566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75106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7" name="Google Shape;567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2767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8" name="Google Shape;568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80238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Connectionism Principles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74" name="Google Shape;57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50"/>
          <p:cNvSpPr txBox="1"/>
          <p:nvPr/>
        </p:nvSpPr>
        <p:spPr>
          <a:xfrm>
            <a:off x="2460545" y="2865090"/>
            <a:ext cx="7270908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Part 8: The Perceptron</a:t>
            </a:r>
            <a:endParaRPr/>
          </a:p>
        </p:txBody>
      </p:sp>
      <p:sp>
        <p:nvSpPr>
          <p:cNvPr id="576" name="Google Shape;576;p50"/>
          <p:cNvSpPr/>
          <p:nvPr/>
        </p:nvSpPr>
        <p:spPr>
          <a:xfrm>
            <a:off x="5619750" y="4246215"/>
            <a:ext cx="952500" cy="47625"/>
          </a:xfrm>
          <a:prstGeom prst="rect">
            <a:avLst/>
          </a:prstGeom>
          <a:solidFill>
            <a:srgbClr val="A9D4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50"/>
          <p:cNvSpPr txBox="1"/>
          <p:nvPr/>
        </p:nvSpPr>
        <p:spPr>
          <a:xfrm>
            <a:off x="4614862" y="4579590"/>
            <a:ext cx="29622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Simplest Neural Network</a:t>
            </a:r>
            <a:endParaRPr/>
          </a:p>
        </p:txBody>
      </p:sp>
      <p:sp>
        <p:nvSpPr>
          <p:cNvPr id="578" name="Google Shape;578;p5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Part 8: The Perceptron</a:t>
            </a:r>
            <a:endParaRPr/>
          </a:p>
        </p:txBody>
      </p:sp>
      <p:sp>
        <p:nvSpPr>
          <p:cNvPr id="579" name="Google Shape;579;p50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50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85" name="Google Shape;58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51"/>
          <p:cNvSpPr txBox="1"/>
          <p:nvPr/>
        </p:nvSpPr>
        <p:spPr>
          <a:xfrm>
            <a:off x="1809750" y="253007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The Original Artificial Neuron</a:t>
            </a:r>
            <a:endParaRPr/>
          </a:p>
        </p:txBody>
      </p:sp>
      <p:sp>
        <p:nvSpPr>
          <p:cNvPr id="587" name="Google Shape;587;p51"/>
          <p:cNvSpPr txBox="1"/>
          <p:nvPr/>
        </p:nvSpPr>
        <p:spPr>
          <a:xfrm>
            <a:off x="2190750" y="317777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Perceptron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is the simplest form of an artificial neuron.</a:t>
            </a:r>
            <a:endParaRPr/>
          </a:p>
        </p:txBody>
      </p:sp>
      <p:sp>
        <p:nvSpPr>
          <p:cNvPr id="588" name="Google Shape;588;p51"/>
          <p:cNvSpPr txBox="1"/>
          <p:nvPr/>
        </p:nvSpPr>
        <p:spPr>
          <a:xfrm>
            <a:off x="2190750" y="370343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It was introduced by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Frank Rosenblatt in 1958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589" name="Google Shape;589;p51"/>
          <p:cNvSpPr txBox="1"/>
          <p:nvPr/>
        </p:nvSpPr>
        <p:spPr>
          <a:xfrm>
            <a:off x="2190750" y="422910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It's a model for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binary classification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(two classes, e.g., 0 or 1).</a:t>
            </a:r>
            <a:endParaRPr/>
          </a:p>
        </p:txBody>
      </p:sp>
      <p:sp>
        <p:nvSpPr>
          <p:cNvPr id="590" name="Google Shape;590;p51"/>
          <p:cNvSpPr txBox="1"/>
          <p:nvPr/>
        </p:nvSpPr>
        <p:spPr>
          <a:xfrm>
            <a:off x="2190750" y="475476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intuition from the Perceptron is the basis for your assignment.</a:t>
            </a:r>
            <a:endParaRPr/>
          </a:p>
        </p:txBody>
      </p:sp>
      <p:pic>
        <p:nvPicPr>
          <p:cNvPr descr="image.png" id="591" name="Google Shape;591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225403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2" name="Google Shape;592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75106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3" name="Google Shape;593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27672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4" name="Google Shape;594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80238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5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Perceptron: Introduction</a:t>
            </a:r>
            <a:endParaRPr/>
          </a:p>
        </p:txBody>
      </p:sp>
      <p:sp>
        <p:nvSpPr>
          <p:cNvPr id="596" name="Google Shape;596;p51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51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02" name="Google Shape;60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52"/>
          <p:cNvSpPr txBox="1"/>
          <p:nvPr/>
        </p:nvSpPr>
        <p:spPr>
          <a:xfrm>
            <a:off x="1809750" y="2632471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Weighted Sum + Threshold</a:t>
            </a:r>
            <a:endParaRPr/>
          </a:p>
        </p:txBody>
      </p:sp>
      <p:sp>
        <p:nvSpPr>
          <p:cNvPr id="604" name="Google Shape;604;p52"/>
          <p:cNvSpPr txBox="1"/>
          <p:nvPr/>
        </p:nvSpPr>
        <p:spPr>
          <a:xfrm>
            <a:off x="2190750" y="3280171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It computes the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weighted sum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'z' (just as we saw).</a:t>
            </a:r>
            <a:endParaRPr/>
          </a:p>
        </p:txBody>
      </p:sp>
      <p:sp>
        <p:nvSpPr>
          <p:cNvPr id="605" name="Google Shape;605;p52"/>
          <p:cNvSpPr txBox="1"/>
          <p:nvPr/>
        </p:nvSpPr>
        <p:spPr>
          <a:xfrm>
            <a:off x="2190750" y="4652367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It then applies a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step activation function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606" name="Google Shape;606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327796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7" name="Google Shape;607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699992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5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Perceptron Mathematical Model</a:t>
            </a:r>
            <a:endParaRPr/>
          </a:p>
        </p:txBody>
      </p:sp>
      <p:sp>
        <p:nvSpPr>
          <p:cNvPr id="609" name="Google Shape;609;p52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52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15" name="Google Shape;61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53"/>
          <p:cNvSpPr txBox="1"/>
          <p:nvPr/>
        </p:nvSpPr>
        <p:spPr>
          <a:xfrm>
            <a:off x="1809750" y="2330053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An "All-or-Nothing" Switch</a:t>
            </a:r>
            <a:endParaRPr/>
          </a:p>
        </p:txBody>
      </p:sp>
      <p:sp>
        <p:nvSpPr>
          <p:cNvPr id="617" name="Google Shape;617;p53"/>
          <p:cNvSpPr txBox="1"/>
          <p:nvPr/>
        </p:nvSpPr>
        <p:spPr>
          <a:xfrm>
            <a:off x="2190750" y="2977753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It is the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simplest activation function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618" name="Google Shape;618;p53"/>
          <p:cNvSpPr txBox="1"/>
          <p:nvPr/>
        </p:nvSpPr>
        <p:spPr>
          <a:xfrm>
            <a:off x="2190750" y="3503414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It models an "all-or-nothing" decision, just like the biological neuron's "firing" threshold.</a:t>
            </a:r>
            <a:endParaRPr/>
          </a:p>
        </p:txBody>
      </p:sp>
      <p:sp>
        <p:nvSpPr>
          <p:cNvPr id="619" name="Google Shape;619;p53"/>
          <p:cNvSpPr txBox="1"/>
          <p:nvPr/>
        </p:nvSpPr>
        <p:spPr>
          <a:xfrm>
            <a:off x="2190750" y="4029075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If the input (z) is above a threshold (e.g., 0), output 1 (ON).</a:t>
            </a:r>
            <a:endParaRPr/>
          </a:p>
        </p:txBody>
      </p:sp>
      <p:sp>
        <p:nvSpPr>
          <p:cNvPr id="620" name="Google Shape;620;p53"/>
          <p:cNvSpPr txBox="1"/>
          <p:nvPr/>
        </p:nvSpPr>
        <p:spPr>
          <a:xfrm>
            <a:off x="2190750" y="4554735"/>
            <a:ext cx="8191500" cy="735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If the input (z) is below the threshold, output 0 (OFF).</a:t>
            </a:r>
            <a:endParaRPr/>
          </a:p>
        </p:txBody>
      </p:sp>
      <p:pic>
        <p:nvPicPr>
          <p:cNvPr descr="image.png" id="621" name="Google Shape;621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025378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2" name="Google Shape;622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551039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3" name="Google Shape;623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076700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4" name="Google Shape;624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60236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5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Jargon: What is a "Step Function"?</a:t>
            </a:r>
            <a:endParaRPr/>
          </a:p>
        </p:txBody>
      </p:sp>
      <p:sp>
        <p:nvSpPr>
          <p:cNvPr id="626" name="Google Shape;626;p53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53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32" name="Google Shape;63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54"/>
          <p:cNvSpPr txBox="1"/>
          <p:nvPr/>
        </p:nvSpPr>
        <p:spPr>
          <a:xfrm>
            <a:off x="1809750" y="2703314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The "Firing" Decision Rule</a:t>
            </a:r>
            <a:endParaRPr/>
          </a:p>
        </p:txBody>
      </p:sp>
      <p:sp>
        <p:nvSpPr>
          <p:cNvPr id="634" name="Google Shape;634;p54"/>
          <p:cNvSpPr txBox="1"/>
          <p:nvPr/>
        </p:nvSpPr>
        <p:spPr>
          <a:xfrm>
            <a:off x="2190750" y="3351014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Perceptron uses a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step function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as its activation 'f'.</a:t>
            </a:r>
            <a:endParaRPr/>
          </a:p>
        </p:txBody>
      </p:sp>
      <p:sp>
        <p:nvSpPr>
          <p:cNvPr id="635" name="Google Shape;635;p54"/>
          <p:cNvSpPr txBox="1"/>
          <p:nvPr/>
        </p:nvSpPr>
        <p:spPr>
          <a:xfrm>
            <a:off x="2190750" y="3876675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This creates a binary output (0 or 1).</a:t>
            </a:r>
            <a:endParaRPr/>
          </a:p>
        </p:txBody>
      </p:sp>
      <p:pic>
        <p:nvPicPr>
          <p:cNvPr descr="image.png" id="636" name="Google Shape;636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398639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7" name="Google Shape;637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92430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5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The Step Activation Function</a:t>
            </a:r>
            <a:endParaRPr/>
          </a:p>
        </p:txBody>
      </p:sp>
      <p:sp>
        <p:nvSpPr>
          <p:cNvPr id="639" name="Google Shape;639;p54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54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45" name="Google Shape;64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55"/>
          <p:cNvSpPr txBox="1"/>
          <p:nvPr/>
        </p:nvSpPr>
        <p:spPr>
          <a:xfrm>
            <a:off x="571500" y="21145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NumPy Implementation (Step Function)</a:t>
            </a:r>
            <a:endParaRPr/>
          </a:p>
        </p:txBody>
      </p:sp>
      <p:sp>
        <p:nvSpPr>
          <p:cNvPr id="647" name="Google Shape;647;p5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Perceptron Forward Pass: NumPy Code</a:t>
            </a:r>
            <a:endParaRPr/>
          </a:p>
        </p:txBody>
      </p:sp>
      <p:sp>
        <p:nvSpPr>
          <p:cNvPr id="648" name="Google Shape;648;p55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55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54" name="Google Shape;654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56"/>
          <p:cNvSpPr txBox="1"/>
          <p:nvPr/>
        </p:nvSpPr>
        <p:spPr>
          <a:xfrm>
            <a:off x="520303" y="2865090"/>
            <a:ext cx="11151393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Part 9: Perceptrons as Logic Gates</a:t>
            </a:r>
            <a:endParaRPr/>
          </a:p>
        </p:txBody>
      </p:sp>
      <p:sp>
        <p:nvSpPr>
          <p:cNvPr id="656" name="Google Shape;656;p56"/>
          <p:cNvSpPr/>
          <p:nvPr/>
        </p:nvSpPr>
        <p:spPr>
          <a:xfrm>
            <a:off x="5619750" y="4246215"/>
            <a:ext cx="952500" cy="47625"/>
          </a:xfrm>
          <a:prstGeom prst="rect">
            <a:avLst/>
          </a:prstGeom>
          <a:solidFill>
            <a:srgbClr val="A9D4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56"/>
          <p:cNvSpPr txBox="1"/>
          <p:nvPr/>
        </p:nvSpPr>
        <p:spPr>
          <a:xfrm>
            <a:off x="4391025" y="4579590"/>
            <a:ext cx="340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Building Simple Boolean Functions</a:t>
            </a:r>
            <a:endParaRPr/>
          </a:p>
        </p:txBody>
      </p:sp>
      <p:sp>
        <p:nvSpPr>
          <p:cNvPr id="658" name="Google Shape;658;p5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Part 9: Perceptrons as Logic Gates</a:t>
            </a:r>
            <a:endParaRPr/>
          </a:p>
        </p:txBody>
      </p:sp>
      <p:sp>
        <p:nvSpPr>
          <p:cNvPr id="659" name="Google Shape;659;p56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56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65" name="Google Shape;66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7"/>
          <p:cNvSpPr txBox="1"/>
          <p:nvPr/>
        </p:nvSpPr>
        <p:spPr>
          <a:xfrm>
            <a:off x="1809750" y="2440483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The "Fence" in the Data</a:t>
            </a:r>
            <a:endParaRPr/>
          </a:p>
        </p:txBody>
      </p:sp>
      <p:sp>
        <p:nvSpPr>
          <p:cNvPr id="667" name="Google Shape;667;p57"/>
          <p:cNvSpPr txBox="1"/>
          <p:nvPr/>
        </p:nvSpPr>
        <p:spPr>
          <a:xfrm>
            <a:off x="2190750" y="3088183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This is the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line (or surface)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that the model learns, to separate the different classes.</a:t>
            </a:r>
            <a:endParaRPr/>
          </a:p>
        </p:txBody>
      </p:sp>
      <p:sp>
        <p:nvSpPr>
          <p:cNvPr id="668" name="Google Shape;668;p57"/>
          <p:cNvSpPr txBox="1"/>
          <p:nvPr/>
        </p:nvSpPr>
        <p:spPr>
          <a:xfrm>
            <a:off x="2190750" y="3613844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On one side of the line, the model predicts "Class 0".</a:t>
            </a:r>
            <a:endParaRPr/>
          </a:p>
        </p:txBody>
      </p:sp>
      <p:sp>
        <p:nvSpPr>
          <p:cNvPr id="669" name="Google Shape;669;p57"/>
          <p:cNvSpPr txBox="1"/>
          <p:nvPr/>
        </p:nvSpPr>
        <p:spPr>
          <a:xfrm>
            <a:off x="2190750" y="4139505"/>
            <a:ext cx="8191500" cy="1040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On the other side, it predicts "Class 1".</a:t>
            </a:r>
            <a:endParaRPr/>
          </a:p>
        </p:txBody>
      </p:sp>
      <p:pic>
        <p:nvPicPr>
          <p:cNvPr descr="image.png" id="670" name="Google Shape;670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135808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1" name="Google Shape;671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661469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2" name="Google Shape;672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18713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5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Jargon: "Decision Boundary"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78" name="Google Shape;67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8"/>
          <p:cNvSpPr txBox="1"/>
          <p:nvPr/>
        </p:nvSpPr>
        <p:spPr>
          <a:xfrm>
            <a:off x="1809750" y="262532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Linear Decisions</a:t>
            </a:r>
            <a:endParaRPr/>
          </a:p>
        </p:txBody>
      </p:sp>
      <p:sp>
        <p:nvSpPr>
          <p:cNvPr id="680" name="Google Shape;680;p58"/>
          <p:cNvSpPr txBox="1"/>
          <p:nvPr/>
        </p:nvSpPr>
        <p:spPr>
          <a:xfrm>
            <a:off x="2190750" y="327302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Boolean functions can be seen as simple classification problems.</a:t>
            </a:r>
            <a:endParaRPr/>
          </a:p>
        </p:txBody>
      </p:sp>
      <p:sp>
        <p:nvSpPr>
          <p:cNvPr id="681" name="Google Shape;681;p58"/>
          <p:cNvSpPr txBox="1"/>
          <p:nvPr/>
        </p:nvSpPr>
        <p:spPr>
          <a:xfrm>
            <a:off x="2190750" y="379868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A perceptron creates a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linear decision boundary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682" name="Google Shape;682;p58"/>
          <p:cNvSpPr txBox="1"/>
          <p:nvPr/>
        </p:nvSpPr>
        <p:spPr>
          <a:xfrm>
            <a:off x="2190750" y="4324350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Our strategy is to find the parameters (w1, w2, and b) that correctly separate the 0s from the 1s.</a:t>
            </a:r>
            <a:endParaRPr/>
          </a:p>
        </p:txBody>
      </p:sp>
      <p:pic>
        <p:nvPicPr>
          <p:cNvPr descr="image.png" id="683" name="Google Shape;683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32065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4" name="Google Shape;684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846314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5" name="Google Shape;685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371975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Representing Logic Gates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91" name="Google Shape;69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59"/>
          <p:cNvSpPr txBox="1"/>
          <p:nvPr/>
        </p:nvSpPr>
        <p:spPr>
          <a:xfrm>
            <a:off x="3333750" y="2001291"/>
            <a:ext cx="5800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AND Gate Truth Table</a:t>
            </a:r>
            <a:endParaRPr/>
          </a:p>
        </p:txBody>
      </p:sp>
      <p:graphicFrame>
        <p:nvGraphicFramePr>
          <p:cNvPr id="693" name="Google Shape;693;p59"/>
          <p:cNvGraphicFramePr/>
          <p:nvPr/>
        </p:nvGraphicFramePr>
        <p:xfrm>
          <a:off x="3333750" y="26489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{AD2E079C-D724-438B-8256-930175225709}</a:tableStyleId>
              </a:tblPr>
              <a:tblGrid>
                <a:gridCol w="1287075"/>
                <a:gridCol w="1346450"/>
                <a:gridCol w="2890975"/>
              </a:tblGrid>
              <a:tr h="63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C3E5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x1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C3E5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x2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C3E5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 (Target)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3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94" name="Google Shape;694;p59"/>
          <p:cNvSpPr/>
          <p:nvPr/>
        </p:nvSpPr>
        <p:spPr>
          <a:xfrm>
            <a:off x="3333750" y="3288059"/>
            <a:ext cx="12870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59"/>
          <p:cNvSpPr/>
          <p:nvPr/>
        </p:nvSpPr>
        <p:spPr>
          <a:xfrm>
            <a:off x="4620815" y="3288059"/>
            <a:ext cx="1346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59"/>
          <p:cNvSpPr/>
          <p:nvPr/>
        </p:nvSpPr>
        <p:spPr>
          <a:xfrm>
            <a:off x="5967263" y="3288059"/>
            <a:ext cx="28909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59"/>
          <p:cNvSpPr/>
          <p:nvPr/>
        </p:nvSpPr>
        <p:spPr>
          <a:xfrm>
            <a:off x="3333750" y="3914775"/>
            <a:ext cx="12870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59"/>
          <p:cNvSpPr/>
          <p:nvPr/>
        </p:nvSpPr>
        <p:spPr>
          <a:xfrm>
            <a:off x="4620815" y="3914775"/>
            <a:ext cx="1346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59"/>
          <p:cNvSpPr/>
          <p:nvPr/>
        </p:nvSpPr>
        <p:spPr>
          <a:xfrm>
            <a:off x="5967263" y="3914775"/>
            <a:ext cx="28909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59"/>
          <p:cNvSpPr/>
          <p:nvPr/>
        </p:nvSpPr>
        <p:spPr>
          <a:xfrm>
            <a:off x="3333750" y="4541490"/>
            <a:ext cx="12870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59"/>
          <p:cNvSpPr/>
          <p:nvPr/>
        </p:nvSpPr>
        <p:spPr>
          <a:xfrm>
            <a:off x="4620815" y="4541490"/>
            <a:ext cx="1346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59"/>
          <p:cNvSpPr/>
          <p:nvPr/>
        </p:nvSpPr>
        <p:spPr>
          <a:xfrm>
            <a:off x="5967263" y="4541490"/>
            <a:ext cx="28909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59"/>
          <p:cNvSpPr/>
          <p:nvPr/>
        </p:nvSpPr>
        <p:spPr>
          <a:xfrm>
            <a:off x="3333750" y="5168205"/>
            <a:ext cx="12870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59"/>
          <p:cNvSpPr/>
          <p:nvPr/>
        </p:nvSpPr>
        <p:spPr>
          <a:xfrm>
            <a:off x="4620815" y="5168205"/>
            <a:ext cx="1346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59"/>
          <p:cNvSpPr/>
          <p:nvPr/>
        </p:nvSpPr>
        <p:spPr>
          <a:xfrm>
            <a:off x="5967263" y="5168205"/>
            <a:ext cx="28909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59"/>
          <p:cNvSpPr/>
          <p:nvPr/>
        </p:nvSpPr>
        <p:spPr>
          <a:xfrm>
            <a:off x="3333750" y="5794920"/>
            <a:ext cx="12870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59"/>
          <p:cNvSpPr/>
          <p:nvPr/>
        </p:nvSpPr>
        <p:spPr>
          <a:xfrm>
            <a:off x="4620815" y="5794920"/>
            <a:ext cx="1346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59"/>
          <p:cNvSpPr/>
          <p:nvPr/>
        </p:nvSpPr>
        <p:spPr>
          <a:xfrm>
            <a:off x="5967263" y="5794920"/>
            <a:ext cx="28909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5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Perceptron for AND Gate (Data)</a:t>
            </a:r>
            <a:endParaRPr/>
          </a:p>
        </p:txBody>
      </p:sp>
      <p:sp>
        <p:nvSpPr>
          <p:cNvPr id="710" name="Google Shape;710;p59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59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16" name="Google Shape;716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17" name="Google Shape;717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985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60"/>
          <p:cNvSpPr txBox="1"/>
          <p:nvPr/>
        </p:nvSpPr>
        <p:spPr>
          <a:xfrm>
            <a:off x="571500" y="16985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One Possible Solution</a:t>
            </a:r>
            <a:endParaRPr/>
          </a:p>
        </p:txBody>
      </p:sp>
      <p:sp>
        <p:nvSpPr>
          <p:cNvPr id="719" name="Google Shape;719;p60"/>
          <p:cNvSpPr txBox="1"/>
          <p:nvPr/>
        </p:nvSpPr>
        <p:spPr>
          <a:xfrm>
            <a:off x="571500" y="3825924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Check:</a:t>
            </a:r>
            <a:endParaRPr/>
          </a:p>
        </p:txBody>
      </p:sp>
      <p:sp>
        <p:nvSpPr>
          <p:cNvPr id="720" name="Google Shape;720;p60"/>
          <p:cNvSpPr txBox="1"/>
          <p:nvPr/>
        </p:nvSpPr>
        <p:spPr>
          <a:xfrm>
            <a:off x="904875" y="2346275"/>
            <a:ext cx="4953000" cy="3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w1 = 1</a:t>
            </a:r>
            <a:endParaRPr/>
          </a:p>
        </p:txBody>
      </p:sp>
      <p:sp>
        <p:nvSpPr>
          <p:cNvPr id="721" name="Google Shape;721;p60"/>
          <p:cNvSpPr txBox="1"/>
          <p:nvPr/>
        </p:nvSpPr>
        <p:spPr>
          <a:xfrm>
            <a:off x="904875" y="2838450"/>
            <a:ext cx="4953000" cy="3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w2 = 1</a:t>
            </a:r>
            <a:endParaRPr/>
          </a:p>
        </p:txBody>
      </p:sp>
      <p:sp>
        <p:nvSpPr>
          <p:cNvPr id="722" name="Google Shape;722;p60"/>
          <p:cNvSpPr txBox="1"/>
          <p:nvPr/>
        </p:nvSpPr>
        <p:spPr>
          <a:xfrm>
            <a:off x="904875" y="3330624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b = -1.5</a:t>
            </a:r>
            <a:endParaRPr/>
          </a:p>
        </p:txBody>
      </p:sp>
      <p:sp>
        <p:nvSpPr>
          <p:cNvPr id="723" name="Google Shape;723;p60"/>
          <p:cNvSpPr txBox="1"/>
          <p:nvPr/>
        </p:nvSpPr>
        <p:spPr>
          <a:xfrm>
            <a:off x="904875" y="4321224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(0,0) → 1*0 + 1*0 - 1.5 = -1.5 (Out: 0) ✅</a:t>
            </a:r>
            <a:endParaRPr/>
          </a:p>
        </p:txBody>
      </p:sp>
      <p:sp>
        <p:nvSpPr>
          <p:cNvPr id="724" name="Google Shape;724;p60"/>
          <p:cNvSpPr txBox="1"/>
          <p:nvPr/>
        </p:nvSpPr>
        <p:spPr>
          <a:xfrm>
            <a:off x="904875" y="4768899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(0,1) → 1*0 + 1*1 - 1.5 = -0.5 (Out: 0) ✅</a:t>
            </a:r>
            <a:endParaRPr/>
          </a:p>
        </p:txBody>
      </p:sp>
      <p:sp>
        <p:nvSpPr>
          <p:cNvPr id="725" name="Google Shape;725;p60"/>
          <p:cNvSpPr txBox="1"/>
          <p:nvPr/>
        </p:nvSpPr>
        <p:spPr>
          <a:xfrm>
            <a:off x="904875" y="5216574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(1,0) → 1*1 + 1*0 - 1.5 = -0.5 (Out: 0) ✅</a:t>
            </a:r>
            <a:endParaRPr/>
          </a:p>
        </p:txBody>
      </p:sp>
      <p:sp>
        <p:nvSpPr>
          <p:cNvPr id="726" name="Google Shape;726;p60"/>
          <p:cNvSpPr txBox="1"/>
          <p:nvPr/>
        </p:nvSpPr>
        <p:spPr>
          <a:xfrm>
            <a:off x="904875" y="5664249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(1,1) → 1*1 + 1*1 - 1.5 = +0.5 (Out: 1) ✅</a:t>
            </a:r>
            <a:endParaRPr/>
          </a:p>
        </p:txBody>
      </p:sp>
      <p:pic>
        <p:nvPicPr>
          <p:cNvPr descr="image.png" id="727" name="Google Shape;727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698575"/>
            <a:ext cx="52863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6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Perceptron for AND Gate (Solution)</a:t>
            </a:r>
            <a:endParaRPr/>
          </a:p>
        </p:txBody>
      </p:sp>
      <p:sp>
        <p:nvSpPr>
          <p:cNvPr id="729" name="Google Shape;729;p60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60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  <p:pic>
        <p:nvPicPr>
          <p:cNvPr descr="image.png" id="731" name="Google Shape;731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3939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2" name="Google Shape;732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860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3" name="Google Shape;733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7824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4" name="Google Shape;734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6884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5" name="Google Shape;735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81652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6" name="Google Shape;736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26419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7" name="Google Shape;737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711874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42" name="Google Shape;742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1"/>
          <p:cNvSpPr txBox="1"/>
          <p:nvPr/>
        </p:nvSpPr>
        <p:spPr>
          <a:xfrm>
            <a:off x="3333750" y="2001291"/>
            <a:ext cx="58007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OR Gate Truth Table</a:t>
            </a:r>
            <a:endParaRPr/>
          </a:p>
        </p:txBody>
      </p:sp>
      <p:graphicFrame>
        <p:nvGraphicFramePr>
          <p:cNvPr id="744" name="Google Shape;744;p61"/>
          <p:cNvGraphicFramePr/>
          <p:nvPr/>
        </p:nvGraphicFramePr>
        <p:xfrm>
          <a:off x="3333750" y="26489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{AD2E079C-D724-438B-8256-930175225709}</a:tableStyleId>
              </a:tblPr>
              <a:tblGrid>
                <a:gridCol w="1287075"/>
                <a:gridCol w="1346450"/>
                <a:gridCol w="2890975"/>
              </a:tblGrid>
              <a:tr h="63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C3E5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x1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C3E5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x2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C3E5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 (Target)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3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2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45" name="Google Shape;745;p61"/>
          <p:cNvSpPr/>
          <p:nvPr/>
        </p:nvSpPr>
        <p:spPr>
          <a:xfrm>
            <a:off x="3333750" y="3288059"/>
            <a:ext cx="12870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1"/>
          <p:cNvSpPr/>
          <p:nvPr/>
        </p:nvSpPr>
        <p:spPr>
          <a:xfrm>
            <a:off x="4620815" y="3288059"/>
            <a:ext cx="1346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1"/>
          <p:cNvSpPr/>
          <p:nvPr/>
        </p:nvSpPr>
        <p:spPr>
          <a:xfrm>
            <a:off x="5967263" y="3288059"/>
            <a:ext cx="28909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61"/>
          <p:cNvSpPr/>
          <p:nvPr/>
        </p:nvSpPr>
        <p:spPr>
          <a:xfrm>
            <a:off x="3333750" y="3914775"/>
            <a:ext cx="12870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61"/>
          <p:cNvSpPr/>
          <p:nvPr/>
        </p:nvSpPr>
        <p:spPr>
          <a:xfrm>
            <a:off x="4620815" y="3914775"/>
            <a:ext cx="1346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61"/>
          <p:cNvSpPr/>
          <p:nvPr/>
        </p:nvSpPr>
        <p:spPr>
          <a:xfrm>
            <a:off x="5967263" y="3914775"/>
            <a:ext cx="28909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61"/>
          <p:cNvSpPr/>
          <p:nvPr/>
        </p:nvSpPr>
        <p:spPr>
          <a:xfrm>
            <a:off x="3333750" y="4541490"/>
            <a:ext cx="12870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61"/>
          <p:cNvSpPr/>
          <p:nvPr/>
        </p:nvSpPr>
        <p:spPr>
          <a:xfrm>
            <a:off x="4620815" y="4541490"/>
            <a:ext cx="1346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61"/>
          <p:cNvSpPr/>
          <p:nvPr/>
        </p:nvSpPr>
        <p:spPr>
          <a:xfrm>
            <a:off x="5967263" y="4541490"/>
            <a:ext cx="28909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61"/>
          <p:cNvSpPr/>
          <p:nvPr/>
        </p:nvSpPr>
        <p:spPr>
          <a:xfrm>
            <a:off x="3333750" y="5168205"/>
            <a:ext cx="12870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61"/>
          <p:cNvSpPr/>
          <p:nvPr/>
        </p:nvSpPr>
        <p:spPr>
          <a:xfrm>
            <a:off x="4620815" y="5168205"/>
            <a:ext cx="1346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61"/>
          <p:cNvSpPr/>
          <p:nvPr/>
        </p:nvSpPr>
        <p:spPr>
          <a:xfrm>
            <a:off x="5967263" y="5168205"/>
            <a:ext cx="28909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61"/>
          <p:cNvSpPr/>
          <p:nvPr/>
        </p:nvSpPr>
        <p:spPr>
          <a:xfrm>
            <a:off x="3333750" y="5794920"/>
            <a:ext cx="12870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61"/>
          <p:cNvSpPr/>
          <p:nvPr/>
        </p:nvSpPr>
        <p:spPr>
          <a:xfrm>
            <a:off x="4620815" y="5794920"/>
            <a:ext cx="13464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61"/>
          <p:cNvSpPr/>
          <p:nvPr/>
        </p:nvSpPr>
        <p:spPr>
          <a:xfrm>
            <a:off x="5967263" y="5794920"/>
            <a:ext cx="289098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6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Perceptron for OR Gate (Data)</a:t>
            </a:r>
            <a:endParaRPr/>
          </a:p>
        </p:txBody>
      </p:sp>
      <p:sp>
        <p:nvSpPr>
          <p:cNvPr id="761" name="Google Shape;761;p61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61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67" name="Google Shape;767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68" name="Google Shape;768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985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2"/>
          <p:cNvSpPr txBox="1"/>
          <p:nvPr/>
        </p:nvSpPr>
        <p:spPr>
          <a:xfrm>
            <a:off x="571500" y="1698575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One Possible Solution</a:t>
            </a:r>
            <a:endParaRPr/>
          </a:p>
        </p:txBody>
      </p:sp>
      <p:sp>
        <p:nvSpPr>
          <p:cNvPr id="770" name="Google Shape;770;p62"/>
          <p:cNvSpPr txBox="1"/>
          <p:nvPr/>
        </p:nvSpPr>
        <p:spPr>
          <a:xfrm>
            <a:off x="571500" y="3825924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Check:</a:t>
            </a:r>
            <a:endParaRPr/>
          </a:p>
        </p:txBody>
      </p:sp>
      <p:sp>
        <p:nvSpPr>
          <p:cNvPr id="771" name="Google Shape;771;p62"/>
          <p:cNvSpPr txBox="1"/>
          <p:nvPr/>
        </p:nvSpPr>
        <p:spPr>
          <a:xfrm>
            <a:off x="904875" y="2346275"/>
            <a:ext cx="4953000" cy="3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w1 = 1</a:t>
            </a:r>
            <a:endParaRPr/>
          </a:p>
        </p:txBody>
      </p:sp>
      <p:sp>
        <p:nvSpPr>
          <p:cNvPr id="772" name="Google Shape;772;p62"/>
          <p:cNvSpPr txBox="1"/>
          <p:nvPr/>
        </p:nvSpPr>
        <p:spPr>
          <a:xfrm>
            <a:off x="904875" y="2838450"/>
            <a:ext cx="4953000" cy="3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w2 = 1</a:t>
            </a:r>
            <a:endParaRPr/>
          </a:p>
        </p:txBody>
      </p:sp>
      <p:sp>
        <p:nvSpPr>
          <p:cNvPr id="773" name="Google Shape;773;p62"/>
          <p:cNvSpPr txBox="1"/>
          <p:nvPr/>
        </p:nvSpPr>
        <p:spPr>
          <a:xfrm>
            <a:off x="904875" y="3330624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b = -0.5</a:t>
            </a:r>
            <a:endParaRPr/>
          </a:p>
        </p:txBody>
      </p:sp>
      <p:sp>
        <p:nvSpPr>
          <p:cNvPr id="774" name="Google Shape;774;p62"/>
          <p:cNvSpPr txBox="1"/>
          <p:nvPr/>
        </p:nvSpPr>
        <p:spPr>
          <a:xfrm>
            <a:off x="904875" y="4321224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(0,0) → 1*0 + 1*0 - 0.5 = -0.5 (Out: 0) ✅</a:t>
            </a:r>
            <a:endParaRPr/>
          </a:p>
        </p:txBody>
      </p:sp>
      <p:sp>
        <p:nvSpPr>
          <p:cNvPr id="775" name="Google Shape;775;p62"/>
          <p:cNvSpPr txBox="1"/>
          <p:nvPr/>
        </p:nvSpPr>
        <p:spPr>
          <a:xfrm>
            <a:off x="904875" y="4768899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(0,1) → 1*0 + 1*1 - 0.5 = +0.5 (Out: 1) ✅</a:t>
            </a:r>
            <a:endParaRPr/>
          </a:p>
        </p:txBody>
      </p:sp>
      <p:sp>
        <p:nvSpPr>
          <p:cNvPr id="776" name="Google Shape;776;p62"/>
          <p:cNvSpPr txBox="1"/>
          <p:nvPr/>
        </p:nvSpPr>
        <p:spPr>
          <a:xfrm>
            <a:off x="904875" y="5216574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(1,0) → 1*1 + 1*0 - 0.5 = +0.5 (Out: 1) ✅</a:t>
            </a:r>
            <a:endParaRPr/>
          </a:p>
        </p:txBody>
      </p:sp>
      <p:sp>
        <p:nvSpPr>
          <p:cNvPr id="777" name="Google Shape;777;p62"/>
          <p:cNvSpPr txBox="1"/>
          <p:nvPr/>
        </p:nvSpPr>
        <p:spPr>
          <a:xfrm>
            <a:off x="904875" y="5664249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(1,1) → 1*1 + 1*1 - 0.5 = +1.5 (Out: 1) ✅</a:t>
            </a:r>
            <a:endParaRPr/>
          </a:p>
        </p:txBody>
      </p:sp>
      <p:pic>
        <p:nvPicPr>
          <p:cNvPr descr="image.png" id="778" name="Google Shape;778;p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6985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Perceptron for OR Gate (Solution)</a:t>
            </a:r>
            <a:endParaRPr/>
          </a:p>
        </p:txBody>
      </p:sp>
      <p:sp>
        <p:nvSpPr>
          <p:cNvPr id="780" name="Google Shape;780;p62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62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  <p:pic>
        <p:nvPicPr>
          <p:cNvPr descr="image.png" id="782" name="Google Shape;782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3939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3" name="Google Shape;783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860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4" name="Google Shape;784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7824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5" name="Google Shape;785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6884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6" name="Google Shape;786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81652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7" name="Google Shape;787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26419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8" name="Google Shape;788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711874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93" name="Google Shape;79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3"/>
          <p:cNvSpPr txBox="1"/>
          <p:nvPr/>
        </p:nvSpPr>
        <p:spPr>
          <a:xfrm>
            <a:off x="1809750" y="2151905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Find the Parameters</a:t>
            </a:r>
            <a:endParaRPr/>
          </a:p>
        </p:txBody>
      </p:sp>
      <p:sp>
        <p:nvSpPr>
          <p:cNvPr id="795" name="Google Shape;795;p63"/>
          <p:cNvSpPr txBox="1"/>
          <p:nvPr/>
        </p:nvSpPr>
        <p:spPr>
          <a:xfrm>
            <a:off x="2190750" y="2799605"/>
            <a:ext cx="8191500" cy="1238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Exercise 1: NOR Gate</a:t>
            </a:r>
            <a:endParaRPr/>
          </a:p>
        </p:txBody>
      </p:sp>
      <p:sp>
        <p:nvSpPr>
          <p:cNvPr id="796" name="Google Shape;796;p63"/>
          <p:cNvSpPr txBox="1"/>
          <p:nvPr/>
        </p:nvSpPr>
        <p:spPr>
          <a:xfrm>
            <a:off x="2190750" y="4229100"/>
            <a:ext cx="8191500" cy="1238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Exercise 2: NAND Gate</a:t>
            </a:r>
            <a:endParaRPr/>
          </a:p>
        </p:txBody>
      </p:sp>
      <p:pic>
        <p:nvPicPr>
          <p:cNvPr descr="image.png" id="797" name="Google Shape;797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84723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98" name="Google Shape;798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2767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63"/>
          <p:cNvSpPr txBox="1"/>
          <p:nvPr/>
        </p:nvSpPr>
        <p:spPr>
          <a:xfrm>
            <a:off x="2571750" y="3134766"/>
            <a:ext cx="7810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(Output is 1 only for (0,0))</a:t>
            </a:r>
            <a:endParaRPr/>
          </a:p>
        </p:txBody>
      </p:sp>
      <p:sp>
        <p:nvSpPr>
          <p:cNvPr id="800" name="Google Shape;800;p63"/>
          <p:cNvSpPr txBox="1"/>
          <p:nvPr/>
        </p:nvSpPr>
        <p:spPr>
          <a:xfrm>
            <a:off x="2571750" y="3660427"/>
            <a:ext cx="7810500" cy="378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Try to find w1, w2, and b.</a:t>
            </a:r>
            <a:endParaRPr/>
          </a:p>
        </p:txBody>
      </p:sp>
      <p:sp>
        <p:nvSpPr>
          <p:cNvPr id="801" name="Google Shape;801;p63"/>
          <p:cNvSpPr txBox="1"/>
          <p:nvPr/>
        </p:nvSpPr>
        <p:spPr>
          <a:xfrm>
            <a:off x="2571750" y="4564260"/>
            <a:ext cx="7810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(Output is 0 only for (1,1))</a:t>
            </a:r>
            <a:endParaRPr/>
          </a:p>
        </p:txBody>
      </p:sp>
      <p:sp>
        <p:nvSpPr>
          <p:cNvPr id="802" name="Google Shape;802;p63"/>
          <p:cNvSpPr txBox="1"/>
          <p:nvPr/>
        </p:nvSpPr>
        <p:spPr>
          <a:xfrm>
            <a:off x="2571750" y="5089921"/>
            <a:ext cx="7810500" cy="378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Try to find w1, w2, and b.</a:t>
            </a:r>
            <a:endParaRPr/>
          </a:p>
        </p:txBody>
      </p:sp>
      <p:sp>
        <p:nvSpPr>
          <p:cNvPr id="803" name="Google Shape;803;p6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Exercise: NOR and NAND Gates</a:t>
            </a:r>
            <a:endParaRPr/>
          </a:p>
        </p:txBody>
      </p:sp>
      <p:sp>
        <p:nvSpPr>
          <p:cNvPr id="804" name="Google Shape;804;p63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63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10" name="Google Shape;81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64"/>
          <p:cNvSpPr txBox="1"/>
          <p:nvPr/>
        </p:nvSpPr>
        <p:spPr>
          <a:xfrm>
            <a:off x="295275" y="2412652"/>
            <a:ext cx="1160145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Part 10: Perceptron Learning Algorithm</a:t>
            </a:r>
            <a:endParaRPr/>
          </a:p>
        </p:txBody>
      </p:sp>
      <p:sp>
        <p:nvSpPr>
          <p:cNvPr id="812" name="Google Shape;812;p64"/>
          <p:cNvSpPr/>
          <p:nvPr/>
        </p:nvSpPr>
        <p:spPr>
          <a:xfrm>
            <a:off x="5619750" y="4698652"/>
            <a:ext cx="952500" cy="47625"/>
          </a:xfrm>
          <a:prstGeom prst="rect">
            <a:avLst/>
          </a:prstGeom>
          <a:solidFill>
            <a:srgbClr val="A9D4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64"/>
          <p:cNvSpPr txBox="1"/>
          <p:nvPr/>
        </p:nvSpPr>
        <p:spPr>
          <a:xfrm>
            <a:off x="4691062" y="5032027"/>
            <a:ext cx="28098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Learning Weights from Data</a:t>
            </a:r>
            <a:endParaRPr/>
          </a:p>
        </p:txBody>
      </p:sp>
      <p:sp>
        <p:nvSpPr>
          <p:cNvPr id="814" name="Google Shape;814;p6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Part 10: Perceptron Learning Algorithm</a:t>
            </a:r>
            <a:endParaRPr/>
          </a:p>
        </p:txBody>
      </p:sp>
      <p:sp>
        <p:nvSpPr>
          <p:cNvPr id="815" name="Google Shape;815;p64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64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21" name="Google Shape;821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65"/>
          <p:cNvSpPr txBox="1"/>
          <p:nvPr/>
        </p:nvSpPr>
        <p:spPr>
          <a:xfrm>
            <a:off x="1809750" y="2457747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Finding a Stable Solution</a:t>
            </a:r>
            <a:endParaRPr/>
          </a:p>
        </p:txBody>
      </p:sp>
      <p:sp>
        <p:nvSpPr>
          <p:cNvPr id="823" name="Google Shape;823;p65"/>
          <p:cNvSpPr txBox="1"/>
          <p:nvPr/>
        </p:nvSpPr>
        <p:spPr>
          <a:xfrm>
            <a:off x="2190750" y="3105447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To "converge" means the algorithm has found a solution and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stopped changing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824" name="Google Shape;824;p65"/>
          <p:cNvSpPr txBox="1"/>
          <p:nvPr/>
        </p:nvSpPr>
        <p:spPr>
          <a:xfrm>
            <a:off x="2190750" y="3631108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For the Perceptron, this means it has found a "fence" (decision boundary) that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correctly separates all data points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825" name="Google Shape;825;p65"/>
          <p:cNvSpPr txBox="1"/>
          <p:nvPr/>
        </p:nvSpPr>
        <p:spPr>
          <a:xfrm>
            <a:off x="2190750" y="4491930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If an algorithm *doesn't* converge, it means it will loop forever, never finding a perfect solution.</a:t>
            </a:r>
            <a:endParaRPr/>
          </a:p>
        </p:txBody>
      </p:sp>
      <p:pic>
        <p:nvPicPr>
          <p:cNvPr descr="image.png" id="826" name="Google Shape;826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15307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27" name="Google Shape;827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678733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28" name="Google Shape;828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53955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6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Jargon: What does "Converge" Mean?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34" name="Google Shape;834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66"/>
          <p:cNvSpPr txBox="1"/>
          <p:nvPr/>
        </p:nvSpPr>
        <p:spPr>
          <a:xfrm>
            <a:off x="1809750" y="1836836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Learning Parameters Automatically</a:t>
            </a:r>
            <a:endParaRPr/>
          </a:p>
        </p:txBody>
      </p:sp>
      <p:sp>
        <p:nvSpPr>
          <p:cNvPr id="836" name="Google Shape;836;p66"/>
          <p:cNvSpPr txBox="1"/>
          <p:nvPr/>
        </p:nvSpPr>
        <p:spPr>
          <a:xfrm>
            <a:off x="2190750" y="2484536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Goal: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Automatically find weights (w) and bias (b) that correctly classify all training data.</a:t>
            </a:r>
            <a:endParaRPr/>
          </a:p>
        </p:txBody>
      </p:sp>
      <p:sp>
        <p:nvSpPr>
          <p:cNvPr id="837" name="Google Shape;837;p66"/>
          <p:cNvSpPr txBox="1"/>
          <p:nvPr/>
        </p:nvSpPr>
        <p:spPr>
          <a:xfrm>
            <a:off x="2190750" y="3010197"/>
            <a:ext cx="8191500" cy="2247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Intuition:</a:t>
            </a:r>
            <a:endParaRPr/>
          </a:p>
        </p:txBody>
      </p:sp>
      <p:sp>
        <p:nvSpPr>
          <p:cNvPr id="838" name="Google Shape;838;p66"/>
          <p:cNvSpPr txBox="1"/>
          <p:nvPr/>
        </p:nvSpPr>
        <p:spPr>
          <a:xfrm>
            <a:off x="2190750" y="5448002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This algorithm is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guaranteed to converge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*if* the data is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linearly separable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839" name="Google Shape;839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53216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40" name="Google Shape;840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05782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41" name="Google Shape;841;p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549562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66"/>
          <p:cNvSpPr txBox="1"/>
          <p:nvPr/>
        </p:nvSpPr>
        <p:spPr>
          <a:xfrm>
            <a:off x="2400300" y="3346311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843" name="Google Shape;843;p66"/>
          <p:cNvSpPr txBox="1"/>
          <p:nvPr/>
        </p:nvSpPr>
        <p:spPr>
          <a:xfrm>
            <a:off x="2952750" y="3345358"/>
            <a:ext cx="7429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Start with random weights.</a:t>
            </a:r>
            <a:endParaRPr/>
          </a:p>
        </p:txBody>
      </p:sp>
      <p:sp>
        <p:nvSpPr>
          <p:cNvPr id="844" name="Google Shape;844;p66"/>
          <p:cNvSpPr txBox="1"/>
          <p:nvPr/>
        </p:nvSpPr>
        <p:spPr>
          <a:xfrm>
            <a:off x="2400300" y="3871972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845" name="Google Shape;845;p66"/>
          <p:cNvSpPr txBox="1"/>
          <p:nvPr/>
        </p:nvSpPr>
        <p:spPr>
          <a:xfrm>
            <a:off x="2952750" y="3871019"/>
            <a:ext cx="7429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Take one data point.</a:t>
            </a:r>
            <a:endParaRPr/>
          </a:p>
        </p:txBody>
      </p:sp>
      <p:sp>
        <p:nvSpPr>
          <p:cNvPr id="846" name="Google Shape;846;p66"/>
          <p:cNvSpPr txBox="1"/>
          <p:nvPr/>
        </p:nvSpPr>
        <p:spPr>
          <a:xfrm>
            <a:off x="2400300" y="4397632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847" name="Google Shape;847;p66"/>
          <p:cNvSpPr txBox="1"/>
          <p:nvPr/>
        </p:nvSpPr>
        <p:spPr>
          <a:xfrm>
            <a:off x="2952750" y="4396680"/>
            <a:ext cx="7429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If the prediction is correct, do nothing.</a:t>
            </a:r>
            <a:endParaRPr/>
          </a:p>
        </p:txBody>
      </p:sp>
      <p:sp>
        <p:nvSpPr>
          <p:cNvPr id="848" name="Google Shape;848;p66"/>
          <p:cNvSpPr txBox="1"/>
          <p:nvPr/>
        </p:nvSpPr>
        <p:spPr>
          <a:xfrm>
            <a:off x="2400300" y="4923293"/>
            <a:ext cx="17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849" name="Google Shape;849;p66"/>
          <p:cNvSpPr txBox="1"/>
          <p:nvPr/>
        </p:nvSpPr>
        <p:spPr>
          <a:xfrm>
            <a:off x="2952750" y="4922341"/>
            <a:ext cx="7429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If the prediction is wrong, update the weights to fix it.</a:t>
            </a:r>
            <a:endParaRPr/>
          </a:p>
        </p:txBody>
      </p:sp>
      <p:sp>
        <p:nvSpPr>
          <p:cNvPr id="850" name="Google Shape;850;p6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PLA: Overview</a:t>
            </a:r>
            <a:endParaRPr/>
          </a:p>
        </p:txBody>
      </p:sp>
      <p:sp>
        <p:nvSpPr>
          <p:cNvPr id="851" name="Google Shape;851;p66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66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7" name="Google Shape;85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67"/>
          <p:cNvSpPr txBox="1"/>
          <p:nvPr/>
        </p:nvSpPr>
        <p:spPr>
          <a:xfrm>
            <a:off x="1809750" y="253007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The "Step Size" of Learning</a:t>
            </a:r>
            <a:endParaRPr/>
          </a:p>
        </p:txBody>
      </p:sp>
      <p:sp>
        <p:nvSpPr>
          <p:cNvPr id="859" name="Google Shape;859;p67"/>
          <p:cNvSpPr txBox="1"/>
          <p:nvPr/>
        </p:nvSpPr>
        <p:spPr>
          <a:xfrm>
            <a:off x="2190750" y="317777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Learning Rate (Greek letter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eta: η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) is the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"step size"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for the learning algorithm.</a:t>
            </a:r>
            <a:endParaRPr/>
          </a:p>
        </p:txBody>
      </p:sp>
      <p:sp>
        <p:nvSpPr>
          <p:cNvPr id="860" name="Google Shape;860;p67"/>
          <p:cNvSpPr txBox="1"/>
          <p:nvPr/>
        </p:nvSpPr>
        <p:spPr>
          <a:xfrm>
            <a:off x="2190750" y="370343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It controls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how much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we update the weights after a mistake.</a:t>
            </a:r>
            <a:endParaRPr/>
          </a:p>
        </p:txBody>
      </p:sp>
      <p:sp>
        <p:nvSpPr>
          <p:cNvPr id="861" name="Google Shape;861;p67"/>
          <p:cNvSpPr txBox="1"/>
          <p:nvPr/>
        </p:nvSpPr>
        <p:spPr>
          <a:xfrm>
            <a:off x="2190750" y="422910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High LR (e.g., 1.0):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Big, fast steps. (Risky, might "overshoot" the solution).</a:t>
            </a:r>
            <a:endParaRPr/>
          </a:p>
        </p:txBody>
      </p:sp>
      <p:sp>
        <p:nvSpPr>
          <p:cNvPr id="862" name="Google Shape;862;p67"/>
          <p:cNvSpPr txBox="1"/>
          <p:nvPr/>
        </p:nvSpPr>
        <p:spPr>
          <a:xfrm>
            <a:off x="2190750" y="475476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Low LR (e.g., 0.01):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Tiny, slow steps. (Safe, but takes a very long time).</a:t>
            </a:r>
            <a:endParaRPr/>
          </a:p>
        </p:txBody>
      </p:sp>
      <p:pic>
        <p:nvPicPr>
          <p:cNvPr descr="image.png" id="863" name="Google Shape;863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225403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4" name="Google Shape;864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75106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5" name="Google Shape;865;p6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2767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6" name="Google Shape;866;p6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802385"/>
            <a:ext cx="1428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p6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Jargon: What is a "Learning Rate" (η)?</a:t>
            </a:r>
            <a:endParaRPr/>
          </a:p>
        </p:txBody>
      </p:sp>
      <p:sp>
        <p:nvSpPr>
          <p:cNvPr id="868" name="Google Shape;868;p67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67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74" name="Google Shape;874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68"/>
          <p:cNvSpPr txBox="1"/>
          <p:nvPr/>
        </p:nvSpPr>
        <p:spPr>
          <a:xfrm>
            <a:off x="1809750" y="2244179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How to Update Weights (w)</a:t>
            </a:r>
            <a:endParaRPr/>
          </a:p>
        </p:txBody>
      </p:sp>
      <p:sp>
        <p:nvSpPr>
          <p:cNvPr id="876" name="Google Shape;876;p68"/>
          <p:cNvSpPr txBox="1"/>
          <p:nvPr/>
        </p:nvSpPr>
        <p:spPr>
          <a:xfrm>
            <a:off x="2190750" y="2891879"/>
            <a:ext cx="8191500" cy="378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If ŷ ≠ t (a mistake is made), update the weight wi:</a:t>
            </a:r>
            <a:endParaRPr/>
          </a:p>
        </p:txBody>
      </p:sp>
      <p:sp>
        <p:nvSpPr>
          <p:cNvPr id="877" name="Google Shape;877;p68"/>
          <p:cNvSpPr txBox="1"/>
          <p:nvPr/>
        </p:nvSpPr>
        <p:spPr>
          <a:xfrm>
            <a:off x="2190750" y="3946326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η (eta):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The "learning rate" (e.g., 0.1), controls the step size.</a:t>
            </a:r>
            <a:endParaRPr/>
          </a:p>
        </p:txBody>
      </p:sp>
      <p:sp>
        <p:nvSpPr>
          <p:cNvPr id="878" name="Google Shape;878;p68"/>
          <p:cNvSpPr txBox="1"/>
          <p:nvPr/>
        </p:nvSpPr>
        <p:spPr>
          <a:xfrm>
            <a:off x="2190750" y="4471987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(t - ŷ):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The error. It will be (+1) or (-1).</a:t>
            </a:r>
            <a:endParaRPr/>
          </a:p>
        </p:txBody>
      </p:sp>
      <p:sp>
        <p:nvSpPr>
          <p:cNvPr id="879" name="Google Shape;879;p68"/>
          <p:cNvSpPr txBox="1"/>
          <p:nvPr/>
        </p:nvSpPr>
        <p:spPr>
          <a:xfrm>
            <a:off x="2190750" y="4997648"/>
            <a:ext cx="8191500" cy="378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xi: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The input feature.</a:t>
            </a:r>
            <a:endParaRPr/>
          </a:p>
        </p:txBody>
      </p:sp>
      <p:pic>
        <p:nvPicPr>
          <p:cNvPr descr="image.png" id="880" name="Google Shape;880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93950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1" name="Google Shape;881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993951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2" name="Google Shape;882;p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51961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3" name="Google Shape;883;p6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5045273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6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PLA: Weight Update Rule</a:t>
            </a:r>
            <a:endParaRPr/>
          </a:p>
        </p:txBody>
      </p:sp>
      <p:sp>
        <p:nvSpPr>
          <p:cNvPr id="885" name="Google Shape;885;p68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68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91" name="Google Shape;891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69"/>
          <p:cNvSpPr txBox="1"/>
          <p:nvPr/>
        </p:nvSpPr>
        <p:spPr>
          <a:xfrm>
            <a:off x="1809750" y="2800796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How to Update Bias (b)</a:t>
            </a:r>
            <a:endParaRPr/>
          </a:p>
        </p:txBody>
      </p:sp>
      <p:sp>
        <p:nvSpPr>
          <p:cNvPr id="893" name="Google Shape;893;p69"/>
          <p:cNvSpPr txBox="1"/>
          <p:nvPr/>
        </p:nvSpPr>
        <p:spPr>
          <a:xfrm>
            <a:off x="2190750" y="3448496"/>
            <a:ext cx="8191500" cy="378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bias 'b' is updated similarly, but without the xi term.</a:t>
            </a:r>
            <a:endParaRPr/>
          </a:p>
        </p:txBody>
      </p:sp>
      <p:sp>
        <p:nvSpPr>
          <p:cNvPr id="894" name="Google Shape;894;p69"/>
          <p:cNvSpPr txBox="1"/>
          <p:nvPr/>
        </p:nvSpPr>
        <p:spPr>
          <a:xfrm>
            <a:off x="2190750" y="4484042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This is because the bias is like a weight for an input that is always 1.</a:t>
            </a:r>
            <a:endParaRPr/>
          </a:p>
        </p:txBody>
      </p:sp>
      <p:pic>
        <p:nvPicPr>
          <p:cNvPr descr="image.png" id="895" name="Google Shape;895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496121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6" name="Google Shape;896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531667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6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PLA: Bias Update Rule</a:t>
            </a:r>
            <a:endParaRPr/>
          </a:p>
        </p:txBody>
      </p:sp>
      <p:sp>
        <p:nvSpPr>
          <p:cNvPr id="898" name="Google Shape;898;p69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69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4" name="Google Shape;904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70"/>
          <p:cNvSpPr txBox="1"/>
          <p:nvPr/>
        </p:nvSpPr>
        <p:spPr>
          <a:xfrm>
            <a:off x="571500" y="1714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NumPy Implementation (Update Step)</a:t>
            </a:r>
            <a:endParaRPr/>
          </a:p>
        </p:txBody>
      </p:sp>
      <p:sp>
        <p:nvSpPr>
          <p:cNvPr id="906" name="Google Shape;906;p7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PLA: NumPy Code Snippet</a:t>
            </a:r>
            <a:endParaRPr/>
          </a:p>
        </p:txBody>
      </p:sp>
      <p:sp>
        <p:nvSpPr>
          <p:cNvPr id="907" name="Google Shape;907;p70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70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3" name="Google Shape;913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71"/>
          <p:cNvSpPr txBox="1"/>
          <p:nvPr/>
        </p:nvSpPr>
        <p:spPr>
          <a:xfrm>
            <a:off x="1809750" y="2457747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One Pass Through the Data</a:t>
            </a:r>
            <a:endParaRPr/>
          </a:p>
        </p:txBody>
      </p:sp>
      <p:sp>
        <p:nvSpPr>
          <p:cNvPr id="915" name="Google Shape;915;p71"/>
          <p:cNvSpPr txBox="1"/>
          <p:nvPr/>
        </p:nvSpPr>
        <p:spPr>
          <a:xfrm>
            <a:off x="2190750" y="3105447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An "epoch" is one complete pass through the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entire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training dataset.</a:t>
            </a:r>
            <a:endParaRPr/>
          </a:p>
        </p:txBody>
      </p:sp>
      <p:sp>
        <p:nvSpPr>
          <p:cNvPr id="916" name="Google Shape;916;p71"/>
          <p:cNvSpPr txBox="1"/>
          <p:nvPr/>
        </p:nvSpPr>
        <p:spPr>
          <a:xfrm>
            <a:off x="2190750" y="3631108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If our dataset has 4 examples, one epoch means the model has seen all 4 of them (one by one).</a:t>
            </a:r>
            <a:endParaRPr/>
          </a:p>
        </p:txBody>
      </p:sp>
      <p:sp>
        <p:nvSpPr>
          <p:cNvPr id="917" name="Google Shape;917;p71"/>
          <p:cNvSpPr txBox="1"/>
          <p:nvPr/>
        </p:nvSpPr>
        <p:spPr>
          <a:xfrm>
            <a:off x="2190750" y="4491930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"Training for 10 epochs" means we loop through the *entire* dataset 10 times to give the model 10 chances to learn.</a:t>
            </a:r>
            <a:endParaRPr/>
          </a:p>
        </p:txBody>
      </p:sp>
      <p:pic>
        <p:nvPicPr>
          <p:cNvPr descr="image.png" id="918" name="Google Shape;918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15307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9" name="Google Shape;919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67873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0" name="Google Shape;920;p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53955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7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Jargon: What is an "Epoch"?</a:t>
            </a:r>
            <a:endParaRPr/>
          </a:p>
        </p:txBody>
      </p:sp>
      <p:sp>
        <p:nvSpPr>
          <p:cNvPr id="922" name="Google Shape;922;p71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71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8" name="Google Shape;928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72"/>
          <p:cNvSpPr txBox="1"/>
          <p:nvPr/>
        </p:nvSpPr>
        <p:spPr>
          <a:xfrm>
            <a:off x="1809750" y="1750814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Learning the NOT Gate</a:t>
            </a:r>
            <a:endParaRPr/>
          </a:p>
        </p:txBody>
      </p:sp>
      <p:sp>
        <p:nvSpPr>
          <p:cNvPr id="930" name="Google Shape;930;p72"/>
          <p:cNvSpPr txBox="1"/>
          <p:nvPr/>
        </p:nvSpPr>
        <p:spPr>
          <a:xfrm>
            <a:off x="2190750" y="2398514"/>
            <a:ext cx="8191500" cy="378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Data (x1, t):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Eg1: (1, -1), Eg2: (-1, 1)</a:t>
            </a:r>
            <a:endParaRPr/>
          </a:p>
        </p:txBody>
      </p:sp>
      <p:sp>
        <p:nvSpPr>
          <p:cNvPr id="931" name="Google Shape;931;p72"/>
          <p:cNvSpPr txBox="1"/>
          <p:nvPr/>
        </p:nvSpPr>
        <p:spPr>
          <a:xfrm>
            <a:off x="2190750" y="2967186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Activation (sign):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ŷ = 1 if z ≥ 0, else -1</a:t>
            </a:r>
            <a:endParaRPr/>
          </a:p>
        </p:txBody>
      </p:sp>
      <p:sp>
        <p:nvSpPr>
          <p:cNvPr id="932" name="Google Shape;932;p72"/>
          <p:cNvSpPr txBox="1"/>
          <p:nvPr/>
        </p:nvSpPr>
        <p:spPr>
          <a:xfrm>
            <a:off x="2190750" y="3492847"/>
            <a:ext cx="8191500" cy="378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Initial Parameters: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w1 = 0, b (w0) = 0</a:t>
            </a:r>
            <a:endParaRPr/>
          </a:p>
        </p:txBody>
      </p:sp>
      <p:sp>
        <p:nvSpPr>
          <p:cNvPr id="933" name="Google Shape;933;p72"/>
          <p:cNvSpPr txBox="1"/>
          <p:nvPr/>
        </p:nvSpPr>
        <p:spPr>
          <a:xfrm>
            <a:off x="2190750" y="406151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Learning Rate: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η = 1</a:t>
            </a:r>
            <a:endParaRPr/>
          </a:p>
        </p:txBody>
      </p:sp>
      <p:sp>
        <p:nvSpPr>
          <p:cNvPr id="934" name="Google Shape;934;p72"/>
          <p:cNvSpPr txBox="1"/>
          <p:nvPr/>
        </p:nvSpPr>
        <p:spPr>
          <a:xfrm>
            <a:off x="2190750" y="4587180"/>
            <a:ext cx="8191500" cy="1282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Update Rules:</a:t>
            </a:r>
            <a:endParaRPr/>
          </a:p>
        </p:txBody>
      </p:sp>
      <p:sp>
        <p:nvSpPr>
          <p:cNvPr id="935" name="Google Shape;935;p72"/>
          <p:cNvSpPr txBox="1"/>
          <p:nvPr/>
        </p:nvSpPr>
        <p:spPr>
          <a:xfrm>
            <a:off x="2571750" y="4922341"/>
            <a:ext cx="7810500" cy="378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w1(new) = w1(old) + η(t - ŷ)x1</a:t>
            </a:r>
            <a:endParaRPr/>
          </a:p>
        </p:txBody>
      </p:sp>
      <p:sp>
        <p:nvSpPr>
          <p:cNvPr id="936" name="Google Shape;936;p72"/>
          <p:cNvSpPr txBox="1"/>
          <p:nvPr/>
        </p:nvSpPr>
        <p:spPr>
          <a:xfrm>
            <a:off x="2571750" y="5491013"/>
            <a:ext cx="7810500" cy="378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w0(new) = w0(old) + η(t - ŷ)</a:t>
            </a:r>
            <a:endParaRPr/>
          </a:p>
        </p:txBody>
      </p:sp>
      <p:sp>
        <p:nvSpPr>
          <p:cNvPr id="937" name="Google Shape;937;p7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PLA: Numeric Example (NOT Gate) - Setup</a:t>
            </a:r>
            <a:endParaRPr/>
          </a:p>
        </p:txBody>
      </p:sp>
      <p:sp>
        <p:nvSpPr>
          <p:cNvPr id="938" name="Google Shape;938;p72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72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4" name="Google Shape;944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73"/>
          <p:cNvSpPr txBox="1"/>
          <p:nvPr/>
        </p:nvSpPr>
        <p:spPr>
          <a:xfrm>
            <a:off x="1809750" y="1914227"/>
            <a:ext cx="9001125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Epoch 1, Example 1: (x1=1, t=-1)</a:t>
            </a:r>
            <a:endParaRPr/>
          </a:p>
        </p:txBody>
      </p:sp>
      <p:sp>
        <p:nvSpPr>
          <p:cNvPr id="946" name="Google Shape;946;p73"/>
          <p:cNvSpPr txBox="1"/>
          <p:nvPr/>
        </p:nvSpPr>
        <p:spPr>
          <a:xfrm>
            <a:off x="2190750" y="2613273"/>
            <a:ext cx="8191500" cy="378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Parameters: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w1=0, w0=0</a:t>
            </a:r>
            <a:endParaRPr/>
          </a:p>
        </p:txBody>
      </p:sp>
      <p:sp>
        <p:nvSpPr>
          <p:cNvPr id="947" name="Google Shape;947;p73"/>
          <p:cNvSpPr txBox="1"/>
          <p:nvPr/>
        </p:nvSpPr>
        <p:spPr>
          <a:xfrm>
            <a:off x="2190750" y="3181945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Prediction: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ŷ = sign( (0*1) + 0 ) = sign(0) =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/>
          </a:p>
        </p:txBody>
      </p:sp>
      <p:sp>
        <p:nvSpPr>
          <p:cNvPr id="948" name="Google Shape;948;p73"/>
          <p:cNvSpPr txBox="1"/>
          <p:nvPr/>
        </p:nvSpPr>
        <p:spPr>
          <a:xfrm>
            <a:off x="2190750" y="3707606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Error: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ŷ ≠ t (1 ≠ -1).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MISTAKE!</a:t>
            </a:r>
            <a:endParaRPr/>
          </a:p>
        </p:txBody>
      </p:sp>
      <p:sp>
        <p:nvSpPr>
          <p:cNvPr id="949" name="Google Shape;949;p73"/>
          <p:cNvSpPr txBox="1"/>
          <p:nvPr/>
        </p:nvSpPr>
        <p:spPr>
          <a:xfrm>
            <a:off x="2190750" y="4233267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Update: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error = (t - ŷ) = (-1 - 1) =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-2</a:t>
            </a:r>
            <a:endParaRPr/>
          </a:p>
        </p:txBody>
      </p:sp>
      <p:sp>
        <p:nvSpPr>
          <p:cNvPr id="950" name="Google Shape;950;p73"/>
          <p:cNvSpPr txBox="1"/>
          <p:nvPr/>
        </p:nvSpPr>
        <p:spPr>
          <a:xfrm>
            <a:off x="2190750" y="4758928"/>
            <a:ext cx="8191500" cy="378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w1(new) = 0 + 1*(-2)*1 =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-2</a:t>
            </a:r>
            <a:endParaRPr/>
          </a:p>
        </p:txBody>
      </p:sp>
      <p:sp>
        <p:nvSpPr>
          <p:cNvPr id="951" name="Google Shape;951;p73"/>
          <p:cNvSpPr txBox="1"/>
          <p:nvPr/>
        </p:nvSpPr>
        <p:spPr>
          <a:xfrm>
            <a:off x="2190750" y="5327600"/>
            <a:ext cx="8191500" cy="378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w0(new) = 0 + 1*(-2) =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-2</a:t>
            </a:r>
            <a:endParaRPr/>
          </a:p>
        </p:txBody>
      </p:sp>
      <p:sp>
        <p:nvSpPr>
          <p:cNvPr id="952" name="Google Shape;952;p7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PLA: Numeric Example - Step 1</a:t>
            </a:r>
            <a:endParaRPr/>
          </a:p>
        </p:txBody>
      </p:sp>
      <p:sp>
        <p:nvSpPr>
          <p:cNvPr id="953" name="Google Shape;953;p73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73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9" name="Google Shape;959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74"/>
          <p:cNvSpPr txBox="1"/>
          <p:nvPr/>
        </p:nvSpPr>
        <p:spPr>
          <a:xfrm>
            <a:off x="1809750" y="2482899"/>
            <a:ext cx="9001125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Epoch 1, Example 2: (x1=-1, t=1)</a:t>
            </a:r>
            <a:endParaRPr/>
          </a:p>
        </p:txBody>
      </p:sp>
      <p:sp>
        <p:nvSpPr>
          <p:cNvPr id="961" name="Google Shape;961;p74"/>
          <p:cNvSpPr txBox="1"/>
          <p:nvPr/>
        </p:nvSpPr>
        <p:spPr>
          <a:xfrm>
            <a:off x="2190750" y="3181945"/>
            <a:ext cx="8191500" cy="378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Parameters: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w1=-2, w0=-2</a:t>
            </a:r>
            <a:endParaRPr/>
          </a:p>
        </p:txBody>
      </p:sp>
      <p:sp>
        <p:nvSpPr>
          <p:cNvPr id="962" name="Google Shape;962;p74"/>
          <p:cNvSpPr txBox="1"/>
          <p:nvPr/>
        </p:nvSpPr>
        <p:spPr>
          <a:xfrm>
            <a:off x="2190750" y="3750617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Prediction: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ŷ = sign( (-2*-1) + -2 ) = sign(0) =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/>
          </a:p>
        </p:txBody>
      </p:sp>
      <p:sp>
        <p:nvSpPr>
          <p:cNvPr id="963" name="Google Shape;963;p74"/>
          <p:cNvSpPr txBox="1"/>
          <p:nvPr/>
        </p:nvSpPr>
        <p:spPr>
          <a:xfrm>
            <a:off x="2190750" y="427627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Error: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ŷ == t (1 == 1).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CORRECT!</a:t>
            </a:r>
            <a:endParaRPr/>
          </a:p>
        </p:txBody>
      </p:sp>
      <p:sp>
        <p:nvSpPr>
          <p:cNvPr id="964" name="Google Shape;964;p74"/>
          <p:cNvSpPr txBox="1"/>
          <p:nvPr/>
        </p:nvSpPr>
        <p:spPr>
          <a:xfrm>
            <a:off x="2190750" y="480193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Update: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No update needed.</a:t>
            </a:r>
            <a:endParaRPr/>
          </a:p>
        </p:txBody>
      </p:sp>
      <p:sp>
        <p:nvSpPr>
          <p:cNvPr id="965" name="Google Shape;965;p7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PLA: Numeric Example - Step 2</a:t>
            </a:r>
            <a:endParaRPr/>
          </a:p>
        </p:txBody>
      </p:sp>
      <p:sp>
        <p:nvSpPr>
          <p:cNvPr id="966" name="Google Shape;966;p74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74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2" name="Google Shape;972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75"/>
          <p:cNvSpPr txBox="1"/>
          <p:nvPr/>
        </p:nvSpPr>
        <p:spPr>
          <a:xfrm>
            <a:off x="1809750" y="2482899"/>
            <a:ext cx="9001125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Epoch 2, Example 1: (x1=1, t=-1)</a:t>
            </a:r>
            <a:endParaRPr/>
          </a:p>
        </p:txBody>
      </p:sp>
      <p:sp>
        <p:nvSpPr>
          <p:cNvPr id="974" name="Google Shape;974;p75"/>
          <p:cNvSpPr txBox="1"/>
          <p:nvPr/>
        </p:nvSpPr>
        <p:spPr>
          <a:xfrm>
            <a:off x="2190750" y="3181945"/>
            <a:ext cx="8191500" cy="378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Parameters: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w1=-2, w0=-2</a:t>
            </a:r>
            <a:endParaRPr/>
          </a:p>
        </p:txBody>
      </p:sp>
      <p:sp>
        <p:nvSpPr>
          <p:cNvPr id="975" name="Google Shape;975;p75"/>
          <p:cNvSpPr txBox="1"/>
          <p:nvPr/>
        </p:nvSpPr>
        <p:spPr>
          <a:xfrm>
            <a:off x="2190750" y="3750617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Prediction: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ŷ = sign( (-2*1) + -2 ) = sign(-4) =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-1</a:t>
            </a:r>
            <a:endParaRPr/>
          </a:p>
        </p:txBody>
      </p:sp>
      <p:sp>
        <p:nvSpPr>
          <p:cNvPr id="976" name="Google Shape;976;p75"/>
          <p:cNvSpPr txBox="1"/>
          <p:nvPr/>
        </p:nvSpPr>
        <p:spPr>
          <a:xfrm>
            <a:off x="2190750" y="427627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Error: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ŷ == t (-1 == -1).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CORRECT!</a:t>
            </a:r>
            <a:endParaRPr/>
          </a:p>
        </p:txBody>
      </p:sp>
      <p:sp>
        <p:nvSpPr>
          <p:cNvPr id="977" name="Google Shape;977;p75"/>
          <p:cNvSpPr txBox="1"/>
          <p:nvPr/>
        </p:nvSpPr>
        <p:spPr>
          <a:xfrm>
            <a:off x="2190750" y="480193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Update: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No update needed.</a:t>
            </a:r>
            <a:endParaRPr/>
          </a:p>
        </p:txBody>
      </p:sp>
      <p:sp>
        <p:nvSpPr>
          <p:cNvPr id="978" name="Google Shape;978;p7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PLA: Numeric Example - Step 3</a:t>
            </a:r>
            <a:endParaRPr/>
          </a:p>
        </p:txBody>
      </p:sp>
      <p:sp>
        <p:nvSpPr>
          <p:cNvPr id="979" name="Google Shape;979;p75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75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5" name="Google Shape;985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76"/>
          <p:cNvSpPr txBox="1"/>
          <p:nvPr/>
        </p:nvSpPr>
        <p:spPr>
          <a:xfrm>
            <a:off x="1809750" y="2220069"/>
            <a:ext cx="9001125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Epoch 2, Example 2: (x1=-1, t=1)</a:t>
            </a:r>
            <a:endParaRPr/>
          </a:p>
        </p:txBody>
      </p:sp>
      <p:sp>
        <p:nvSpPr>
          <p:cNvPr id="987" name="Google Shape;987;p76"/>
          <p:cNvSpPr txBox="1"/>
          <p:nvPr/>
        </p:nvSpPr>
        <p:spPr>
          <a:xfrm>
            <a:off x="2190750" y="2919114"/>
            <a:ext cx="8191500" cy="378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Parameters: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w1=-2, w0=-2</a:t>
            </a:r>
            <a:endParaRPr/>
          </a:p>
        </p:txBody>
      </p:sp>
      <p:sp>
        <p:nvSpPr>
          <p:cNvPr id="988" name="Google Shape;988;p76"/>
          <p:cNvSpPr txBox="1"/>
          <p:nvPr/>
        </p:nvSpPr>
        <p:spPr>
          <a:xfrm>
            <a:off x="2190750" y="3487787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Prediction: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ŷ = sign( (-2*-1) + -2 ) = sign(0) =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/>
          </a:p>
        </p:txBody>
      </p:sp>
      <p:sp>
        <p:nvSpPr>
          <p:cNvPr id="989" name="Google Shape;989;p76"/>
          <p:cNvSpPr txBox="1"/>
          <p:nvPr/>
        </p:nvSpPr>
        <p:spPr>
          <a:xfrm>
            <a:off x="2190750" y="401344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Error: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ŷ == t (1 == 1).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CORRECT!</a:t>
            </a:r>
            <a:endParaRPr/>
          </a:p>
        </p:txBody>
      </p:sp>
      <p:sp>
        <p:nvSpPr>
          <p:cNvPr id="990" name="Google Shape;990;p76"/>
          <p:cNvSpPr txBox="1"/>
          <p:nvPr/>
        </p:nvSpPr>
        <p:spPr>
          <a:xfrm>
            <a:off x="2190750" y="453910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Update: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No update needed.</a:t>
            </a:r>
            <a:endParaRPr/>
          </a:p>
        </p:txBody>
      </p:sp>
      <p:sp>
        <p:nvSpPr>
          <p:cNvPr id="991" name="Google Shape;991;p76"/>
          <p:cNvSpPr txBox="1"/>
          <p:nvPr/>
        </p:nvSpPr>
        <p:spPr>
          <a:xfrm>
            <a:off x="2190750" y="506476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Algorithm Converges!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No mistakes in Epoch 2.</a:t>
            </a:r>
            <a:endParaRPr/>
          </a:p>
        </p:txBody>
      </p:sp>
      <p:pic>
        <p:nvPicPr>
          <p:cNvPr descr="image.png" id="992" name="Google Shape;992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5112394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7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PLA: Numeric Example - Step 4</a:t>
            </a:r>
            <a:endParaRPr/>
          </a:p>
        </p:txBody>
      </p:sp>
      <p:sp>
        <p:nvSpPr>
          <p:cNvPr id="994" name="Google Shape;994;p76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76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0" name="Google Shape;1000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77"/>
          <p:cNvSpPr txBox="1"/>
          <p:nvPr/>
        </p:nvSpPr>
        <p:spPr>
          <a:xfrm>
            <a:off x="1820465" y="2388840"/>
            <a:ext cx="8551068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Part 11: Linear Separability</a:t>
            </a:r>
            <a:endParaRPr/>
          </a:p>
        </p:txBody>
      </p:sp>
      <p:sp>
        <p:nvSpPr>
          <p:cNvPr id="1002" name="Google Shape;1002;p77"/>
          <p:cNvSpPr/>
          <p:nvPr/>
        </p:nvSpPr>
        <p:spPr>
          <a:xfrm>
            <a:off x="5619750" y="3769965"/>
            <a:ext cx="952500" cy="47625"/>
          </a:xfrm>
          <a:prstGeom prst="rect">
            <a:avLst/>
          </a:prstGeom>
          <a:solidFill>
            <a:srgbClr val="A9D4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77"/>
          <p:cNvSpPr txBox="1"/>
          <p:nvPr/>
        </p:nvSpPr>
        <p:spPr>
          <a:xfrm>
            <a:off x="3709987" y="4103340"/>
            <a:ext cx="47720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When the Perceptron Works (and When it Fails)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8" name="Google Shape;1008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p78"/>
          <p:cNvSpPr txBox="1"/>
          <p:nvPr/>
        </p:nvSpPr>
        <p:spPr>
          <a:xfrm>
            <a:off x="1809750" y="262532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A Clear Dividing Line</a:t>
            </a:r>
            <a:endParaRPr/>
          </a:p>
        </p:txBody>
      </p:sp>
      <p:sp>
        <p:nvSpPr>
          <p:cNvPr id="1010" name="Google Shape;1010;p78"/>
          <p:cNvSpPr txBox="1"/>
          <p:nvPr/>
        </p:nvSpPr>
        <p:spPr>
          <a:xfrm>
            <a:off x="2190750" y="3273028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A set of data points is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linearly separable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if they can be separated by a single (n-1) dimensional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hyperplane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(e.g., a straight line in 2D, or a flat plane in 3D).</a:t>
            </a:r>
            <a:endParaRPr/>
          </a:p>
        </p:txBody>
      </p:sp>
      <p:sp>
        <p:nvSpPr>
          <p:cNvPr id="1011" name="Google Shape;1011;p78"/>
          <p:cNvSpPr txBox="1"/>
          <p:nvPr/>
        </p:nvSpPr>
        <p:spPr>
          <a:xfrm>
            <a:off x="2190750" y="413385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If data is separable, there are actually an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infinite number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of separating lines.</a:t>
            </a:r>
            <a:endParaRPr/>
          </a:p>
        </p:txBody>
      </p:sp>
      <p:sp>
        <p:nvSpPr>
          <p:cNvPr id="1012" name="Google Shape;1012;p78"/>
          <p:cNvSpPr txBox="1"/>
          <p:nvPr/>
        </p:nvSpPr>
        <p:spPr>
          <a:xfrm>
            <a:off x="2190750" y="465951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Perceptron Learning Algorithm is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guaranteed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to find one of these lines.</a:t>
            </a:r>
            <a:endParaRPr/>
          </a:p>
        </p:txBody>
      </p:sp>
      <p:pic>
        <p:nvPicPr>
          <p:cNvPr descr="image.png" id="1013" name="Google Shape;1013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32065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4" name="Google Shape;1014;p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18147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5" name="Google Shape;1015;p7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70713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7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Linearly Separable Data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1" name="Google Shape;1021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2" name="Google Shape;1022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66900"/>
            <a:ext cx="52863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3" name="Google Shape;1023;p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86690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79"/>
          <p:cNvSpPr txBox="1"/>
          <p:nvPr/>
        </p:nvSpPr>
        <p:spPr>
          <a:xfrm>
            <a:off x="439340" y="529590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Linearly Separable</a:t>
            </a:r>
            <a:endParaRPr/>
          </a:p>
        </p:txBody>
      </p:sp>
      <p:sp>
        <p:nvSpPr>
          <p:cNvPr id="1025" name="Google Shape;1025;p79"/>
          <p:cNvSpPr txBox="1"/>
          <p:nvPr/>
        </p:nvSpPr>
        <p:spPr>
          <a:xfrm>
            <a:off x="6201965" y="529590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Non-Linearly Separable</a:t>
            </a:r>
            <a:endParaRPr/>
          </a:p>
        </p:txBody>
      </p:sp>
      <p:pic>
        <p:nvPicPr>
          <p:cNvPr descr="image.png" id="1026" name="Google Shape;1026;p7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866900"/>
            <a:ext cx="5286375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7" name="Google Shape;1027;p7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186690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p7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Linearly vs. Non-Linearly Separable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3" name="Google Shape;1033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0"/>
          <p:cNvSpPr txBox="1"/>
          <p:nvPr/>
        </p:nvSpPr>
        <p:spPr>
          <a:xfrm>
            <a:off x="1809750" y="262532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The Perceptron's Downfall</a:t>
            </a:r>
            <a:endParaRPr/>
          </a:p>
        </p:txBody>
      </p:sp>
      <p:sp>
        <p:nvSpPr>
          <p:cNvPr id="1035" name="Google Shape;1035;p80"/>
          <p:cNvSpPr txBox="1"/>
          <p:nvPr/>
        </p:nvSpPr>
        <p:spPr>
          <a:xfrm>
            <a:off x="2190750" y="3273028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XOR (Exclusive OR) gate outputs 1 if the inputs are *different*, and 0 if they are the *same*.</a:t>
            </a:r>
            <a:endParaRPr/>
          </a:p>
        </p:txBody>
      </p:sp>
      <p:sp>
        <p:nvSpPr>
          <p:cNvPr id="1036" name="Google Shape;1036;p80"/>
          <p:cNvSpPr txBox="1"/>
          <p:nvPr/>
        </p:nvSpPr>
        <p:spPr>
          <a:xfrm>
            <a:off x="2190750" y="413385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This data is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not linearly separable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037" name="Google Shape;1037;p80"/>
          <p:cNvSpPr txBox="1"/>
          <p:nvPr/>
        </p:nvSpPr>
        <p:spPr>
          <a:xfrm>
            <a:off x="2190750" y="465951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A single perceptron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cannot solve the XOR problem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1038" name="Google Shape;1038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320653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9" name="Google Shape;1039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1814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0" name="Google Shape;1040;p8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70713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8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The XOR Problem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6" name="Google Shape;1046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7" name="Google Shape;1047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81"/>
          <p:cNvSpPr txBox="1"/>
          <p:nvPr/>
        </p:nvSpPr>
        <p:spPr>
          <a:xfrm>
            <a:off x="571500" y="200025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No Single Line Works!</a:t>
            </a:r>
            <a:endParaRPr/>
          </a:p>
        </p:txBody>
      </p:sp>
      <p:graphicFrame>
        <p:nvGraphicFramePr>
          <p:cNvPr id="1049" name="Google Shape;1049;p81"/>
          <p:cNvGraphicFramePr/>
          <p:nvPr/>
        </p:nvGraphicFramePr>
        <p:xfrm>
          <a:off x="571500" y="26479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{AD2E079C-D724-438B-8256-930175225709}</a:tableStyleId>
              </a:tblPr>
              <a:tblGrid>
                <a:gridCol w="1798450"/>
                <a:gridCol w="1907375"/>
                <a:gridCol w="1580550"/>
              </a:tblGrid>
              <a:tr h="6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C3E5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x1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C3E5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x2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2C3E5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374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1050" name="Google Shape;1050;p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81"/>
          <p:cNvSpPr/>
          <p:nvPr/>
        </p:nvSpPr>
        <p:spPr>
          <a:xfrm>
            <a:off x="571500" y="3260377"/>
            <a:ext cx="17984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81"/>
          <p:cNvSpPr/>
          <p:nvPr/>
        </p:nvSpPr>
        <p:spPr>
          <a:xfrm>
            <a:off x="2369939" y="3260377"/>
            <a:ext cx="19073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81"/>
          <p:cNvSpPr/>
          <p:nvPr/>
        </p:nvSpPr>
        <p:spPr>
          <a:xfrm>
            <a:off x="4277320" y="3260377"/>
            <a:ext cx="15805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81"/>
          <p:cNvSpPr/>
          <p:nvPr/>
        </p:nvSpPr>
        <p:spPr>
          <a:xfrm>
            <a:off x="571500" y="3887092"/>
            <a:ext cx="17984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81"/>
          <p:cNvSpPr/>
          <p:nvPr/>
        </p:nvSpPr>
        <p:spPr>
          <a:xfrm>
            <a:off x="2369939" y="3887092"/>
            <a:ext cx="19073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81"/>
          <p:cNvSpPr/>
          <p:nvPr/>
        </p:nvSpPr>
        <p:spPr>
          <a:xfrm>
            <a:off x="4277320" y="3887092"/>
            <a:ext cx="15805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81"/>
          <p:cNvSpPr/>
          <p:nvPr/>
        </p:nvSpPr>
        <p:spPr>
          <a:xfrm>
            <a:off x="571500" y="4513808"/>
            <a:ext cx="17984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81"/>
          <p:cNvSpPr/>
          <p:nvPr/>
        </p:nvSpPr>
        <p:spPr>
          <a:xfrm>
            <a:off x="2369939" y="4513808"/>
            <a:ext cx="19073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81"/>
          <p:cNvSpPr/>
          <p:nvPr/>
        </p:nvSpPr>
        <p:spPr>
          <a:xfrm>
            <a:off x="4277320" y="4513808"/>
            <a:ext cx="15805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81"/>
          <p:cNvSpPr/>
          <p:nvPr/>
        </p:nvSpPr>
        <p:spPr>
          <a:xfrm>
            <a:off x="571500" y="5140523"/>
            <a:ext cx="17984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81"/>
          <p:cNvSpPr/>
          <p:nvPr/>
        </p:nvSpPr>
        <p:spPr>
          <a:xfrm>
            <a:off x="2369939" y="5140523"/>
            <a:ext cx="19073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81"/>
          <p:cNvSpPr/>
          <p:nvPr/>
        </p:nvSpPr>
        <p:spPr>
          <a:xfrm>
            <a:off x="4277320" y="5140523"/>
            <a:ext cx="15805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81"/>
          <p:cNvSpPr/>
          <p:nvPr/>
        </p:nvSpPr>
        <p:spPr>
          <a:xfrm>
            <a:off x="571500" y="5767238"/>
            <a:ext cx="17984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81"/>
          <p:cNvSpPr/>
          <p:nvPr/>
        </p:nvSpPr>
        <p:spPr>
          <a:xfrm>
            <a:off x="2369939" y="5767238"/>
            <a:ext cx="19073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81"/>
          <p:cNvSpPr/>
          <p:nvPr/>
        </p:nvSpPr>
        <p:spPr>
          <a:xfrm>
            <a:off x="4277320" y="5767238"/>
            <a:ext cx="15805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8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The XOR Problem (Visualized)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1" name="Google Shape;1071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82"/>
          <p:cNvSpPr txBox="1"/>
          <p:nvPr/>
        </p:nvSpPr>
        <p:spPr>
          <a:xfrm>
            <a:off x="1809750" y="262532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Limitations of a Single Neuron</a:t>
            </a:r>
            <a:endParaRPr/>
          </a:p>
        </p:txBody>
      </p:sp>
      <p:sp>
        <p:nvSpPr>
          <p:cNvPr id="1073" name="Google Shape;1073;p82"/>
          <p:cNvSpPr txBox="1"/>
          <p:nvPr/>
        </p:nvSpPr>
        <p:spPr>
          <a:xfrm>
            <a:off x="2190750" y="3273028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Minsky &amp; Papert (1969) proved the Perceptron's limitations, stalling ANN research (the "AI Winter").</a:t>
            </a:r>
            <a:endParaRPr/>
          </a:p>
        </p:txBody>
      </p:sp>
      <p:sp>
        <p:nvSpPr>
          <p:cNvPr id="1074" name="Google Shape;1074;p82"/>
          <p:cNvSpPr txBox="1"/>
          <p:nvPr/>
        </p:nvSpPr>
        <p:spPr>
          <a:xfrm>
            <a:off x="2190750" y="413385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It showed that single neurons can only solve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linearly separable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problems.</a:t>
            </a:r>
            <a:endParaRPr/>
          </a:p>
        </p:txBody>
      </p:sp>
      <p:sp>
        <p:nvSpPr>
          <p:cNvPr id="1075" name="Google Shape;1075;p82"/>
          <p:cNvSpPr txBox="1"/>
          <p:nvPr/>
        </p:nvSpPr>
        <p:spPr>
          <a:xfrm>
            <a:off x="2190750" y="465951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solution is to use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multiple layers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of neurons (a Multi-Layer Perceptron, or MLP).</a:t>
            </a:r>
            <a:endParaRPr/>
          </a:p>
        </p:txBody>
      </p:sp>
      <p:pic>
        <p:nvPicPr>
          <p:cNvPr descr="image.png" id="1076" name="Google Shape;1076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32065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7" name="Google Shape;1077;p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18147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8" name="Google Shape;1078;p8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70713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8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Significance of the XOR Problem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4" name="Google Shape;1084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p83"/>
          <p:cNvSpPr txBox="1"/>
          <p:nvPr/>
        </p:nvSpPr>
        <p:spPr>
          <a:xfrm>
            <a:off x="1070371" y="2388840"/>
            <a:ext cx="10051256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Part 12: Summary &amp; Next Steps</a:t>
            </a:r>
            <a:endParaRPr/>
          </a:p>
        </p:txBody>
      </p:sp>
      <p:sp>
        <p:nvSpPr>
          <p:cNvPr id="1086" name="Google Shape;1086;p83"/>
          <p:cNvSpPr/>
          <p:nvPr/>
        </p:nvSpPr>
        <p:spPr>
          <a:xfrm>
            <a:off x="5619750" y="3769965"/>
            <a:ext cx="952500" cy="47625"/>
          </a:xfrm>
          <a:prstGeom prst="rect">
            <a:avLst/>
          </a:prstGeom>
          <a:solidFill>
            <a:srgbClr val="A9D4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83"/>
          <p:cNvSpPr txBox="1"/>
          <p:nvPr/>
        </p:nvSpPr>
        <p:spPr>
          <a:xfrm>
            <a:off x="4795837" y="4103340"/>
            <a:ext cx="26003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Reviewing the Perceptron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2" name="Google Shape;1092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84"/>
          <p:cNvSpPr txBox="1"/>
          <p:nvPr/>
        </p:nvSpPr>
        <p:spPr>
          <a:xfrm>
            <a:off x="1809750" y="253007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The 4 Components (Perceptron)</a:t>
            </a:r>
            <a:endParaRPr/>
          </a:p>
        </p:txBody>
      </p:sp>
      <p:sp>
        <p:nvSpPr>
          <p:cNvPr id="1094" name="Google Shape;1094;p84"/>
          <p:cNvSpPr txBox="1"/>
          <p:nvPr/>
        </p:nvSpPr>
        <p:spPr>
          <a:xfrm>
            <a:off x="2190750" y="317777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Data: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Labeled (x, t) pairs (e.g., truth tables).</a:t>
            </a:r>
            <a:endParaRPr/>
          </a:p>
        </p:txBody>
      </p:sp>
      <p:sp>
        <p:nvSpPr>
          <p:cNvPr id="1095" name="Google Shape;1095;p84"/>
          <p:cNvSpPr txBox="1"/>
          <p:nvPr/>
        </p:nvSpPr>
        <p:spPr>
          <a:xfrm>
            <a:off x="2190750" y="370343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Model: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A single neuron with a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step activation function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096" name="Google Shape;1096;p84"/>
          <p:cNvSpPr txBox="1"/>
          <p:nvPr/>
        </p:nvSpPr>
        <p:spPr>
          <a:xfrm>
            <a:off x="2190750" y="422910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Objective Function: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Minimize the error (t - ŷ).</a:t>
            </a:r>
            <a:endParaRPr/>
          </a:p>
        </p:txBody>
      </p:sp>
      <p:sp>
        <p:nvSpPr>
          <p:cNvPr id="1097" name="Google Shape;1097;p84"/>
          <p:cNvSpPr txBox="1"/>
          <p:nvPr/>
        </p:nvSpPr>
        <p:spPr>
          <a:xfrm>
            <a:off x="2190750" y="475476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Learning Algorithm: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The Perceptron Learning Algorithm (PLA).</a:t>
            </a:r>
            <a:endParaRPr/>
          </a:p>
        </p:txBody>
      </p:sp>
      <p:pic>
        <p:nvPicPr>
          <p:cNvPr descr="image.png" id="1098" name="Google Shape;1098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22540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9" name="Google Shape;1099;p8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751064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0" name="Google Shape;1100;p8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2767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1" name="Google Shape;1101;p8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80238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2" name="Google Shape;1102;p8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Perceptron Summary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7" name="Google Shape;1107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85"/>
          <p:cNvSpPr txBox="1"/>
          <p:nvPr/>
        </p:nvSpPr>
        <p:spPr>
          <a:xfrm>
            <a:off x="1809750" y="288815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When it Works, When it Fails</a:t>
            </a:r>
            <a:endParaRPr/>
          </a:p>
        </p:txBody>
      </p:sp>
      <p:sp>
        <p:nvSpPr>
          <p:cNvPr id="1109" name="Google Shape;1109;p85"/>
          <p:cNvSpPr txBox="1"/>
          <p:nvPr/>
        </p:nvSpPr>
        <p:spPr>
          <a:xfrm>
            <a:off x="2190750" y="353585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Success: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The PLA will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converge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in a finite number of steps if the data is linearly separable.</a:t>
            </a:r>
            <a:endParaRPr/>
          </a:p>
        </p:txBody>
      </p:sp>
      <p:sp>
        <p:nvSpPr>
          <p:cNvPr id="1110" name="Google Shape;1110;p85"/>
          <p:cNvSpPr txBox="1"/>
          <p:nvPr/>
        </p:nvSpPr>
        <p:spPr>
          <a:xfrm>
            <a:off x="2190750" y="4061519"/>
            <a:ext cx="81915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Failure: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The PLA will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fail to converge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(it will loop forever) if the data is not linearly separable.</a:t>
            </a:r>
            <a:endParaRPr/>
          </a:p>
        </p:txBody>
      </p:sp>
      <p:pic>
        <p:nvPicPr>
          <p:cNvPr descr="image.png" id="1111" name="Google Shape;1111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58348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2" name="Google Shape;1112;p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109144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8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Convergence &amp; Failure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8" name="Google Shape;1118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86"/>
          <p:cNvSpPr txBox="1"/>
          <p:nvPr/>
        </p:nvSpPr>
        <p:spPr>
          <a:xfrm>
            <a:off x="1809750" y="2099667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Apply the Learning Algorithm</a:t>
            </a:r>
            <a:endParaRPr/>
          </a:p>
        </p:txBody>
      </p:sp>
      <p:sp>
        <p:nvSpPr>
          <p:cNvPr id="1120" name="Google Shape;1120;p86"/>
          <p:cNvSpPr txBox="1"/>
          <p:nvPr/>
        </p:nvSpPr>
        <p:spPr>
          <a:xfrm>
            <a:off x="2190750" y="2785467"/>
            <a:ext cx="819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Manually apply the Perceptron Learning Algorithm (like the NOT gate example) for:</a:t>
            </a:r>
            <a:endParaRPr/>
          </a:p>
        </p:txBody>
      </p:sp>
      <p:sp>
        <p:nvSpPr>
          <p:cNvPr id="1121" name="Google Shape;1121;p86"/>
          <p:cNvSpPr txBox="1"/>
          <p:nvPr/>
        </p:nvSpPr>
        <p:spPr>
          <a:xfrm>
            <a:off x="2190750" y="5185171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Implement a simple Perceptron in Python (NumPy) to solve these.</a:t>
            </a:r>
            <a:endParaRPr/>
          </a:p>
        </p:txBody>
      </p:sp>
      <p:pic>
        <p:nvPicPr>
          <p:cNvPr descr="image.png" id="1122" name="Google Shape;1122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79499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3" name="Google Shape;1123;p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5232796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p86"/>
          <p:cNvSpPr txBox="1"/>
          <p:nvPr/>
        </p:nvSpPr>
        <p:spPr>
          <a:xfrm>
            <a:off x="2571750" y="3082528"/>
            <a:ext cx="7810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AND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gate.</a:t>
            </a:r>
            <a:endParaRPr/>
          </a:p>
        </p:txBody>
      </p:sp>
      <p:sp>
        <p:nvSpPr>
          <p:cNvPr id="1125" name="Google Shape;1125;p86"/>
          <p:cNvSpPr txBox="1"/>
          <p:nvPr/>
        </p:nvSpPr>
        <p:spPr>
          <a:xfrm>
            <a:off x="2571750" y="3608189"/>
            <a:ext cx="7810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OR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gate.</a:t>
            </a:r>
            <a:endParaRPr/>
          </a:p>
        </p:txBody>
      </p:sp>
      <p:sp>
        <p:nvSpPr>
          <p:cNvPr id="1126" name="Google Shape;1126;p86"/>
          <p:cNvSpPr txBox="1"/>
          <p:nvPr/>
        </p:nvSpPr>
        <p:spPr>
          <a:xfrm>
            <a:off x="2571750" y="4133850"/>
            <a:ext cx="7810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NOR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gate.</a:t>
            </a:r>
            <a:endParaRPr/>
          </a:p>
        </p:txBody>
      </p:sp>
      <p:sp>
        <p:nvSpPr>
          <p:cNvPr id="1127" name="Google Shape;1127;p86"/>
          <p:cNvSpPr txBox="1"/>
          <p:nvPr/>
        </p:nvSpPr>
        <p:spPr>
          <a:xfrm>
            <a:off x="2571750" y="4659510"/>
            <a:ext cx="7810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NAND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gate.</a:t>
            </a:r>
            <a:endParaRPr/>
          </a:p>
        </p:txBody>
      </p:sp>
      <p:sp>
        <p:nvSpPr>
          <p:cNvPr id="1128" name="Google Shape;1128;p8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Practice Problems</a:t>
            </a:r>
            <a:endParaRPr/>
          </a:p>
        </p:txBody>
      </p:sp>
      <p:sp>
        <p:nvSpPr>
          <p:cNvPr id="1129" name="Google Shape;1129;p86"/>
          <p:cNvSpPr/>
          <p:nvPr/>
        </p:nvSpPr>
        <p:spPr>
          <a:xfrm>
            <a:off x="9582150" y="704850"/>
            <a:ext cx="2038350" cy="308520"/>
          </a:xfrm>
          <a:prstGeom prst="roundRect">
            <a:avLst>
              <a:gd fmla="val 15436" name="adj"/>
            </a:avLst>
          </a:prstGeom>
          <a:solidFill>
            <a:srgbClr val="F4B8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86"/>
          <p:cNvSpPr txBox="1"/>
          <p:nvPr/>
        </p:nvSpPr>
        <p:spPr>
          <a:xfrm>
            <a:off x="9696450" y="752475"/>
            <a:ext cx="1809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[ASSIGNMENT-REQUIRED]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5" name="Google Shape;1135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p87"/>
          <p:cNvSpPr txBox="1"/>
          <p:nvPr/>
        </p:nvSpPr>
        <p:spPr>
          <a:xfrm>
            <a:off x="1809750" y="2530078"/>
            <a:ext cx="900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9D4B7"/>
                </a:solidFill>
                <a:latin typeface="Poppins"/>
                <a:ea typeface="Poppins"/>
                <a:cs typeface="Poppins"/>
                <a:sym typeface="Poppins"/>
              </a:rPr>
              <a:t>Further Reading</a:t>
            </a:r>
            <a:endParaRPr/>
          </a:p>
        </p:txBody>
      </p:sp>
      <p:sp>
        <p:nvSpPr>
          <p:cNvPr id="1137" name="Google Shape;1137;p87"/>
          <p:cNvSpPr txBox="1"/>
          <p:nvPr/>
        </p:nvSpPr>
        <p:spPr>
          <a:xfrm>
            <a:off x="2190750" y="3177778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T1 (D2L):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Chapter on Linear Networks / Single-Layer Networks.</a:t>
            </a:r>
            <a:endParaRPr/>
          </a:p>
        </p:txBody>
      </p:sp>
      <p:sp>
        <p:nvSpPr>
          <p:cNvPr id="1138" name="Google Shape;1138;p87"/>
          <p:cNvSpPr txBox="1"/>
          <p:nvPr/>
        </p:nvSpPr>
        <p:spPr>
          <a:xfrm>
            <a:off x="2190750" y="3703439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R1 (Goodfellow):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Chapters 1-6 provide excellent background.</a:t>
            </a:r>
            <a:endParaRPr/>
          </a:p>
        </p:txBody>
      </p:sp>
      <p:sp>
        <p:nvSpPr>
          <p:cNvPr id="1139" name="Google Shape;1139;p87"/>
          <p:cNvSpPr txBox="1"/>
          <p:nvPr/>
        </p:nvSpPr>
        <p:spPr>
          <a:xfrm>
            <a:off x="2190750" y="422910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Rosenblatt, F. (1958):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"The Perceptron: A Probabilistic Model..."</a:t>
            </a:r>
            <a:endParaRPr/>
          </a:p>
        </p:txBody>
      </p:sp>
      <p:sp>
        <p:nvSpPr>
          <p:cNvPr id="1140" name="Google Shape;1140;p87"/>
          <p:cNvSpPr txBox="1"/>
          <p:nvPr/>
        </p:nvSpPr>
        <p:spPr>
          <a:xfrm>
            <a:off x="2190750" y="4754760"/>
            <a:ext cx="81915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C3E50"/>
                </a:solidFill>
                <a:latin typeface="Lato"/>
                <a:ea typeface="Lato"/>
                <a:cs typeface="Lato"/>
                <a:sym typeface="Lato"/>
              </a:rPr>
              <a:t>Minsky &amp; Papert (1969):</a:t>
            </a:r>
            <a:r>
              <a:rPr b="0" i="0" lang="en-US" sz="16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"Perceptrons" (Historical context).</a:t>
            </a:r>
            <a:endParaRPr/>
          </a:p>
        </p:txBody>
      </p:sp>
      <p:pic>
        <p:nvPicPr>
          <p:cNvPr descr="image.png" id="1141" name="Google Shape;1141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225403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2" name="Google Shape;1142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75106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3" name="Google Shape;1143;p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27672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4" name="Google Shape;1144;p8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802385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8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0" name="Google Shape;1150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p88"/>
          <p:cNvSpPr txBox="1"/>
          <p:nvPr/>
        </p:nvSpPr>
        <p:spPr>
          <a:xfrm>
            <a:off x="295275" y="276225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6" name="Google Shape;1156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7" name="Google Shape;1157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41586"/>
            <a:ext cx="5286375" cy="43271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8" name="Google Shape;1158;p8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41586"/>
            <a:ext cx="5286375" cy="4327177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89"/>
          <p:cNvSpPr txBox="1"/>
          <p:nvPr/>
        </p:nvSpPr>
        <p:spPr>
          <a:xfrm>
            <a:off x="962025" y="2436018"/>
            <a:ext cx="473059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9D4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Assignment-Required Concepts</a:t>
            </a:r>
            <a:endParaRPr/>
          </a:p>
        </p:txBody>
      </p:sp>
      <p:sp>
        <p:nvSpPr>
          <p:cNvPr id="1160" name="Google Shape;1160;p89"/>
          <p:cNvSpPr txBox="1"/>
          <p:nvPr/>
        </p:nvSpPr>
        <p:spPr>
          <a:xfrm>
            <a:off x="6724650" y="2436018"/>
            <a:ext cx="473059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9D4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Textbook &amp; Appendix</a:t>
            </a:r>
            <a:endParaRPr/>
          </a:p>
        </p:txBody>
      </p:sp>
      <p:sp>
        <p:nvSpPr>
          <p:cNvPr id="1161" name="Google Shape;1161;p89"/>
          <p:cNvSpPr txBox="1"/>
          <p:nvPr/>
        </p:nvSpPr>
        <p:spPr>
          <a:xfrm>
            <a:off x="6724650" y="2864643"/>
            <a:ext cx="45053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T1 (D2L):</a:t>
            </a:r>
            <a:r>
              <a:rPr b="0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Chapter on Linear Models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R1 (Goodfellow):</a:t>
            </a:r>
            <a:r>
              <a:rPr b="0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 Chapters 1-6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5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Appendix Code:</a:t>
            </a:r>
            <a:endParaRPr/>
          </a:p>
        </p:txBody>
      </p:sp>
      <p:sp>
        <p:nvSpPr>
          <p:cNvPr id="1162" name="Google Shape;1162;p89"/>
          <p:cNvSpPr txBox="1"/>
          <p:nvPr/>
        </p:nvSpPr>
        <p:spPr>
          <a:xfrm>
            <a:off x="1295400" y="2864643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Artificial Neuron (Forward Computation)</a:t>
            </a:r>
            <a:endParaRPr/>
          </a:p>
        </p:txBody>
      </p:sp>
      <p:sp>
        <p:nvSpPr>
          <p:cNvPr id="1163" name="Google Shape;1163;p89"/>
          <p:cNvSpPr txBox="1"/>
          <p:nvPr/>
        </p:nvSpPr>
        <p:spPr>
          <a:xfrm>
            <a:off x="1295400" y="3312318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Perceptron Introduction &amp; Model (Step Function)</a:t>
            </a:r>
            <a:endParaRPr/>
          </a:p>
        </p:txBody>
      </p:sp>
      <p:sp>
        <p:nvSpPr>
          <p:cNvPr id="1164" name="Google Shape;1164;p89"/>
          <p:cNvSpPr txBox="1"/>
          <p:nvPr/>
        </p:nvSpPr>
        <p:spPr>
          <a:xfrm>
            <a:off x="1295400" y="3759993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Logic Gate Modeling (AND, OR, NOR, NAND)</a:t>
            </a:r>
            <a:endParaRPr/>
          </a:p>
        </p:txBody>
      </p:sp>
      <p:sp>
        <p:nvSpPr>
          <p:cNvPr id="1165" name="Google Shape;1165;p89"/>
          <p:cNvSpPr txBox="1"/>
          <p:nvPr/>
        </p:nvSpPr>
        <p:spPr>
          <a:xfrm>
            <a:off x="1295400" y="4207668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Perceptron Learning Algorithm (Formulas)</a:t>
            </a:r>
            <a:endParaRPr/>
          </a:p>
        </p:txBody>
      </p:sp>
      <p:sp>
        <p:nvSpPr>
          <p:cNvPr id="1166" name="Google Shape;1166;p89"/>
          <p:cNvSpPr txBox="1"/>
          <p:nvPr/>
        </p:nvSpPr>
        <p:spPr>
          <a:xfrm>
            <a:off x="1295400" y="4655343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PLA Numeric Walkthrough (NOT gate)</a:t>
            </a:r>
            <a:endParaRPr/>
          </a:p>
        </p:txBody>
      </p:sp>
      <p:sp>
        <p:nvSpPr>
          <p:cNvPr id="1167" name="Google Shape;1167;p89"/>
          <p:cNvSpPr txBox="1"/>
          <p:nvPr/>
        </p:nvSpPr>
        <p:spPr>
          <a:xfrm>
            <a:off x="1295400" y="5103018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Linear Separability</a:t>
            </a:r>
            <a:endParaRPr/>
          </a:p>
        </p:txBody>
      </p:sp>
      <p:sp>
        <p:nvSpPr>
          <p:cNvPr id="1168" name="Google Shape;1168;p89"/>
          <p:cNvSpPr txBox="1"/>
          <p:nvPr/>
        </p:nvSpPr>
        <p:spPr>
          <a:xfrm>
            <a:off x="7058025" y="3858964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perceptron_simple_demo.py</a:t>
            </a:r>
            <a:endParaRPr/>
          </a:p>
        </p:txBody>
      </p:sp>
      <p:sp>
        <p:nvSpPr>
          <p:cNvPr id="1169" name="Google Shape;1169;p89"/>
          <p:cNvSpPr txBox="1"/>
          <p:nvPr/>
        </p:nvSpPr>
        <p:spPr>
          <a:xfrm>
            <a:off x="7058025" y="4306639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perceptron_logic_gates.py</a:t>
            </a:r>
            <a:endParaRPr/>
          </a:p>
        </p:txBody>
      </p:sp>
      <p:sp>
        <p:nvSpPr>
          <p:cNvPr id="1170" name="Google Shape;1170;p89"/>
          <p:cNvSpPr txBox="1"/>
          <p:nvPr/>
        </p:nvSpPr>
        <p:spPr>
          <a:xfrm>
            <a:off x="7058025" y="4754314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perceptron_learning_rule_numeric.py</a:t>
            </a:r>
            <a:endParaRPr/>
          </a:p>
        </p:txBody>
      </p:sp>
      <p:sp>
        <p:nvSpPr>
          <p:cNvPr id="1171" name="Google Shape;1171;p89"/>
          <p:cNvSpPr txBox="1"/>
          <p:nvPr/>
        </p:nvSpPr>
        <p:spPr>
          <a:xfrm>
            <a:off x="7058025" y="5201989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perceptron_linear_separability_visualization.py</a:t>
            </a:r>
            <a:endParaRPr/>
          </a:p>
        </p:txBody>
      </p:sp>
      <p:sp>
        <p:nvSpPr>
          <p:cNvPr id="1172" name="Google Shape;1172;p8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Module 2 Checklist</a:t>
            </a:r>
            <a:endParaRPr/>
          </a:p>
        </p:txBody>
      </p:sp>
      <p:pic>
        <p:nvPicPr>
          <p:cNvPr descr="image.png" id="1173" name="Google Shape;1173;p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91226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4" name="Google Shape;1174;p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335994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5" name="Google Shape;1175;p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380761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6" name="Google Shape;1176;p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425529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7" name="Google Shape;1177;p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470296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8" name="Google Shape;1178;p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515064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9" name="Google Shape;1179;p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390658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0" name="Google Shape;1180;p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4354264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1" name="Google Shape;1181;p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480193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2" name="Google Shape;1182;p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5249614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7" name="Google Shape;1187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8" name="Google Shape;1188;p90"/>
          <p:cNvSpPr txBox="1"/>
          <p:nvPr/>
        </p:nvSpPr>
        <p:spPr>
          <a:xfrm>
            <a:off x="2560558" y="2388840"/>
            <a:ext cx="7070883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C3E50"/>
                </a:solidFill>
                <a:latin typeface="Poppins"/>
                <a:ea typeface="Poppins"/>
                <a:cs typeface="Poppins"/>
                <a:sym typeface="Poppins"/>
              </a:rPr>
              <a:t>Appendix: Code Suite</a:t>
            </a:r>
            <a:endParaRPr/>
          </a:p>
        </p:txBody>
      </p:sp>
      <p:sp>
        <p:nvSpPr>
          <p:cNvPr id="1189" name="Google Shape;1189;p90"/>
          <p:cNvSpPr/>
          <p:nvPr/>
        </p:nvSpPr>
        <p:spPr>
          <a:xfrm>
            <a:off x="5619750" y="3769965"/>
            <a:ext cx="952500" cy="47625"/>
          </a:xfrm>
          <a:prstGeom prst="rect">
            <a:avLst/>
          </a:prstGeom>
          <a:solidFill>
            <a:srgbClr val="A9D4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90"/>
          <p:cNvSpPr txBox="1"/>
          <p:nvPr/>
        </p:nvSpPr>
        <p:spPr>
          <a:xfrm>
            <a:off x="4281487" y="4103340"/>
            <a:ext cx="36290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NumPy Code for Module 2 Concepts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5" name="Google Shape;1195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91"/>
          <p:cNvSpPr txBox="1"/>
          <p:nvPr/>
        </p:nvSpPr>
        <p:spPr>
          <a:xfrm>
            <a:off x="571500" y="-795337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Appendix: perceptron_simple_demo.py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1" name="Google Shape;1201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9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Appendix: perceptron_logic_gates.py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7" name="Google Shape;1207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8" name="Google Shape;1208;p93"/>
          <p:cNvSpPr txBox="1"/>
          <p:nvPr/>
        </p:nvSpPr>
        <p:spPr>
          <a:xfrm>
            <a:off x="571500" y="-952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Appendix: perceptron_learning_rule_numeric.py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3" name="Google Shape;1213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94"/>
          <p:cNvSpPr txBox="1"/>
          <p:nvPr/>
        </p:nvSpPr>
        <p:spPr>
          <a:xfrm>
            <a:off x="571500" y="119062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Appendix: perceptron_linear_separability_visualization.py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9" name="Google Shape;1219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0" name="Google Shape;1220;p95"/>
          <p:cNvSpPr/>
          <p:nvPr/>
        </p:nvSpPr>
        <p:spPr>
          <a:xfrm>
            <a:off x="1824037" y="2330946"/>
            <a:ext cx="85439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95"/>
          <p:cNvSpPr/>
          <p:nvPr/>
        </p:nvSpPr>
        <p:spPr>
          <a:xfrm>
            <a:off x="1824037" y="3115716"/>
            <a:ext cx="85439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95"/>
          <p:cNvSpPr/>
          <p:nvPr/>
        </p:nvSpPr>
        <p:spPr>
          <a:xfrm>
            <a:off x="1824037" y="3900487"/>
            <a:ext cx="85439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95"/>
          <p:cNvSpPr/>
          <p:nvPr/>
        </p:nvSpPr>
        <p:spPr>
          <a:xfrm>
            <a:off x="1824037" y="4685258"/>
            <a:ext cx="85439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95"/>
          <p:cNvSpPr/>
          <p:nvPr/>
        </p:nvSpPr>
        <p:spPr>
          <a:xfrm>
            <a:off x="1824037" y="5470028"/>
            <a:ext cx="85439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25" name="Google Shape;1225;p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4037" y="17051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95"/>
          <p:cNvSpPr txBox="1"/>
          <p:nvPr/>
        </p:nvSpPr>
        <p:spPr>
          <a:xfrm>
            <a:off x="2919412" y="1698575"/>
            <a:ext cx="74485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https://images.stockcake.com/public/1/4/5/145a4b4b-a7d7-4d2b-9ff6-b62e99d8ef7c_large/illuminated-neural-network-stockcake.jpg</a:t>
            </a:r>
            <a:endParaRPr/>
          </a:p>
        </p:txBody>
      </p:sp>
      <p:sp>
        <p:nvSpPr>
          <p:cNvPr id="1227" name="Google Shape;1227;p95"/>
          <p:cNvSpPr txBox="1"/>
          <p:nvPr/>
        </p:nvSpPr>
        <p:spPr>
          <a:xfrm>
            <a:off x="2919412" y="1944290"/>
            <a:ext cx="74485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stockcake.com</a:t>
            </a:r>
            <a:endParaRPr/>
          </a:p>
        </p:txBody>
      </p:sp>
      <p:pic>
        <p:nvPicPr>
          <p:cNvPr descr="image.png" id="1228" name="Google Shape;1228;p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4037" y="24898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95"/>
          <p:cNvSpPr txBox="1"/>
          <p:nvPr/>
        </p:nvSpPr>
        <p:spPr>
          <a:xfrm>
            <a:off x="2919412" y="2483346"/>
            <a:ext cx="74485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https://cdn1.byjus.com/wp-content/uploads/2019/04/Neurons-Nerve-Impulses.png</a:t>
            </a:r>
            <a:endParaRPr/>
          </a:p>
        </p:txBody>
      </p:sp>
      <p:sp>
        <p:nvSpPr>
          <p:cNvPr id="1230" name="Google Shape;1230;p95"/>
          <p:cNvSpPr txBox="1"/>
          <p:nvPr/>
        </p:nvSpPr>
        <p:spPr>
          <a:xfrm>
            <a:off x="2919412" y="2729061"/>
            <a:ext cx="74485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byjus.com</a:t>
            </a:r>
            <a:endParaRPr/>
          </a:p>
        </p:txBody>
      </p:sp>
      <p:pic>
        <p:nvPicPr>
          <p:cNvPr descr="image.png" id="1231" name="Google Shape;1231;p9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24037" y="327466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2" name="Google Shape;1232;p95"/>
          <p:cNvSpPr txBox="1"/>
          <p:nvPr/>
        </p:nvSpPr>
        <p:spPr>
          <a:xfrm>
            <a:off x="2919412" y="3268116"/>
            <a:ext cx="74485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https://towardsdatascience.com/wp-content/uploads/2021/12/1hkYlTODpjJgo32DoCOWN5w.png</a:t>
            </a:r>
            <a:endParaRPr/>
          </a:p>
        </p:txBody>
      </p:sp>
      <p:sp>
        <p:nvSpPr>
          <p:cNvPr id="1233" name="Google Shape;1233;p95"/>
          <p:cNvSpPr txBox="1"/>
          <p:nvPr/>
        </p:nvSpPr>
        <p:spPr>
          <a:xfrm>
            <a:off x="2919412" y="3513832"/>
            <a:ext cx="74485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towardsdatascience.com</a:t>
            </a:r>
            <a:endParaRPr/>
          </a:p>
        </p:txBody>
      </p:sp>
      <p:pic>
        <p:nvPicPr>
          <p:cNvPr descr="image.png" id="1234" name="Google Shape;1234;p9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24037" y="405943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95"/>
          <p:cNvSpPr txBox="1"/>
          <p:nvPr/>
        </p:nvSpPr>
        <p:spPr>
          <a:xfrm>
            <a:off x="2919412" y="4052887"/>
            <a:ext cx="74485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https://media.geeksforgeeks.org/wp-content/uploads/20240719175629/Input-Layer-in-an-ANN.webp</a:t>
            </a:r>
            <a:endParaRPr/>
          </a:p>
        </p:txBody>
      </p:sp>
      <p:sp>
        <p:nvSpPr>
          <p:cNvPr id="1236" name="Google Shape;1236;p95"/>
          <p:cNvSpPr txBox="1"/>
          <p:nvPr/>
        </p:nvSpPr>
        <p:spPr>
          <a:xfrm>
            <a:off x="2919412" y="4298602"/>
            <a:ext cx="74485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www.geeksforgeeks.org</a:t>
            </a:r>
            <a:endParaRPr/>
          </a:p>
        </p:txBody>
      </p:sp>
      <p:pic>
        <p:nvPicPr>
          <p:cNvPr descr="image.png" id="1237" name="Google Shape;1237;p9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24037" y="484420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8" name="Google Shape;1238;p95"/>
          <p:cNvSpPr txBox="1"/>
          <p:nvPr/>
        </p:nvSpPr>
        <p:spPr>
          <a:xfrm>
            <a:off x="2919412" y="4837658"/>
            <a:ext cx="74485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https://i.sstatic.net/Hjn3M.png</a:t>
            </a:r>
            <a:endParaRPr/>
          </a:p>
        </p:txBody>
      </p:sp>
      <p:sp>
        <p:nvSpPr>
          <p:cNvPr id="1239" name="Google Shape;1239;p95"/>
          <p:cNvSpPr txBox="1"/>
          <p:nvPr/>
        </p:nvSpPr>
        <p:spPr>
          <a:xfrm>
            <a:off x="2919412" y="5083373"/>
            <a:ext cx="74485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stats.stackexchange.com</a:t>
            </a:r>
            <a:endParaRPr/>
          </a:p>
        </p:txBody>
      </p:sp>
      <p:pic>
        <p:nvPicPr>
          <p:cNvPr descr="image.png" id="1240" name="Google Shape;1240;p9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824037" y="562897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95"/>
          <p:cNvSpPr txBox="1"/>
          <p:nvPr/>
        </p:nvSpPr>
        <p:spPr>
          <a:xfrm>
            <a:off x="2919412" y="5622428"/>
            <a:ext cx="74485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https://scipython.com/media/old_blog/logistic_regression/decision-boundary.png</a:t>
            </a:r>
            <a:endParaRPr/>
          </a:p>
        </p:txBody>
      </p:sp>
      <p:sp>
        <p:nvSpPr>
          <p:cNvPr id="1242" name="Google Shape;1242;p95"/>
          <p:cNvSpPr txBox="1"/>
          <p:nvPr/>
        </p:nvSpPr>
        <p:spPr>
          <a:xfrm>
            <a:off x="2919412" y="5868144"/>
            <a:ext cx="74485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scipython.com</a:t>
            </a:r>
            <a:endParaRPr/>
          </a:p>
        </p:txBody>
      </p:sp>
      <p:sp>
        <p:nvSpPr>
          <p:cNvPr id="1243" name="Google Shape;1243;p9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8" name="Google Shape;1248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9" name="Google Shape;1249;p96"/>
          <p:cNvSpPr/>
          <p:nvPr/>
        </p:nvSpPr>
        <p:spPr>
          <a:xfrm>
            <a:off x="3152775" y="3508027"/>
            <a:ext cx="5886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96"/>
          <p:cNvSpPr/>
          <p:nvPr/>
        </p:nvSpPr>
        <p:spPr>
          <a:xfrm>
            <a:off x="3152775" y="4292798"/>
            <a:ext cx="58864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51" name="Google Shape;1251;p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2775" y="28822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2" name="Google Shape;1252;p96"/>
          <p:cNvSpPr txBox="1"/>
          <p:nvPr/>
        </p:nvSpPr>
        <p:spPr>
          <a:xfrm>
            <a:off x="4248150" y="2875657"/>
            <a:ext cx="47910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https://www.baeldung.com/wp-content/uploads/sites/4/2022/01/linearly-separable.jpg</a:t>
            </a:r>
            <a:endParaRPr/>
          </a:p>
        </p:txBody>
      </p:sp>
      <p:sp>
        <p:nvSpPr>
          <p:cNvPr id="1253" name="Google Shape;1253;p96"/>
          <p:cNvSpPr txBox="1"/>
          <p:nvPr/>
        </p:nvSpPr>
        <p:spPr>
          <a:xfrm>
            <a:off x="4248150" y="3121372"/>
            <a:ext cx="47910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www.baeldung.com</a:t>
            </a:r>
            <a:endParaRPr/>
          </a:p>
        </p:txBody>
      </p:sp>
      <p:pic>
        <p:nvPicPr>
          <p:cNvPr descr="image.png" id="1254" name="Google Shape;1254;p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52775" y="36669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5" name="Google Shape;1255;p96"/>
          <p:cNvSpPr txBox="1"/>
          <p:nvPr/>
        </p:nvSpPr>
        <p:spPr>
          <a:xfrm>
            <a:off x="4248150" y="3660427"/>
            <a:ext cx="47910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https://miro.medium.com/v2/resize:fit:1400/1*PF5VftEJiPWdErQyY6fLLQ.jpeg</a:t>
            </a:r>
            <a:endParaRPr/>
          </a:p>
        </p:txBody>
      </p:sp>
      <p:sp>
        <p:nvSpPr>
          <p:cNvPr id="1256" name="Google Shape;1256;p96"/>
          <p:cNvSpPr txBox="1"/>
          <p:nvPr/>
        </p:nvSpPr>
        <p:spPr>
          <a:xfrm>
            <a:off x="4248150" y="3906142"/>
            <a:ext cx="47910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pic>
        <p:nvPicPr>
          <p:cNvPr descr="image.png" id="1257" name="Google Shape;1257;p9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52775" y="445174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8" name="Google Shape;1258;p96"/>
          <p:cNvSpPr txBox="1"/>
          <p:nvPr/>
        </p:nvSpPr>
        <p:spPr>
          <a:xfrm>
            <a:off x="4248150" y="4445198"/>
            <a:ext cx="47910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https://analyticsindiamag.com/wp-content/uploads/2022/06/image-207.png</a:t>
            </a:r>
            <a:endParaRPr/>
          </a:p>
        </p:txBody>
      </p:sp>
      <p:sp>
        <p:nvSpPr>
          <p:cNvPr id="1259" name="Google Shape;1259;p96"/>
          <p:cNvSpPr txBox="1"/>
          <p:nvPr/>
        </p:nvSpPr>
        <p:spPr>
          <a:xfrm>
            <a:off x="4248150" y="4690913"/>
            <a:ext cx="47910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74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analyticsindiamag.com</a:t>
            </a:r>
            <a:endParaRPr/>
          </a:p>
        </p:txBody>
      </p:sp>
      <p:sp>
        <p:nvSpPr>
          <p:cNvPr id="1260" name="Google Shape;1260;p9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3745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