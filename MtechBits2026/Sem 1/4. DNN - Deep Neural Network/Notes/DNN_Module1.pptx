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6858000" cx="12192000"/>
  <p:notesSz cx="6858000" cy="9144000"/>
  <p:embeddedFontLst>
    <p:embeddedFont>
      <p:font typeface="Poppins"/>
      <p:regular r:id="rId67"/>
      <p:bold r:id="rId68"/>
      <p:italic r:id="rId69"/>
      <p:boldItalic r:id="rId70"/>
    </p:embeddedFont>
    <p:embeddedFont>
      <p:font typeface="Lato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B19E46-6B9D-429B-A579-E8B9D0B0185B}">
  <a:tblStyle styleId="{8BB19E46-6B9D-429B-A579-E8B9D0B018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Lato-italic.fntdata"/><Relationship Id="rId72" Type="http://schemas.openxmlformats.org/officeDocument/2006/relationships/font" Target="fonts/Lato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74" Type="http://schemas.openxmlformats.org/officeDocument/2006/relationships/font" Target="fonts/Lato-bold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Lato-regular.fntdata"/><Relationship Id="rId70" Type="http://schemas.openxmlformats.org/officeDocument/2006/relationships/font" Target="fonts/Poppins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Poppins-bold.fntdata"/><Relationship Id="rId23" Type="http://schemas.openxmlformats.org/officeDocument/2006/relationships/slide" Target="slides/slide17.xml"/><Relationship Id="rId67" Type="http://schemas.openxmlformats.org/officeDocument/2006/relationships/font" Target="fonts/Poppins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Poppi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33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38.png"/><Relationship Id="rId5" Type="http://schemas.openxmlformats.org/officeDocument/2006/relationships/image" Target="../media/image41.png"/><Relationship Id="rId6" Type="http://schemas.openxmlformats.org/officeDocument/2006/relationships/image" Target="../media/image47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50.png"/><Relationship Id="rId7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44.png"/><Relationship Id="rId7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Relationship Id="rId5" Type="http://schemas.openxmlformats.org/officeDocument/2006/relationships/image" Target="../media/image59.png"/><Relationship Id="rId6" Type="http://schemas.openxmlformats.org/officeDocument/2006/relationships/image" Target="../media/image75.png"/><Relationship Id="rId7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53.png"/><Relationship Id="rId6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67.png"/><Relationship Id="rId5" Type="http://schemas.openxmlformats.org/officeDocument/2006/relationships/image" Target="../media/image54.png"/><Relationship Id="rId6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48.png"/><Relationship Id="rId7" Type="http://schemas.openxmlformats.org/officeDocument/2006/relationships/image" Target="../media/image6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6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57.png"/><Relationship Id="rId6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Relationship Id="rId4" Type="http://schemas.openxmlformats.org/officeDocument/2006/relationships/image" Target="../media/image56.png"/><Relationship Id="rId5" Type="http://schemas.openxmlformats.org/officeDocument/2006/relationships/image" Target="../media/image58.png"/><Relationship Id="rId6" Type="http://schemas.openxmlformats.org/officeDocument/2006/relationships/image" Target="../media/image6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Relationship Id="rId4" Type="http://schemas.openxmlformats.org/officeDocument/2006/relationships/image" Target="../media/image77.png"/><Relationship Id="rId5" Type="http://schemas.openxmlformats.org/officeDocument/2006/relationships/image" Target="../media/image74.png"/><Relationship Id="rId6" Type="http://schemas.openxmlformats.org/officeDocument/2006/relationships/image" Target="../media/image72.png"/><Relationship Id="rId7" Type="http://schemas.openxmlformats.org/officeDocument/2006/relationships/image" Target="../media/image7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63.png"/><Relationship Id="rId6" Type="http://schemas.openxmlformats.org/officeDocument/2006/relationships/image" Target="../media/image6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Relationship Id="rId4" Type="http://schemas.openxmlformats.org/officeDocument/2006/relationships/image" Target="../media/image65.png"/><Relationship Id="rId5" Type="http://schemas.openxmlformats.org/officeDocument/2006/relationships/image" Target="../media/image78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png"/><Relationship Id="rId4" Type="http://schemas.openxmlformats.org/officeDocument/2006/relationships/image" Target="../media/image73.png"/><Relationship Id="rId5" Type="http://schemas.openxmlformats.org/officeDocument/2006/relationships/image" Target="../media/image42.png"/><Relationship Id="rId6" Type="http://schemas.openxmlformats.org/officeDocument/2006/relationships/image" Target="../media/image59.png"/><Relationship Id="rId7" Type="http://schemas.openxmlformats.org/officeDocument/2006/relationships/image" Target="../media/image8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.png"/><Relationship Id="rId4" Type="http://schemas.openxmlformats.org/officeDocument/2006/relationships/image" Target="../media/image79.png"/><Relationship Id="rId5" Type="http://schemas.openxmlformats.org/officeDocument/2006/relationships/image" Target="../media/image71.png"/><Relationship Id="rId6" Type="http://schemas.openxmlformats.org/officeDocument/2006/relationships/image" Target="../media/image7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Relationship Id="rId4" Type="http://schemas.openxmlformats.org/officeDocument/2006/relationships/image" Target="../media/image86.png"/><Relationship Id="rId5" Type="http://schemas.openxmlformats.org/officeDocument/2006/relationships/image" Target="../media/image84.png"/><Relationship Id="rId6" Type="http://schemas.openxmlformats.org/officeDocument/2006/relationships/image" Target="../media/image8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94.png"/><Relationship Id="rId6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png"/><Relationship Id="rId4" Type="http://schemas.openxmlformats.org/officeDocument/2006/relationships/image" Target="../media/image112.png"/><Relationship Id="rId5" Type="http://schemas.openxmlformats.org/officeDocument/2006/relationships/image" Target="../media/image125.png"/><Relationship Id="rId6" Type="http://schemas.openxmlformats.org/officeDocument/2006/relationships/image" Target="../media/image10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Relationship Id="rId4" Type="http://schemas.openxmlformats.org/officeDocument/2006/relationships/image" Target="../media/image87.png"/><Relationship Id="rId9" Type="http://schemas.openxmlformats.org/officeDocument/2006/relationships/image" Target="../media/image98.png"/><Relationship Id="rId5" Type="http://schemas.openxmlformats.org/officeDocument/2006/relationships/image" Target="../media/image89.png"/><Relationship Id="rId6" Type="http://schemas.openxmlformats.org/officeDocument/2006/relationships/image" Target="../media/image88.png"/><Relationship Id="rId7" Type="http://schemas.openxmlformats.org/officeDocument/2006/relationships/image" Target="../media/image92.png"/><Relationship Id="rId8" Type="http://schemas.openxmlformats.org/officeDocument/2006/relationships/image" Target="../media/image9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99.png"/><Relationship Id="rId6" Type="http://schemas.openxmlformats.org/officeDocument/2006/relationships/image" Target="../media/image2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4.png"/><Relationship Id="rId4" Type="http://schemas.openxmlformats.org/officeDocument/2006/relationships/image" Target="../media/image93.png"/><Relationship Id="rId5" Type="http://schemas.openxmlformats.org/officeDocument/2006/relationships/image" Target="../media/image90.png"/><Relationship Id="rId6" Type="http://schemas.openxmlformats.org/officeDocument/2006/relationships/image" Target="../media/image101.png"/><Relationship Id="rId7" Type="http://schemas.openxmlformats.org/officeDocument/2006/relationships/image" Target="../media/image120.png"/><Relationship Id="rId8" Type="http://schemas.openxmlformats.org/officeDocument/2006/relationships/image" Target="../media/image8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Relationship Id="rId4" Type="http://schemas.openxmlformats.org/officeDocument/2006/relationships/image" Target="../media/image97.png"/><Relationship Id="rId5" Type="http://schemas.openxmlformats.org/officeDocument/2006/relationships/image" Target="../media/image90.png"/><Relationship Id="rId6" Type="http://schemas.openxmlformats.org/officeDocument/2006/relationships/image" Target="../media/image100.png"/><Relationship Id="rId7" Type="http://schemas.openxmlformats.org/officeDocument/2006/relationships/image" Target="../media/image110.png"/><Relationship Id="rId8" Type="http://schemas.openxmlformats.org/officeDocument/2006/relationships/image" Target="../media/image8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Relationship Id="rId4" Type="http://schemas.openxmlformats.org/officeDocument/2006/relationships/image" Target="../media/image103.png"/><Relationship Id="rId5" Type="http://schemas.openxmlformats.org/officeDocument/2006/relationships/image" Target="../media/image10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4.png"/><Relationship Id="rId4" Type="http://schemas.openxmlformats.org/officeDocument/2006/relationships/image" Target="../media/image6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4.png"/><Relationship Id="rId4" Type="http://schemas.openxmlformats.org/officeDocument/2006/relationships/image" Target="../media/image108.png"/><Relationship Id="rId5" Type="http://schemas.openxmlformats.org/officeDocument/2006/relationships/image" Target="../media/image115.png"/><Relationship Id="rId6" Type="http://schemas.openxmlformats.org/officeDocument/2006/relationships/image" Target="../media/image2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9.png"/><Relationship Id="rId4" Type="http://schemas.openxmlformats.org/officeDocument/2006/relationships/image" Target="../media/image117.png"/><Relationship Id="rId9" Type="http://schemas.openxmlformats.org/officeDocument/2006/relationships/image" Target="../media/image123.png"/><Relationship Id="rId5" Type="http://schemas.openxmlformats.org/officeDocument/2006/relationships/image" Target="../media/image109.png"/><Relationship Id="rId6" Type="http://schemas.openxmlformats.org/officeDocument/2006/relationships/image" Target="../media/image124.png"/><Relationship Id="rId7" Type="http://schemas.openxmlformats.org/officeDocument/2006/relationships/image" Target="../media/image114.png"/><Relationship Id="rId8" Type="http://schemas.openxmlformats.org/officeDocument/2006/relationships/image" Target="../media/image11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3.png"/><Relationship Id="rId4" Type="http://schemas.openxmlformats.org/officeDocument/2006/relationships/image" Target="../media/image122.png"/><Relationship Id="rId5" Type="http://schemas.openxmlformats.org/officeDocument/2006/relationships/image" Target="../media/image121.png"/><Relationship Id="rId6" Type="http://schemas.openxmlformats.org/officeDocument/2006/relationships/image" Target="../media/image116.png"/><Relationship Id="rId7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5288" y="2453580"/>
            <a:ext cx="1138142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Deep Neural Network (DNN)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76275" y="3787080"/>
            <a:ext cx="108394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Module 1: Introduction to Deep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190386" y="2388840"/>
            <a:ext cx="981122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1: What is Deep Learning?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76712" y="4103340"/>
            <a:ext cx="38385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Defining the field and its core concepts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A Subset of Machine Learning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Deep Learning is a type of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machine learning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is based on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artificial neural networks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(ANNs).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uses multiple layers of processing to learn from data.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These layers form a "deep" network, which gives the field its name.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What is Deep Learning? (Definition 1)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Inspired by the Human Brain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2190750" y="3105447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is a method in AI that teaches computers to process data in a way that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inspired by the human brain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2190750" y="396626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It's a machine learning technique that teaches computers to do what comes naturally to humans: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learn by example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2190750" y="48270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contrasts with older AI systems that relied on hand-crafted rules.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7471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What is Deep Learning? (Definition 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Hierarchical Representation Learning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2190750" y="3105447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Deep Learning is about learning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successive layers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increasingly meaningful representations.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Multiple layers are used to extract progressively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higher-level features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from data.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2190750" y="449193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For an image, the first layer might learn edges, the next shapes, and the next complex objects.</a:t>
            </a:r>
            <a:endParaRPr/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What is Deep Learning? (Definition 3)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The "Deep" in Deep Learning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2190750" y="327302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"deep" in deep learning stands for this idea of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successive layers of representations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2190750" y="379868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depth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a model is the number of layers that contribute to modeling the data.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2190750" y="432435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neural network with three or more layers is generally considered a "deep" neural network.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4631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719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What is "Depth"?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825341" y="2388840"/>
            <a:ext cx="1054131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2: Where Deep Learning Fits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4491037" y="4103340"/>
            <a:ext cx="3209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Understanding the AI Landscape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AI → ML → DL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904875" y="2647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Artificial Intelligence (AI):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broad science of making machines smart or mimicking human intelligence.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904875" y="34004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Machine Learning (ML):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subset of AI where systems *learn from data* to find patterns and make predictions.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904875" y="4152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Deep Learning (DL):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subset of ML that uses "deep" neural networks to solve complex problems.</a:t>
            </a:r>
            <a:endParaRPr/>
          </a:p>
        </p:txBody>
      </p:sp>
      <p:pic>
        <p:nvPicPr>
          <p:cNvPr descr="image.png" id="167" name="Google Shape;1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AI-ML-DL Hierarchy</a:t>
            </a:r>
            <a:endParaRPr/>
          </a:p>
        </p:txBody>
      </p:sp>
      <p:pic>
        <p:nvPicPr>
          <p:cNvPr descr="image.png" id="169" name="Google Shape;1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80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05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9210"/>
            <a:ext cx="5286375" cy="2351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29210"/>
            <a:ext cx="5286375" cy="235193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962025" y="3322290"/>
            <a:ext cx="47305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(Artificial Intelligence)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962025" y="3696295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Any technique that enables computers to mimic human intelligence. This includes rule-based systems, logic, and more.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24650" y="3322290"/>
            <a:ext cx="47305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(Machine Learning)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24650" y="369629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subset of AI where machines *learn from data* to perform tasks without being explicitly programmed for each case.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AI vs. ML vs. DL: Key Distinctions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695325" y="2388840"/>
            <a:ext cx="108013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3: How Deep Learning Works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4000500" y="4103340"/>
            <a:ext cx="4191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Core Idea of Layered Representations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Layers of Meaningful Representations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2190750" y="3105447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DL models are learned via models called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neural networks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, structured in literal layers stacked on top of each other.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2190750" y="396626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Each layer takes the output from the previous one and transforms it into a new representation.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2190750" y="48270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goal is for the final representation to make the task (like classification) easy.</a:t>
            </a:r>
            <a:endParaRPr/>
          </a:p>
        </p:txBody>
      </p:sp>
      <p:pic>
        <p:nvPicPr>
          <p:cNvPr descr="image.png" id="201" name="Google Shape;2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7471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Learning Successive Layers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From Pixels to Concepts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904875" y="26479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Layer 1 (Input):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Detects simple features (e.g., edges, colors).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904875" y="30956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Layer 2 (Hidden):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Combines features into simple shapes (e.g., corners, circles).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904875" y="3848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Layer 3 (Hidden):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Combines shapes into complex parts (e.g., an eye, a nose).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904875" y="46005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Layer 4 (Output):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Assembles parts into the final concept (e.g., a "cat").</a:t>
            </a:r>
            <a:endParaRPr/>
          </a:p>
        </p:txBody>
      </p:sp>
      <p:pic>
        <p:nvPicPr>
          <p:cNvPr descr="image.png" id="216" name="Google Shape;21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Visualizing the Layers</a:t>
            </a:r>
            <a:endParaRPr/>
          </a:p>
        </p:txBody>
      </p:sp>
      <p:pic>
        <p:nvPicPr>
          <p:cNvPr descr="image.png" id="218" name="Google Shape;2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432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957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482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295275" y="1936402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4: Why Deep Learning? Why Now?</a:t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5619750" y="4222402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4314825" y="4555777"/>
            <a:ext cx="35623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Confluence of Four Key Factors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2734"/>
            <a:ext cx="5334000" cy="2625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92734"/>
            <a:ext cx="5334000" cy="262503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2088356" y="3602384"/>
            <a:ext cx="23002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1. Data Availability</a:t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866775" y="4202459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We now have massive datasets (e.g., ImageNet, Wikipedia) needed to train deep networks.</a:t>
            </a:r>
            <a:endParaRPr/>
          </a:p>
        </p:txBody>
      </p:sp>
      <p:sp>
        <p:nvSpPr>
          <p:cNvPr id="239" name="Google Shape;239;p26"/>
          <p:cNvSpPr txBox="1"/>
          <p:nvPr/>
        </p:nvSpPr>
        <p:spPr>
          <a:xfrm>
            <a:off x="7888366" y="3602384"/>
            <a:ext cx="213026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2. Cheap Storage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6581775" y="4202459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cost of storing terabytes of data has plummeted, making these large datasets feasible to collect and maintain.</a:t>
            </a:r>
            <a:endParaRPr/>
          </a:p>
        </p:txBody>
      </p:sp>
      <p:pic>
        <p:nvPicPr>
          <p:cNvPr descr="image.png" id="241" name="Google Shape;2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8475" y="290705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4900" y="290705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Factors 1 &amp; 2: Data and Storage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5515"/>
            <a:ext cx="5334000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55515"/>
            <a:ext cx="5334000" cy="2899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1743313" y="3465165"/>
            <a:ext cx="29903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3. Computational Power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866775" y="4065240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rise of GPUs (Graphics Processing Units) allows for massive parallel computations, making training feasible.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8118395" y="3465165"/>
            <a:ext cx="167020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4. Algorithms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6581775" y="4065240"/>
            <a:ext cx="4743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Key algorithmic innovations (like new activation functions, optimizers, and backpropagation) made training deep nets practical.</a:t>
            </a:r>
            <a:endParaRPr/>
          </a:p>
        </p:txBody>
      </p:sp>
      <p:pic>
        <p:nvPicPr>
          <p:cNvPr descr="image.png" id="255" name="Google Shape;25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9900" y="27698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0" y="276984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Factors 3 &amp; 4: Computation &amp; Algorithms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Performance vs. Data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904875" y="2647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Traditional ML algorithms (like SVMs or Logistic Regression) </a:t>
            </a: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plateau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in performance.</a:t>
            </a:r>
            <a:endParaRPr/>
          </a:p>
        </p:txBody>
      </p:sp>
      <p:sp>
        <p:nvSpPr>
          <p:cNvPr id="266" name="Google Shape;266;p28"/>
          <p:cNvSpPr txBox="1"/>
          <p:nvPr/>
        </p:nvSpPr>
        <p:spPr>
          <a:xfrm>
            <a:off x="904875" y="34004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After a point, more data doesn't help them.</a:t>
            </a:r>
            <a:endParaRPr/>
          </a:p>
        </p:txBody>
      </p:sp>
      <p:sp>
        <p:nvSpPr>
          <p:cNvPr id="267" name="Google Shape;267;p28"/>
          <p:cNvSpPr txBox="1"/>
          <p:nvPr/>
        </p:nvSpPr>
        <p:spPr>
          <a:xfrm>
            <a:off x="904875" y="3848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Deep Learning models </a:t>
            </a: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scale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 Their performance keeps improving with more data.</a:t>
            </a:r>
            <a:endParaRPr/>
          </a:p>
        </p:txBody>
      </p:sp>
      <p:sp>
        <p:nvSpPr>
          <p:cNvPr id="268" name="Google Shape;268;p28"/>
          <p:cNvSpPr txBox="1"/>
          <p:nvPr/>
        </p:nvSpPr>
        <p:spPr>
          <a:xfrm>
            <a:off x="904875" y="46005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key advantage of DL: it can harness massive datasets.</a:t>
            </a:r>
            <a:endParaRPr/>
          </a:p>
        </p:txBody>
      </p:sp>
      <p:pic>
        <p:nvPicPr>
          <p:cNvPr descr="image.png" id="269" name="Google Shape;26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Scalability of Deep Learning</a:t>
            </a:r>
            <a:endParaRPr/>
          </a:p>
        </p:txBody>
      </p:sp>
      <p:pic>
        <p:nvPicPr>
          <p:cNvPr descr="image.png" id="271" name="Google Shape;27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80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957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482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9"/>
          <p:cNvSpPr txBox="1"/>
          <p:nvPr/>
        </p:nvSpPr>
        <p:spPr>
          <a:xfrm>
            <a:off x="2660570" y="2388840"/>
            <a:ext cx="68708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5: A Brief History</a:t>
            </a:r>
            <a:endParaRPr/>
          </a:p>
        </p:txBody>
      </p:sp>
      <p:sp>
        <p:nvSpPr>
          <p:cNvPr id="281" name="Google Shape;281;p29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4362450" y="4103340"/>
            <a:ext cx="34671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From Perceptrons to Transformers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0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1943</a:t>
            </a:r>
            <a:endParaRPr/>
          </a:p>
        </p:txBody>
      </p:sp>
      <p:sp>
        <p:nvSpPr>
          <p:cNvPr id="290" name="Google Shape;290;p30"/>
          <p:cNvSpPr txBox="1"/>
          <p:nvPr/>
        </p:nvSpPr>
        <p:spPr>
          <a:xfrm>
            <a:off x="571500" y="4667250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McCulloch-Pitts Neuron (A mathematical model of a biological neuron)</a:t>
            </a:r>
            <a:endParaRPr/>
          </a:p>
        </p:txBody>
      </p:sp>
      <p:sp>
        <p:nvSpPr>
          <p:cNvPr id="291" name="Google Shape;291;p30"/>
          <p:cNvSpPr txBox="1"/>
          <p:nvPr/>
        </p:nvSpPr>
        <p:spPr>
          <a:xfrm>
            <a:off x="3343888" y="2503289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1957</a:t>
            </a:r>
            <a:endParaRPr/>
          </a:p>
        </p:txBody>
      </p:sp>
      <p:sp>
        <p:nvSpPr>
          <p:cNvPr id="292" name="Google Shape;292;p30"/>
          <p:cNvSpPr txBox="1"/>
          <p:nvPr/>
        </p:nvSpPr>
        <p:spPr>
          <a:xfrm>
            <a:off x="3407419" y="302716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Perceptron (Frank Rosenblatt. An early single-layer neural network)</a:t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1986</a:t>
            </a:r>
            <a:endParaRPr/>
          </a:p>
        </p:txBody>
      </p:sp>
      <p:sp>
        <p:nvSpPr>
          <p:cNvPr id="294" name="Google Shape;294;p30"/>
          <p:cNvSpPr txBox="1"/>
          <p:nvPr/>
        </p:nvSpPr>
        <p:spPr>
          <a:xfrm>
            <a:off x="6243339" y="4667250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Backpropagation (Popularized by Rumelhart, Hinton &amp; Williams)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9015728" y="2503289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2012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9079259" y="3027164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AlexNet (Hinton et al. Wins ImageNet, sparking the modern DL boom)</a:t>
            </a:r>
            <a:endParaRPr/>
          </a:p>
        </p:txBody>
      </p:sp>
      <p:sp>
        <p:nvSpPr>
          <p:cNvPr id="297" name="Google Shape;297;p30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6D9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6D9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6D9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6D98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Deep Learning Timeline (Simplified)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/>
        </p:nvSpPr>
        <p:spPr>
          <a:xfrm>
            <a:off x="1465421" y="2388840"/>
            <a:ext cx="926115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6: Major Breakthroughs</a:t>
            </a:r>
            <a:endParaRPr/>
          </a:p>
        </p:txBody>
      </p:sp>
      <p:sp>
        <p:nvSpPr>
          <p:cNvPr id="308" name="Google Shape;308;p31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4595812" y="4103340"/>
            <a:ext cx="3000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DL's Impact on AI Benchmarks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845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1845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18457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2"/>
          <p:cNvSpPr txBox="1"/>
          <p:nvPr/>
        </p:nvSpPr>
        <p:spPr>
          <a:xfrm>
            <a:off x="571500" y="4752082"/>
            <a:ext cx="342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Computer Vision (2012):</a:t>
            </a:r>
            <a:r>
              <a:rPr b="0" i="1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AlexNet wins ImageNet.</a:t>
            </a:r>
            <a:endParaRPr/>
          </a:p>
        </p:txBody>
      </p:sp>
      <p:sp>
        <p:nvSpPr>
          <p:cNvPr id="319" name="Google Shape;319;p32"/>
          <p:cNvSpPr txBox="1"/>
          <p:nvPr/>
        </p:nvSpPr>
        <p:spPr>
          <a:xfrm>
            <a:off x="4381500" y="4752082"/>
            <a:ext cx="342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Reinforcement Learning (2016):</a:t>
            </a:r>
            <a:r>
              <a:rPr b="0" i="1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AlphaGo defeats world Go champion.</a:t>
            </a:r>
            <a:endParaRPr/>
          </a:p>
        </p:txBody>
      </p:sp>
      <p:sp>
        <p:nvSpPr>
          <p:cNvPr id="320" name="Google Shape;320;p32"/>
          <p:cNvSpPr txBox="1"/>
          <p:nvPr/>
        </p:nvSpPr>
        <p:spPr>
          <a:xfrm>
            <a:off x="8191500" y="4752082"/>
            <a:ext cx="342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Generative Models (2018+):</a:t>
            </a:r>
            <a:r>
              <a:rPr b="0" i="1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Realistic image &amp; text generation.</a:t>
            </a:r>
            <a:endParaRPr/>
          </a:p>
        </p:txBody>
      </p:sp>
      <p:pic>
        <p:nvPicPr>
          <p:cNvPr descr="image.png" id="321" name="Google Shape;32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1845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1500" y="241845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0" y="2418457"/>
            <a:ext cx="3429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Breakthrough Examples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 txBox="1"/>
          <p:nvPr/>
        </p:nvSpPr>
        <p:spPr>
          <a:xfrm>
            <a:off x="925353" y="2388840"/>
            <a:ext cx="1034129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7: Real-World Applications</a:t>
            </a:r>
            <a:endParaRPr/>
          </a:p>
        </p:txBody>
      </p:sp>
      <p:sp>
        <p:nvSpPr>
          <p:cNvPr id="331" name="Google Shape;331;p33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4300537" y="4103340"/>
            <a:ext cx="3590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Where Deep Learning is Used Today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2734"/>
            <a:ext cx="5334000" cy="2625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92734"/>
            <a:ext cx="5334000" cy="262503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4"/>
          <p:cNvSpPr txBox="1"/>
          <p:nvPr/>
        </p:nvSpPr>
        <p:spPr>
          <a:xfrm>
            <a:off x="2198370" y="3602384"/>
            <a:ext cx="20802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Computer Vision</a:t>
            </a:r>
            <a:endParaRPr/>
          </a:p>
        </p:txBody>
      </p:sp>
      <p:sp>
        <p:nvSpPr>
          <p:cNvPr id="341" name="Google Shape;341;p34"/>
          <p:cNvSpPr txBox="1"/>
          <p:nvPr/>
        </p:nvSpPr>
        <p:spPr>
          <a:xfrm>
            <a:off x="866775" y="4202459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Object detection (self-driving cars), facial recognition, medical image analysis (e.g., finding tumors).</a:t>
            </a:r>
            <a:endParaRPr/>
          </a:p>
        </p:txBody>
      </p:sp>
      <p:sp>
        <p:nvSpPr>
          <p:cNvPr id="342" name="Google Shape;342;p34"/>
          <p:cNvSpPr txBox="1"/>
          <p:nvPr/>
        </p:nvSpPr>
        <p:spPr>
          <a:xfrm>
            <a:off x="7718345" y="3602384"/>
            <a:ext cx="247030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Speech Recognition</a:t>
            </a:r>
            <a:endParaRPr/>
          </a:p>
        </p:txBody>
      </p:sp>
      <p:sp>
        <p:nvSpPr>
          <p:cNvPr id="343" name="Google Shape;343;p34"/>
          <p:cNvSpPr txBox="1"/>
          <p:nvPr/>
        </p:nvSpPr>
        <p:spPr>
          <a:xfrm>
            <a:off x="6581775" y="4202459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Virtual assistants (Siri, Alexa), automatic transcription (ASR), and text-to-speech (TTS).</a:t>
            </a:r>
            <a:endParaRPr/>
          </a:p>
        </p:txBody>
      </p:sp>
      <p:pic>
        <p:nvPicPr>
          <p:cNvPr descr="image.png" id="344" name="Google Shape;34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1325" y="2907059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82050" y="2907059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Applications (Vision &amp; Speech)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2734"/>
            <a:ext cx="5334000" cy="2625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92734"/>
            <a:ext cx="5334000" cy="262503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 txBox="1"/>
          <p:nvPr/>
        </p:nvSpPr>
        <p:spPr>
          <a:xfrm>
            <a:off x="1033224" y="3602384"/>
            <a:ext cx="441055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Natural Language Processing (NLP)</a:t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866775" y="4202459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Machine translation (Google Translate), sentiment analysis, Q&amp;A systems (like ChatGPT).</a:t>
            </a:r>
            <a:endParaRPr/>
          </a:p>
        </p:txBody>
      </p:sp>
      <p:sp>
        <p:nvSpPr>
          <p:cNvPr id="356" name="Google Shape;356;p35"/>
          <p:cNvSpPr txBox="1"/>
          <p:nvPr/>
        </p:nvSpPr>
        <p:spPr>
          <a:xfrm>
            <a:off x="7273290" y="3602384"/>
            <a:ext cx="33604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Recommendation Systems</a:t>
            </a:r>
            <a:endParaRPr/>
          </a:p>
        </p:txBody>
      </p:sp>
      <p:sp>
        <p:nvSpPr>
          <p:cNvPr id="357" name="Google Shape;357;p35"/>
          <p:cNvSpPr txBox="1"/>
          <p:nvPr/>
        </p:nvSpPr>
        <p:spPr>
          <a:xfrm>
            <a:off x="6581775" y="4202459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Powering "what to watch next" on Netflix or "products you may like" on Amazon.</a:t>
            </a:r>
            <a:endParaRPr/>
          </a:p>
        </p:txBody>
      </p:sp>
      <p:pic>
        <p:nvPicPr>
          <p:cNvPr descr="image.png" id="358" name="Google Shape;35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0" y="290705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4900" y="290705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Applications (Text &amp; Other)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6" name="Google Shape;366;p36"/>
          <p:cNvGraphicFramePr/>
          <p:nvPr/>
        </p:nvGraphicFramePr>
        <p:xfrm>
          <a:off x="571500" y="20251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{8BB19E46-6B9D-429B-A579-E8B9D0B0185B}</a:tableStyleId>
              </a:tblPr>
              <a:tblGrid>
                <a:gridCol w="2425900"/>
                <a:gridCol w="3098450"/>
                <a:gridCol w="2558050"/>
                <a:gridCol w="2966600"/>
              </a:tblGrid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Output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Neural Network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 Estate (Price)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House features (sq ft, beds)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House Price ($)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Std NN (DNN)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Photo Tagging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Text (Tags)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Bounding box + Label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CNN (e.g., YOLO)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Speech Recognition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Text transcript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RNN / Transformer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English 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French 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RNN / Transformer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7" name="Google Shape;367;p36"/>
          <p:cNvSpPr/>
          <p:nvPr/>
        </p:nvSpPr>
        <p:spPr>
          <a:xfrm>
            <a:off x="571500" y="2637532"/>
            <a:ext cx="2425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2997398" y="2637532"/>
            <a:ext cx="3098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6095851" y="2637532"/>
            <a:ext cx="2558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8653908" y="2637532"/>
            <a:ext cx="2966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571500" y="3264247"/>
            <a:ext cx="2425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2997398" y="3264247"/>
            <a:ext cx="3098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6095851" y="3264247"/>
            <a:ext cx="2558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8653908" y="3264247"/>
            <a:ext cx="2966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571500" y="3890962"/>
            <a:ext cx="2425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2997398" y="3890962"/>
            <a:ext cx="3098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6095851" y="3890962"/>
            <a:ext cx="2558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8653908" y="3890962"/>
            <a:ext cx="2966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571500" y="4517677"/>
            <a:ext cx="2425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2997398" y="4517677"/>
            <a:ext cx="3098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6095851" y="4517677"/>
            <a:ext cx="2558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6"/>
          <p:cNvSpPr/>
          <p:nvPr/>
        </p:nvSpPr>
        <p:spPr>
          <a:xfrm>
            <a:off x="8653908" y="4517677"/>
            <a:ext cx="2966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571500" y="5144392"/>
            <a:ext cx="2425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2997398" y="5144392"/>
            <a:ext cx="3098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6095851" y="5144392"/>
            <a:ext cx="2558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8653908" y="5144392"/>
            <a:ext cx="2966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571500" y="5771108"/>
            <a:ext cx="2425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2997398" y="5771108"/>
            <a:ext cx="3098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6095851" y="5771108"/>
            <a:ext cx="2558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6"/>
          <p:cNvSpPr/>
          <p:nvPr/>
        </p:nvSpPr>
        <p:spPr>
          <a:xfrm>
            <a:off x="8653908" y="5771108"/>
            <a:ext cx="2966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Application Summary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7"/>
          <p:cNvSpPr txBox="1"/>
          <p:nvPr/>
        </p:nvSpPr>
        <p:spPr>
          <a:xfrm>
            <a:off x="295275" y="1936402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8: Key Components of a DL Problem</a:t>
            </a:r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5619750" y="4222402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7"/>
          <p:cNvSpPr txBox="1"/>
          <p:nvPr/>
        </p:nvSpPr>
        <p:spPr>
          <a:xfrm>
            <a:off x="4733925" y="4555777"/>
            <a:ext cx="27241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Four Pillars of Learning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8"/>
          <p:cNvSpPr txBox="1"/>
          <p:nvPr/>
        </p:nvSpPr>
        <p:spPr>
          <a:xfrm>
            <a:off x="1809750" y="236249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Core Components of a DL Problem</a:t>
            </a:r>
            <a:endParaRPr/>
          </a:p>
        </p:txBody>
      </p:sp>
      <p:sp>
        <p:nvSpPr>
          <p:cNvPr id="406" name="Google Shape;406;p38"/>
          <p:cNvSpPr txBox="1"/>
          <p:nvPr/>
        </p:nvSpPr>
        <p:spPr>
          <a:xfrm>
            <a:off x="2190750" y="301019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The Data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that we can learn from.</a:t>
            </a:r>
            <a:endParaRPr/>
          </a:p>
        </p:txBody>
      </p:sp>
      <p:sp>
        <p:nvSpPr>
          <p:cNvPr id="407" name="Google Shape;407;p38"/>
          <p:cNvSpPr txBox="1"/>
          <p:nvPr/>
        </p:nvSpPr>
        <p:spPr>
          <a:xfrm>
            <a:off x="2190750" y="353585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2.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 Model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how to transform the data.</a:t>
            </a:r>
            <a:endParaRPr/>
          </a:p>
        </p:txBody>
      </p:sp>
      <p:sp>
        <p:nvSpPr>
          <p:cNvPr id="408" name="Google Shape;408;p38"/>
          <p:cNvSpPr txBox="1"/>
          <p:nvPr/>
        </p:nvSpPr>
        <p:spPr>
          <a:xfrm>
            <a:off x="2190750" y="406151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3.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An Objective (Loss) Function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that quantifies how well the model is doing.</a:t>
            </a:r>
            <a:endParaRPr/>
          </a:p>
        </p:txBody>
      </p:sp>
      <p:sp>
        <p:nvSpPr>
          <p:cNvPr id="409" name="Google Shape;409;p38"/>
          <p:cNvSpPr txBox="1"/>
          <p:nvPr/>
        </p:nvSpPr>
        <p:spPr>
          <a:xfrm>
            <a:off x="2190750" y="458718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4.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 Learning (Optimization) Algorithm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to adjust the model's parameters to improve its performance.</a:t>
            </a:r>
            <a:endParaRPr/>
          </a:p>
        </p:txBody>
      </p:sp>
      <p:pic>
        <p:nvPicPr>
          <p:cNvPr descr="image.png" id="410" name="Google Shape;41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5782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8348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10914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63480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Four Components</a:t>
            </a:r>
            <a:endParaRPr/>
          </a:p>
        </p:txBody>
      </p:sp>
      <p:sp>
        <p:nvSpPr>
          <p:cNvPr id="415" name="Google Shape;415;p38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8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1" name="Google Shape;42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The Optimization Loop</a:t>
            </a:r>
            <a:endParaRPr/>
          </a:p>
        </p:txBody>
      </p:sp>
      <p:sp>
        <p:nvSpPr>
          <p:cNvPr id="424" name="Google Shape;424;p39"/>
          <p:cNvSpPr txBox="1"/>
          <p:nvPr/>
        </p:nvSpPr>
        <p:spPr>
          <a:xfrm>
            <a:off x="904875" y="26479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core pipeline of training a model.</a:t>
            </a:r>
            <a:endParaRPr/>
          </a:p>
        </p:txBody>
      </p:sp>
      <p:sp>
        <p:nvSpPr>
          <p:cNvPr id="425" name="Google Shape;425;p39"/>
          <p:cNvSpPr txBox="1"/>
          <p:nvPr/>
        </p:nvSpPr>
        <p:spPr>
          <a:xfrm>
            <a:off x="904875" y="30956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1. Model: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Makes a prediction (Forward pass).</a:t>
            </a:r>
            <a:endParaRPr/>
          </a:p>
        </p:txBody>
      </p:sp>
      <p:sp>
        <p:nvSpPr>
          <p:cNvPr id="426" name="Google Shape;426;p39"/>
          <p:cNvSpPr txBox="1"/>
          <p:nvPr/>
        </p:nvSpPr>
        <p:spPr>
          <a:xfrm>
            <a:off x="904875" y="3543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2. Loss: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Calculates the error of the prediction.</a:t>
            </a:r>
            <a:endParaRPr/>
          </a:p>
        </p:txBody>
      </p:sp>
      <p:sp>
        <p:nvSpPr>
          <p:cNvPr id="427" name="Google Shape;427;p39"/>
          <p:cNvSpPr txBox="1"/>
          <p:nvPr/>
        </p:nvSpPr>
        <p:spPr>
          <a:xfrm>
            <a:off x="904875" y="39909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3. Optimizer: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Calculates parameter updates (Backward pass).</a:t>
            </a:r>
            <a:endParaRPr/>
          </a:p>
        </p:txBody>
      </p:sp>
      <p:sp>
        <p:nvSpPr>
          <p:cNvPr id="428" name="Google Shape;428;p39"/>
          <p:cNvSpPr txBox="1"/>
          <p:nvPr/>
        </p:nvSpPr>
        <p:spPr>
          <a:xfrm>
            <a:off x="904875" y="47434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4. Update: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model's parameters are adjusted.</a:t>
            </a:r>
            <a:endParaRPr/>
          </a:p>
        </p:txBody>
      </p:sp>
      <p:sp>
        <p:nvSpPr>
          <p:cNvPr id="429" name="Google Shape;429;p39"/>
          <p:cNvSpPr txBox="1"/>
          <p:nvPr/>
        </p:nvSpPr>
        <p:spPr>
          <a:xfrm>
            <a:off x="904875" y="51911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loop is repeated many times.</a:t>
            </a:r>
            <a:endParaRPr/>
          </a:p>
        </p:txBody>
      </p:sp>
      <p:pic>
        <p:nvPicPr>
          <p:cNvPr descr="image.png" id="430" name="Google Shape;43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Learning Loop</a:t>
            </a:r>
            <a:endParaRPr/>
          </a:p>
        </p:txBody>
      </p:sp>
      <p:sp>
        <p:nvSpPr>
          <p:cNvPr id="432" name="Google Shape;432;p39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9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  <p:pic>
        <p:nvPicPr>
          <p:cNvPr descr="image.png" id="434" name="Google Shape;43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432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0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86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910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387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4" name="Google Shape;4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0"/>
          <p:cNvSpPr txBox="1"/>
          <p:nvPr/>
        </p:nvSpPr>
        <p:spPr>
          <a:xfrm>
            <a:off x="1000363" y="2388840"/>
            <a:ext cx="1019127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9: Component 1 - The Data</a:t>
            </a:r>
            <a:endParaRPr/>
          </a:p>
        </p:txBody>
      </p:sp>
      <p:sp>
        <p:nvSpPr>
          <p:cNvPr id="446" name="Google Shape;446;p40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 txBox="1"/>
          <p:nvPr/>
        </p:nvSpPr>
        <p:spPr>
          <a:xfrm>
            <a:off x="4581525" y="4103340"/>
            <a:ext cx="3028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Foundation of All Learning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2" name="Google Shape;45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1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Examples, Features, and Labels</a:t>
            </a:r>
            <a:endParaRPr/>
          </a:p>
        </p:txBody>
      </p:sp>
      <p:sp>
        <p:nvSpPr>
          <p:cNvPr id="454" name="Google Shape;454;p41"/>
          <p:cNvSpPr txBox="1"/>
          <p:nvPr/>
        </p:nvSpPr>
        <p:spPr>
          <a:xfrm>
            <a:off x="2190750" y="310544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Example (or Sample):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single data point (e.g., one email, one image, one house).</a:t>
            </a:r>
            <a:endParaRPr/>
          </a:p>
        </p:txBody>
      </p:sp>
      <p:sp>
        <p:nvSpPr>
          <p:cNvPr id="455" name="Google Shape;455;p41"/>
          <p:cNvSpPr txBox="1"/>
          <p:nvPr/>
        </p:nvSpPr>
        <p:spPr>
          <a:xfrm>
            <a:off x="2190750" y="3631108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Features (Covariates):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set of attributes used to make a prediction (e.g., square footage, number of bedrooms).</a:t>
            </a:r>
            <a:endParaRPr/>
          </a:p>
        </p:txBody>
      </p:sp>
      <p:sp>
        <p:nvSpPr>
          <p:cNvPr id="456" name="Google Shape;456;p41"/>
          <p:cNvSpPr txBox="1"/>
          <p:nvPr/>
        </p:nvSpPr>
        <p:spPr>
          <a:xfrm>
            <a:off x="2190750" y="449193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Label (or Target):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attribute to be predicted (e.g., "spam" or "not spam", the house price).</a:t>
            </a:r>
            <a:endParaRPr/>
          </a:p>
        </p:txBody>
      </p:sp>
      <p:pic>
        <p:nvPicPr>
          <p:cNvPr descr="image.png" id="457" name="Google Shape;45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7873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Data Terminology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5" name="Google Shape;4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6" name="Google Shape;466;p42"/>
          <p:cNvGraphicFramePr/>
          <p:nvPr/>
        </p:nvGraphicFramePr>
        <p:xfrm>
          <a:off x="571500" y="2338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{8BB19E46-6B9D-429B-A579-E8B9D0B0185B}</a:tableStyleId>
              </a:tblPr>
              <a:tblGrid>
                <a:gridCol w="1863025"/>
                <a:gridCol w="2638275"/>
                <a:gridCol w="2466075"/>
                <a:gridCol w="2078375"/>
                <a:gridCol w="2003225"/>
              </a:tblGrid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 (Example)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Bedrooms (Feature)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Location (Feature)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Sq Ft (Feature)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Price (Target)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Urban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350K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Suburban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280K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Urban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520K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310K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7" name="Google Shape;467;p42"/>
          <p:cNvSpPr/>
          <p:nvPr/>
        </p:nvSpPr>
        <p:spPr>
          <a:xfrm>
            <a:off x="571500" y="2950815"/>
            <a:ext cx="1863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2434530" y="2950815"/>
            <a:ext cx="2638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5072806" y="2950815"/>
            <a:ext cx="2466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2"/>
          <p:cNvSpPr/>
          <p:nvPr/>
        </p:nvSpPr>
        <p:spPr>
          <a:xfrm>
            <a:off x="7538888" y="2950815"/>
            <a:ext cx="2078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2"/>
          <p:cNvSpPr/>
          <p:nvPr/>
        </p:nvSpPr>
        <p:spPr>
          <a:xfrm>
            <a:off x="9617273" y="2950815"/>
            <a:ext cx="2003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2"/>
          <p:cNvSpPr/>
          <p:nvPr/>
        </p:nvSpPr>
        <p:spPr>
          <a:xfrm>
            <a:off x="571500" y="3577530"/>
            <a:ext cx="1863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2434530" y="3577530"/>
            <a:ext cx="2638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5072806" y="3577530"/>
            <a:ext cx="2466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7538888" y="3577530"/>
            <a:ext cx="2078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2"/>
          <p:cNvSpPr/>
          <p:nvPr/>
        </p:nvSpPr>
        <p:spPr>
          <a:xfrm>
            <a:off x="9617273" y="3577530"/>
            <a:ext cx="2003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2"/>
          <p:cNvSpPr/>
          <p:nvPr/>
        </p:nvSpPr>
        <p:spPr>
          <a:xfrm>
            <a:off x="571500" y="4204245"/>
            <a:ext cx="1863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2"/>
          <p:cNvSpPr/>
          <p:nvPr/>
        </p:nvSpPr>
        <p:spPr>
          <a:xfrm>
            <a:off x="2434530" y="4204245"/>
            <a:ext cx="2638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2"/>
          <p:cNvSpPr/>
          <p:nvPr/>
        </p:nvSpPr>
        <p:spPr>
          <a:xfrm>
            <a:off x="5072806" y="4204245"/>
            <a:ext cx="2466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7538888" y="4204245"/>
            <a:ext cx="2078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2"/>
          <p:cNvSpPr/>
          <p:nvPr/>
        </p:nvSpPr>
        <p:spPr>
          <a:xfrm>
            <a:off x="9617273" y="4204245"/>
            <a:ext cx="2003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2"/>
          <p:cNvSpPr/>
          <p:nvPr/>
        </p:nvSpPr>
        <p:spPr>
          <a:xfrm>
            <a:off x="571500" y="4830960"/>
            <a:ext cx="1863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2"/>
          <p:cNvSpPr/>
          <p:nvPr/>
        </p:nvSpPr>
        <p:spPr>
          <a:xfrm>
            <a:off x="2434530" y="4830960"/>
            <a:ext cx="2638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2"/>
          <p:cNvSpPr/>
          <p:nvPr/>
        </p:nvSpPr>
        <p:spPr>
          <a:xfrm>
            <a:off x="5072806" y="4830960"/>
            <a:ext cx="2466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2"/>
          <p:cNvSpPr/>
          <p:nvPr/>
        </p:nvSpPr>
        <p:spPr>
          <a:xfrm>
            <a:off x="7538888" y="4830960"/>
            <a:ext cx="2078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2"/>
          <p:cNvSpPr/>
          <p:nvPr/>
        </p:nvSpPr>
        <p:spPr>
          <a:xfrm>
            <a:off x="9617273" y="4830960"/>
            <a:ext cx="2003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571500" y="5457676"/>
            <a:ext cx="18630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2434530" y="5457676"/>
            <a:ext cx="26382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5072806" y="5457676"/>
            <a:ext cx="2466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2"/>
          <p:cNvSpPr/>
          <p:nvPr/>
        </p:nvSpPr>
        <p:spPr>
          <a:xfrm>
            <a:off x="7538888" y="5457676"/>
            <a:ext cx="2078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2"/>
          <p:cNvSpPr/>
          <p:nvPr/>
        </p:nvSpPr>
        <p:spPr>
          <a:xfrm>
            <a:off x="9617273" y="5457676"/>
            <a:ext cx="2003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Data Example: House Prices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7" name="Google Shape;49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3"/>
          <p:cNvSpPr txBox="1"/>
          <p:nvPr/>
        </p:nvSpPr>
        <p:spPr>
          <a:xfrm>
            <a:off x="1809750" y="22672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Dimensions: N and d</a:t>
            </a:r>
            <a:endParaRPr/>
          </a:p>
        </p:txBody>
      </p:sp>
      <p:sp>
        <p:nvSpPr>
          <p:cNvPr id="499" name="Google Shape;499;p43"/>
          <p:cNvSpPr txBox="1"/>
          <p:nvPr/>
        </p:nvSpPr>
        <p:spPr>
          <a:xfrm>
            <a:off x="2190750" y="291494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We often represent the dataset as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 = {X, t}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00" name="Google Shape;500;p43"/>
          <p:cNvSpPr txBox="1"/>
          <p:nvPr/>
        </p:nvSpPr>
        <p:spPr>
          <a:xfrm>
            <a:off x="2190750" y="34406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is the matrix of features.</a:t>
            </a:r>
            <a:endParaRPr/>
          </a:p>
        </p:txBody>
      </p:sp>
      <p:sp>
        <p:nvSpPr>
          <p:cNvPr id="501" name="Google Shape;501;p43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(or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) is the vector of labels (targets).</a:t>
            </a:r>
            <a:endParaRPr/>
          </a:p>
        </p:txBody>
      </p:sp>
      <p:sp>
        <p:nvSpPr>
          <p:cNvPr id="502" name="Google Shape;502;p43"/>
          <p:cNvSpPr txBox="1"/>
          <p:nvPr/>
        </p:nvSpPr>
        <p:spPr>
          <a:xfrm>
            <a:off x="2190750" y="44919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= Number of examples (rows in the table).</a:t>
            </a:r>
            <a:endParaRPr/>
          </a:p>
        </p:txBody>
      </p:sp>
      <p:sp>
        <p:nvSpPr>
          <p:cNvPr id="503" name="Google Shape;503;p43"/>
          <p:cNvSpPr txBox="1"/>
          <p:nvPr/>
        </p:nvSpPr>
        <p:spPr>
          <a:xfrm>
            <a:off x="2190750" y="50175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= Number of features (columns), also called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dimensionality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504" name="Google Shape;50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96257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8823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6" name="Google Shape;506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01389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7" name="Google Shape;507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53955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Formal Data Representation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3" name="Google Shape;51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4"/>
          <p:cNvSpPr txBox="1"/>
          <p:nvPr/>
        </p:nvSpPr>
        <p:spPr>
          <a:xfrm>
            <a:off x="595312" y="2388840"/>
            <a:ext cx="1100137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10: Component 2 - The Model</a:t>
            </a:r>
            <a:endParaRPr/>
          </a:p>
        </p:txBody>
      </p:sp>
      <p:sp>
        <p:nvSpPr>
          <p:cNvPr id="515" name="Google Shape;515;p44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4"/>
          <p:cNvSpPr txBox="1"/>
          <p:nvPr/>
        </p:nvSpPr>
        <p:spPr>
          <a:xfrm>
            <a:off x="4386262" y="4103340"/>
            <a:ext cx="3419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Machinery for Transformation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5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The "Computational Machinery"</a:t>
            </a:r>
            <a:endParaRPr/>
          </a:p>
        </p:txBody>
      </p:sp>
      <p:sp>
        <p:nvSpPr>
          <p:cNvPr id="523" name="Google Shape;523;p45"/>
          <p:cNvSpPr txBox="1"/>
          <p:nvPr/>
        </p:nvSpPr>
        <p:spPr>
          <a:xfrm>
            <a:off x="2190750" y="3105447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model denotes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computational machinery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for ingesting data and making predictions.</a:t>
            </a:r>
            <a:endParaRPr/>
          </a:p>
        </p:txBody>
      </p:sp>
      <p:sp>
        <p:nvSpPr>
          <p:cNvPr id="524" name="Google Shape;524;p45"/>
          <p:cNvSpPr txBox="1"/>
          <p:nvPr/>
        </p:nvSpPr>
        <p:spPr>
          <a:xfrm>
            <a:off x="2190750" y="396626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Deep learning models consist of many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successive transformations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(layers) chained together.</a:t>
            </a:r>
            <a:endParaRPr/>
          </a:p>
        </p:txBody>
      </p:sp>
      <p:sp>
        <p:nvSpPr>
          <p:cNvPr id="525" name="Google Shape;525;p45"/>
          <p:cNvSpPr txBox="1"/>
          <p:nvPr/>
        </p:nvSpPr>
        <p:spPr>
          <a:xfrm>
            <a:off x="2190750" y="48270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Its goal is to learn a function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f(X)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that accurately predicts the target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526" name="Google Shape;52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7" name="Google Shape;52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8" name="Google Shape;528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7471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What is a Model?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4" name="Google Shape;5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5" name="Google Shape;53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6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A Simple Transformation</a:t>
            </a:r>
            <a:endParaRPr/>
          </a:p>
        </p:txBody>
      </p:sp>
      <p:sp>
        <p:nvSpPr>
          <p:cNvPr id="537" name="Google Shape;537;p46"/>
          <p:cNvSpPr txBox="1"/>
          <p:nvPr/>
        </p:nvSpPr>
        <p:spPr>
          <a:xfrm>
            <a:off x="904875" y="26479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An audio snippet (represented as numerical features).</a:t>
            </a:r>
            <a:endParaRPr/>
          </a:p>
        </p:txBody>
      </p:sp>
      <p:sp>
        <p:nvSpPr>
          <p:cNvPr id="538" name="Google Shape;538;p46"/>
          <p:cNvSpPr txBox="1"/>
          <p:nvPr/>
        </p:nvSpPr>
        <p:spPr>
          <a:xfrm>
            <a:off x="904875" y="30956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trained neural network.</a:t>
            </a:r>
            <a:endParaRPr/>
          </a:p>
        </p:txBody>
      </p:sp>
      <p:sp>
        <p:nvSpPr>
          <p:cNvPr id="539" name="Google Shape;539;p46"/>
          <p:cNvSpPr txBox="1"/>
          <p:nvPr/>
        </p:nvSpPr>
        <p:spPr>
          <a:xfrm>
            <a:off x="904875" y="35433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prediction from the set {yes, no}.</a:t>
            </a:r>
            <a:endParaRPr/>
          </a:p>
        </p:txBody>
      </p:sp>
      <p:sp>
        <p:nvSpPr>
          <p:cNvPr id="540" name="Google Shape;540;p46"/>
          <p:cNvSpPr txBox="1"/>
          <p:nvPr/>
        </p:nvSpPr>
        <p:spPr>
          <a:xfrm>
            <a:off x="904875" y="39909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model *transforms* the audio data into a simple binary choice.</a:t>
            </a:r>
            <a:endParaRPr/>
          </a:p>
        </p:txBody>
      </p:sp>
      <p:pic>
        <p:nvPicPr>
          <p:cNvPr descr="image.png" id="541" name="Google Shape;54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Example: Wake Word Model</a:t>
            </a:r>
            <a:endParaRPr/>
          </a:p>
        </p:txBody>
      </p:sp>
      <p:pic>
        <p:nvPicPr>
          <p:cNvPr descr="image.png" id="543" name="Google Shape;543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4" name="Google Shape;544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432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5" name="Google Shape;545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0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6" name="Google Shape;54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86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1" name="Google Shape;55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7"/>
          <p:cNvSpPr txBox="1"/>
          <p:nvPr/>
        </p:nvSpPr>
        <p:spPr>
          <a:xfrm>
            <a:off x="295275" y="1936402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11: Component 3 - The Objective Function</a:t>
            </a:r>
            <a:endParaRPr/>
          </a:p>
        </p:txBody>
      </p:sp>
      <p:sp>
        <p:nvSpPr>
          <p:cNvPr id="553" name="Google Shape;553;p47"/>
          <p:cNvSpPr/>
          <p:nvPr/>
        </p:nvSpPr>
        <p:spPr>
          <a:xfrm>
            <a:off x="5619750" y="4222402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7"/>
          <p:cNvSpPr txBox="1"/>
          <p:nvPr/>
        </p:nvSpPr>
        <p:spPr>
          <a:xfrm>
            <a:off x="4576762" y="4555777"/>
            <a:ext cx="3038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Measuring Success and Failure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9" name="Google Shape;55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8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What is an Objective Function?</a:t>
            </a:r>
            <a:endParaRPr/>
          </a:p>
        </p:txBody>
      </p:sp>
      <p:sp>
        <p:nvSpPr>
          <p:cNvPr id="561" name="Google Shape;561;p48"/>
          <p:cNvSpPr txBox="1"/>
          <p:nvPr/>
        </p:nvSpPr>
        <p:spPr>
          <a:xfrm>
            <a:off x="2190750" y="327302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formal measure to denote how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good (or bad)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mathematical model is.</a:t>
            </a:r>
            <a:endParaRPr/>
          </a:p>
        </p:txBody>
      </p:sp>
      <p:sp>
        <p:nvSpPr>
          <p:cNvPr id="562" name="Google Shape;562;p48"/>
          <p:cNvSpPr txBox="1"/>
          <p:nvPr/>
        </p:nvSpPr>
        <p:spPr>
          <a:xfrm>
            <a:off x="2190750" y="379868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"Learning" is the process of trying to make this function score "better".</a:t>
            </a:r>
            <a:endParaRPr/>
          </a:p>
        </p:txBody>
      </p:sp>
      <p:sp>
        <p:nvSpPr>
          <p:cNvPr id="563" name="Google Shape;563;p48"/>
          <p:cNvSpPr txBox="1"/>
          <p:nvPr/>
        </p:nvSpPr>
        <p:spPr>
          <a:xfrm>
            <a:off x="2190750" y="432435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takes the model's predictions (y_hat) and the true labels (y) and calculates a single number.</a:t>
            </a:r>
            <a:endParaRPr/>
          </a:p>
        </p:txBody>
      </p:sp>
      <p:pic>
        <p:nvPicPr>
          <p:cNvPr descr="image.png" id="564" name="Google Shape;56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5" name="Google Shape;56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46314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7197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Purpose of the Objective Function</a:t>
            </a:r>
            <a:endParaRPr/>
          </a:p>
        </p:txBody>
      </p:sp>
      <p:sp>
        <p:nvSpPr>
          <p:cNvPr id="568" name="Google Shape;568;p48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8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4" name="Google Shape;57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9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Lower is Better</a:t>
            </a:r>
            <a:endParaRPr/>
          </a:p>
        </p:txBody>
      </p:sp>
      <p:sp>
        <p:nvSpPr>
          <p:cNvPr id="576" name="Google Shape;576;p49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By convention, objective functions are defined so that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lower is better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77" name="Google Shape;577;p49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Because lower is better, they are often called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Loss Functions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78" name="Google Shape;578;p49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goal of learning is to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minimize the loss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79" name="Google Shape;579;p49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high loss means the model is bad; a low loss means the model is good.</a:t>
            </a:r>
            <a:endParaRPr/>
          </a:p>
        </p:txBody>
      </p:sp>
      <p:pic>
        <p:nvPicPr>
          <p:cNvPr descr="image.png" id="580" name="Google Shape;58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1" name="Google Shape;58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2" name="Google Shape;582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3" name="Google Shape;583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Loss Function: Lower is Better</a:t>
            </a:r>
            <a:endParaRPr/>
          </a:p>
        </p:txBody>
      </p:sp>
      <p:sp>
        <p:nvSpPr>
          <p:cNvPr id="585" name="Google Shape;585;p49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9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1" name="Google Shape;59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0"/>
          <p:cNvSpPr txBox="1"/>
          <p:nvPr/>
        </p:nvSpPr>
        <p:spPr>
          <a:xfrm>
            <a:off x="295275" y="1936402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12: Component 4 - The Learning Algorithm</a:t>
            </a:r>
            <a:endParaRPr/>
          </a:p>
        </p:txBody>
      </p:sp>
      <p:sp>
        <p:nvSpPr>
          <p:cNvPr id="593" name="Google Shape;593;p50"/>
          <p:cNvSpPr/>
          <p:nvPr/>
        </p:nvSpPr>
        <p:spPr>
          <a:xfrm>
            <a:off x="5619750" y="4222402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50"/>
          <p:cNvSpPr txBox="1"/>
          <p:nvPr/>
        </p:nvSpPr>
        <p:spPr>
          <a:xfrm>
            <a:off x="4838700" y="4555777"/>
            <a:ext cx="2514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How the Model Improves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9" name="Google Shape;59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1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The Search for Best Parameters</a:t>
            </a:r>
            <a:endParaRPr/>
          </a:p>
        </p:txBody>
      </p:sp>
      <p:sp>
        <p:nvSpPr>
          <p:cNvPr id="601" name="Google Shape;601;p51"/>
          <p:cNvSpPr txBox="1"/>
          <p:nvPr/>
        </p:nvSpPr>
        <p:spPr>
          <a:xfrm>
            <a:off x="2190750" y="3273028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An algorithm capable of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searching for the best possible parameters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to minimize the loss function.</a:t>
            </a:r>
            <a:endParaRPr/>
          </a:p>
        </p:txBody>
      </p:sp>
      <p:sp>
        <p:nvSpPr>
          <p:cNvPr id="602" name="Google Shape;602;p51"/>
          <p:cNvSpPr txBox="1"/>
          <p:nvPr/>
        </p:nvSpPr>
        <p:spPr>
          <a:xfrm>
            <a:off x="2190750" y="413385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It's the mechanism that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adjusts the model's parameters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(weights) based on the data.</a:t>
            </a:r>
            <a:endParaRPr/>
          </a:p>
        </p:txBody>
      </p:sp>
      <p:sp>
        <p:nvSpPr>
          <p:cNvPr id="603" name="Google Shape;603;p51"/>
          <p:cNvSpPr txBox="1"/>
          <p:nvPr/>
        </p:nvSpPr>
        <p:spPr>
          <a:xfrm>
            <a:off x="2190750" y="465951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"optimizer" part of the training loop.</a:t>
            </a:r>
            <a:endParaRPr/>
          </a:p>
        </p:txBody>
      </p:sp>
      <p:pic>
        <p:nvPicPr>
          <p:cNvPr descr="image.png" id="604" name="Google Shape;60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5" name="Google Shape;605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1814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6" name="Google Shape;606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0713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5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What is a Learning Algorithm?</a:t>
            </a:r>
            <a:endParaRPr/>
          </a:p>
        </p:txBody>
      </p:sp>
      <p:sp>
        <p:nvSpPr>
          <p:cNvPr id="608" name="Google Shape;608;p51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1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4" name="Google Shape;61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2"/>
          <p:cNvSpPr txBox="1"/>
          <p:nvPr/>
        </p:nvSpPr>
        <p:spPr>
          <a:xfrm>
            <a:off x="1809750" y="236249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Gradient Descent</a:t>
            </a:r>
            <a:endParaRPr/>
          </a:p>
        </p:txBody>
      </p:sp>
      <p:sp>
        <p:nvSpPr>
          <p:cNvPr id="616" name="Google Shape;616;p52"/>
          <p:cNvSpPr txBox="1"/>
          <p:nvPr/>
        </p:nvSpPr>
        <p:spPr>
          <a:xfrm>
            <a:off x="2190750" y="301019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most popular algorithm for deep learning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gradient descent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617" name="Google Shape;617;p52"/>
          <p:cNvSpPr txBox="1"/>
          <p:nvPr/>
        </p:nvSpPr>
        <p:spPr>
          <a:xfrm>
            <a:off x="2190750" y="3535858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uses calculus (specifically, the gradient) to find which way to "nudge" each parameter to reduce the loss.</a:t>
            </a:r>
            <a:endParaRPr/>
          </a:p>
        </p:txBody>
      </p:sp>
      <p:sp>
        <p:nvSpPr>
          <p:cNvPr id="618" name="Google Shape;618;p52"/>
          <p:cNvSpPr txBox="1"/>
          <p:nvPr/>
        </p:nvSpPr>
        <p:spPr>
          <a:xfrm>
            <a:off x="2190750" y="439668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"descends" the "gradient" of the loss landscape towards a minimum.</a:t>
            </a:r>
            <a:endParaRPr/>
          </a:p>
        </p:txBody>
      </p:sp>
      <p:sp>
        <p:nvSpPr>
          <p:cNvPr id="619" name="Google Shape;619;p52"/>
          <p:cNvSpPr txBox="1"/>
          <p:nvPr/>
        </p:nvSpPr>
        <p:spPr>
          <a:xfrm>
            <a:off x="2190750" y="492234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main learning algorithm you will use in your assignment.</a:t>
            </a:r>
            <a:endParaRPr/>
          </a:p>
        </p:txBody>
      </p:sp>
      <p:pic>
        <p:nvPicPr>
          <p:cNvPr descr="image.png" id="620" name="Google Shape;62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5782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1" name="Google Shape;621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8348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2" name="Google Shape;622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44430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3" name="Google Shape;623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96996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5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King: Gradient Descent</a:t>
            </a:r>
            <a:endParaRPr/>
          </a:p>
        </p:txBody>
      </p:sp>
      <p:sp>
        <p:nvSpPr>
          <p:cNvPr id="625" name="Google Shape;625;p52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2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1" name="Google Shape;63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3"/>
          <p:cNvSpPr txBox="1"/>
          <p:nvPr/>
        </p:nvSpPr>
        <p:spPr>
          <a:xfrm>
            <a:off x="965358" y="2388840"/>
            <a:ext cx="1026128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13: A Complete Framework</a:t>
            </a:r>
            <a:endParaRPr/>
          </a:p>
        </p:txBody>
      </p:sp>
      <p:sp>
        <p:nvSpPr>
          <p:cNvPr id="633" name="Google Shape;633;p53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3"/>
          <p:cNvSpPr txBox="1"/>
          <p:nvPr/>
        </p:nvSpPr>
        <p:spPr>
          <a:xfrm>
            <a:off x="4338637" y="4103340"/>
            <a:ext cx="35147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Example: The Wake-Word Problem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9" name="Google Shape;63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4"/>
          <p:cNvSpPr txBox="1"/>
          <p:nvPr/>
        </p:nvSpPr>
        <p:spPr>
          <a:xfrm>
            <a:off x="1809750" y="2027336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Steps for Wake-Word Problem</a:t>
            </a:r>
            <a:endParaRPr/>
          </a:p>
        </p:txBody>
      </p:sp>
      <p:sp>
        <p:nvSpPr>
          <p:cNvPr id="641" name="Google Shape;641;p54"/>
          <p:cNvSpPr txBox="1"/>
          <p:nvPr/>
        </p:nvSpPr>
        <p:spPr>
          <a:xfrm>
            <a:off x="2190750" y="2675036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1. Define the Problem: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Map audio snippets to a {yes, no} label.</a:t>
            </a:r>
            <a:endParaRPr/>
          </a:p>
        </p:txBody>
      </p:sp>
      <p:sp>
        <p:nvSpPr>
          <p:cNvPr id="642" name="Google Shape;642;p54"/>
          <p:cNvSpPr txBox="1"/>
          <p:nvPr/>
        </p:nvSpPr>
        <p:spPr>
          <a:xfrm>
            <a:off x="2190750" y="3200697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2. Collect Data: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Gather a huge dataset of audio. Label each example as "yes" or "no". (This is Component 1).</a:t>
            </a:r>
            <a:endParaRPr/>
          </a:p>
        </p:txBody>
      </p:sp>
      <p:sp>
        <p:nvSpPr>
          <p:cNvPr id="643" name="Google Shape;643;p54"/>
          <p:cNvSpPr txBox="1"/>
          <p:nvPr/>
        </p:nvSpPr>
        <p:spPr>
          <a:xfrm>
            <a:off x="2190750" y="406151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3. Choose a Model Family: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Decide on the model's structure (e.g., a specific neural network). (This is Component 2).</a:t>
            </a:r>
            <a:endParaRPr/>
          </a:p>
        </p:txBody>
      </p:sp>
      <p:sp>
        <p:nvSpPr>
          <p:cNvPr id="644" name="Google Shape;644;p54"/>
          <p:cNvSpPr txBox="1"/>
          <p:nvPr/>
        </p:nvSpPr>
        <p:spPr>
          <a:xfrm>
            <a:off x="2190750" y="4922341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4. Train the Model: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Use the data, a loss function (Comp 3), and gradient descent (Comp 4) to find the best parameters.</a:t>
            </a:r>
            <a:endParaRPr/>
          </a:p>
        </p:txBody>
      </p:sp>
      <p:pic>
        <p:nvPicPr>
          <p:cNvPr descr="image.png" id="645" name="Google Shape;64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72266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6" name="Google Shape;646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24832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7" name="Google Shape;647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10914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8" name="Google Shape;648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96996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Steps to Build a DL Solution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4" name="Google Shape;65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5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Start with Parameters</a:t>
            </a:r>
            <a:endParaRPr/>
          </a:p>
        </p:txBody>
      </p:sp>
      <p:sp>
        <p:nvSpPr>
          <p:cNvPr id="656" name="Google Shape;656;p55"/>
          <p:cNvSpPr txBox="1"/>
          <p:nvPr/>
        </p:nvSpPr>
        <p:spPr>
          <a:xfrm>
            <a:off x="2190750" y="3105447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We start with a program whose behavior is determined by a number of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parameters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(e.g., weights).</a:t>
            </a:r>
            <a:endParaRPr/>
          </a:p>
        </p:txBody>
      </p:sp>
      <p:sp>
        <p:nvSpPr>
          <p:cNvPr id="657" name="Google Shape;657;p55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Initially, these parameters might be set randomly.</a:t>
            </a:r>
            <a:endParaRPr/>
          </a:p>
        </p:txBody>
      </p:sp>
      <p:sp>
        <p:nvSpPr>
          <p:cNvPr id="658" name="Google Shape;658;p55"/>
          <p:cNvSpPr txBox="1"/>
          <p:nvPr/>
        </p:nvSpPr>
        <p:spPr>
          <a:xfrm>
            <a:off x="2190750" y="449193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We then use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to adjust these parameters to improve the model's performance on our task.</a:t>
            </a:r>
            <a:endParaRPr/>
          </a:p>
        </p:txBody>
      </p:sp>
      <p:pic>
        <p:nvPicPr>
          <p:cNvPr descr="image.png" id="659" name="Google Shape;65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0" name="Google Shape;660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1" name="Google Shape;661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How to Create a Model?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7" name="Google Shape;66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56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The Set of All Possibilities</a:t>
            </a:r>
            <a:endParaRPr/>
          </a:p>
        </p:txBody>
      </p:sp>
      <p:sp>
        <p:nvSpPr>
          <p:cNvPr id="669" name="Google Shape;669;p56"/>
          <p:cNvSpPr txBox="1"/>
          <p:nvPr/>
        </p:nvSpPr>
        <p:spPr>
          <a:xfrm>
            <a:off x="2190750" y="3105447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family of models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is the set of all distinct programs (input-output mappings) that we can produce just by manipulating the parameters.</a:t>
            </a:r>
            <a:endParaRPr/>
          </a:p>
        </p:txBody>
      </p:sp>
      <p:sp>
        <p:nvSpPr>
          <p:cNvPr id="670" name="Google Shape;670;p56"/>
          <p:cNvSpPr txBox="1"/>
          <p:nvPr/>
        </p:nvSpPr>
        <p:spPr>
          <a:xfrm>
            <a:off x="2190750" y="396626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single model *family* (e.g., a specific network architecture) can be used to solve similar tasks.</a:t>
            </a:r>
            <a:endParaRPr/>
          </a:p>
        </p:txBody>
      </p:sp>
      <p:sp>
        <p:nvSpPr>
          <p:cNvPr id="671" name="Google Shape;671;p56"/>
          <p:cNvSpPr txBox="1"/>
          <p:nvPr/>
        </p:nvSpPr>
        <p:spPr>
          <a:xfrm>
            <a:off x="2190750" y="48270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For example, the same model family could be trained to recognize "Alexa" or "Hey Siri".</a:t>
            </a:r>
            <a:endParaRPr/>
          </a:p>
        </p:txBody>
      </p:sp>
      <p:pic>
        <p:nvPicPr>
          <p:cNvPr descr="image.png" id="672" name="Google Shape;67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3" name="Google Shape;67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4" name="Google Shape;674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7471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Model Family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0" name="Google Shape;68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1" name="Google Shape;681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7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The Training Process</a:t>
            </a:r>
            <a:endParaRPr/>
          </a:p>
        </p:txBody>
      </p:sp>
      <p:sp>
        <p:nvSpPr>
          <p:cNvPr id="683" name="Google Shape;683;p57"/>
          <p:cNvSpPr txBox="1"/>
          <p:nvPr/>
        </p:nvSpPr>
        <p:spPr>
          <a:xfrm>
            <a:off x="904875" y="2647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"Training" is the process of </a:t>
            </a: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fitting the parameters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using data.</a:t>
            </a:r>
            <a:endParaRPr/>
          </a:p>
        </p:txBody>
      </p:sp>
      <p:sp>
        <p:nvSpPr>
          <p:cNvPr id="684" name="Google Shape;684;p57"/>
          <p:cNvSpPr txBox="1"/>
          <p:nvPr/>
        </p:nvSpPr>
        <p:spPr>
          <a:xfrm>
            <a:off x="904875" y="34004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We use the learning algorithm to find the best set of parameters that minimizes the loss function.</a:t>
            </a:r>
            <a:endParaRPr/>
          </a:p>
        </p:txBody>
      </p:sp>
      <p:sp>
        <p:nvSpPr>
          <p:cNvPr id="685" name="Google Shape;685;p57"/>
          <p:cNvSpPr txBox="1"/>
          <p:nvPr/>
        </p:nvSpPr>
        <p:spPr>
          <a:xfrm>
            <a:off x="904875" y="4152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iterative "loop" we saw earlier.</a:t>
            </a:r>
            <a:endParaRPr/>
          </a:p>
        </p:txBody>
      </p:sp>
      <p:pic>
        <p:nvPicPr>
          <p:cNvPr descr="image.png" id="686" name="Google Shape;686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How to Train a Model?</a:t>
            </a:r>
            <a:endParaRPr/>
          </a:p>
        </p:txBody>
      </p:sp>
      <p:pic>
        <p:nvPicPr>
          <p:cNvPr descr="image.png" id="688" name="Google Shape;688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9" name="Google Shape;689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80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0" name="Google Shape;690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05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5" name="Google Shape;69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58"/>
          <p:cNvSpPr txBox="1"/>
          <p:nvPr/>
        </p:nvSpPr>
        <p:spPr>
          <a:xfrm>
            <a:off x="1809750" y="279290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The Final Product</a:t>
            </a:r>
            <a:endParaRPr/>
          </a:p>
        </p:txBody>
      </p:sp>
      <p:sp>
        <p:nvSpPr>
          <p:cNvPr id="697" name="Google Shape;697;p58"/>
          <p:cNvSpPr txBox="1"/>
          <p:nvPr/>
        </p:nvSpPr>
        <p:spPr>
          <a:xfrm>
            <a:off x="2190750" y="34406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Once the parameters are finalized (i.e., we stop training), we call the program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698" name="Google Shape;698;p58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final model is what is deployed for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prediction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(also called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inference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sp>
        <p:nvSpPr>
          <p:cNvPr id="699" name="Google Shape;699;p58"/>
          <p:cNvSpPr txBox="1"/>
          <p:nvPr/>
        </p:nvSpPr>
        <p:spPr>
          <a:xfrm>
            <a:off x="2190750" y="44919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model that runs inside your phone or smart speaker.</a:t>
            </a:r>
            <a:endParaRPr/>
          </a:p>
        </p:txBody>
      </p:sp>
      <p:pic>
        <p:nvPicPr>
          <p:cNvPr descr="image.png" id="700" name="Google Shape;700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882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1" name="Google Shape;70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2" name="Google Shape;70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Final Model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8" name="Google Shape;70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59"/>
          <p:cNvSpPr txBox="1"/>
          <p:nvPr/>
        </p:nvSpPr>
        <p:spPr>
          <a:xfrm>
            <a:off x="1405413" y="2388840"/>
            <a:ext cx="938117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14: Kinds of DL Problems</a:t>
            </a:r>
            <a:endParaRPr/>
          </a:p>
        </p:txBody>
      </p:sp>
      <p:sp>
        <p:nvSpPr>
          <p:cNvPr id="710" name="Google Shape;710;p59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9"/>
          <p:cNvSpPr txBox="1"/>
          <p:nvPr/>
        </p:nvSpPr>
        <p:spPr>
          <a:xfrm>
            <a:off x="3810000" y="4103340"/>
            <a:ext cx="4572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Supervised, Unsupervised, and Reinforcement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6" name="Google Shape;71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7" name="Google Shape;71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8827"/>
            <a:ext cx="3429000" cy="3232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8" name="Google Shape;718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88827"/>
            <a:ext cx="3429000" cy="3232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9" name="Google Shape;719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88827"/>
            <a:ext cx="3429000" cy="3232695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60"/>
          <p:cNvSpPr txBox="1"/>
          <p:nvPr/>
        </p:nvSpPr>
        <p:spPr>
          <a:xfrm>
            <a:off x="1020841" y="3298477"/>
            <a:ext cx="25303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Supervised Learning</a:t>
            </a:r>
            <a:endParaRPr/>
          </a:p>
        </p:txBody>
      </p:sp>
      <p:sp>
        <p:nvSpPr>
          <p:cNvPr id="721" name="Google Shape;721;p60"/>
          <p:cNvSpPr txBox="1"/>
          <p:nvPr/>
        </p:nvSpPr>
        <p:spPr>
          <a:xfrm>
            <a:off x="866775" y="3898552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Learning from data that has </a:t>
            </a: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labeled examples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(features + correct answers). This is the focus of our course.</a:t>
            </a:r>
            <a:endParaRPr/>
          </a:p>
        </p:txBody>
      </p:sp>
      <p:sp>
        <p:nvSpPr>
          <p:cNvPr id="722" name="Google Shape;722;p60"/>
          <p:cNvSpPr txBox="1"/>
          <p:nvPr/>
        </p:nvSpPr>
        <p:spPr>
          <a:xfrm>
            <a:off x="4675822" y="3298477"/>
            <a:ext cx="28403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  <a:endParaRPr/>
          </a:p>
        </p:txBody>
      </p:sp>
      <p:sp>
        <p:nvSpPr>
          <p:cNvPr id="723" name="Google Shape;723;p60"/>
          <p:cNvSpPr txBox="1"/>
          <p:nvPr/>
        </p:nvSpPr>
        <p:spPr>
          <a:xfrm>
            <a:off x="4676775" y="3898552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Learning from </a:t>
            </a: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unlabeled data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 The goal is to find hidden structures (e.g., clustering).</a:t>
            </a:r>
            <a:endParaRPr/>
          </a:p>
        </p:txBody>
      </p:sp>
      <p:sp>
        <p:nvSpPr>
          <p:cNvPr id="724" name="Google Shape;724;p60"/>
          <p:cNvSpPr txBox="1"/>
          <p:nvPr/>
        </p:nvSpPr>
        <p:spPr>
          <a:xfrm>
            <a:off x="8415813" y="3298477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Reinforcement Learning</a:t>
            </a:r>
            <a:endParaRPr/>
          </a:p>
        </p:txBody>
      </p:sp>
      <p:sp>
        <p:nvSpPr>
          <p:cNvPr id="725" name="Google Shape;725;p60"/>
          <p:cNvSpPr txBox="1"/>
          <p:nvPr/>
        </p:nvSpPr>
        <p:spPr>
          <a:xfrm>
            <a:off x="8486775" y="4231927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Learning by interacting with an </a:t>
            </a: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environment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 An "agent" learns to take actions to maximize a </a:t>
            </a: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reward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726" name="Google Shape;726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6031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7" name="Google Shape;727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6031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8" name="Google Shape;728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60315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6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Three Kinds of Learning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34" name="Google Shape;73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61"/>
          <p:cNvSpPr txBox="1"/>
          <p:nvPr/>
        </p:nvSpPr>
        <p:spPr>
          <a:xfrm>
            <a:off x="1455419" y="2388840"/>
            <a:ext cx="928116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15: Supervised Learning</a:t>
            </a:r>
            <a:endParaRPr/>
          </a:p>
        </p:txBody>
      </p:sp>
      <p:sp>
        <p:nvSpPr>
          <p:cNvPr id="736" name="Google Shape;736;p61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1"/>
          <p:cNvSpPr txBox="1"/>
          <p:nvPr/>
        </p:nvSpPr>
        <p:spPr>
          <a:xfrm>
            <a:off x="4481512" y="4103340"/>
            <a:ext cx="3228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Learning from Labeled Examples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2" name="Google Shape;74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3" name="Google Shape;74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62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The Supervised Pipeline</a:t>
            </a:r>
            <a:endParaRPr/>
          </a:p>
        </p:txBody>
      </p:sp>
      <p:sp>
        <p:nvSpPr>
          <p:cNvPr id="745" name="Google Shape;745;p62"/>
          <p:cNvSpPr txBox="1"/>
          <p:nvPr/>
        </p:nvSpPr>
        <p:spPr>
          <a:xfrm>
            <a:off x="904875" y="26479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most common type of machine learning.</a:t>
            </a:r>
            <a:endParaRPr/>
          </a:p>
        </p:txBody>
      </p:sp>
      <p:sp>
        <p:nvSpPr>
          <p:cNvPr id="746" name="Google Shape;746;p62"/>
          <p:cNvSpPr txBox="1"/>
          <p:nvPr/>
        </p:nvSpPr>
        <p:spPr>
          <a:xfrm>
            <a:off x="904875" y="30956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dataset consists of </a:t>
            </a: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feature-label pairs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747" name="Google Shape;747;p62"/>
          <p:cNvSpPr txBox="1"/>
          <p:nvPr/>
        </p:nvSpPr>
        <p:spPr>
          <a:xfrm>
            <a:off x="904875" y="35433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"supervision" comes from providing the model with the correct answers (labels).</a:t>
            </a:r>
            <a:endParaRPr/>
          </a:p>
        </p:txBody>
      </p:sp>
      <p:sp>
        <p:nvSpPr>
          <p:cNvPr id="748" name="Google Shape;748;p62"/>
          <p:cNvSpPr txBox="1"/>
          <p:nvPr/>
        </p:nvSpPr>
        <p:spPr>
          <a:xfrm>
            <a:off x="904875" y="42957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goal is to produce a model that </a:t>
            </a: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predicts the label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for new, unseen inputs.</a:t>
            </a:r>
            <a:endParaRPr/>
          </a:p>
        </p:txBody>
      </p:sp>
      <p:pic>
        <p:nvPicPr>
          <p:cNvPr descr="image.png" id="749" name="Google Shape;749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6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Supervised Workflow</a:t>
            </a:r>
            <a:endParaRPr/>
          </a:p>
        </p:txBody>
      </p:sp>
      <p:pic>
        <p:nvPicPr>
          <p:cNvPr descr="image.png" id="751" name="Google Shape;751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2" name="Google Shape;752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432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3" name="Google Shape;753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0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4" name="Google Shape;754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434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9" name="Google Shape;75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3"/>
          <p:cNvSpPr txBox="1"/>
          <p:nvPr/>
        </p:nvSpPr>
        <p:spPr>
          <a:xfrm>
            <a:off x="1809750" y="22672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Regression</a:t>
            </a:r>
            <a:endParaRPr/>
          </a:p>
        </p:txBody>
      </p:sp>
      <p:sp>
        <p:nvSpPr>
          <p:cNvPr id="761" name="Google Shape;761;p63"/>
          <p:cNvSpPr txBox="1"/>
          <p:nvPr/>
        </p:nvSpPr>
        <p:spPr>
          <a:xfrm>
            <a:off x="2190750" y="291494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goal is to predict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continuous numerical value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762" name="Google Shape;762;p63"/>
          <p:cNvSpPr txBox="1"/>
          <p:nvPr/>
        </p:nvSpPr>
        <p:spPr>
          <a:xfrm>
            <a:off x="2190750" y="34406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answers the question "how much?" or "how many?".</a:t>
            </a:r>
            <a:endParaRPr/>
          </a:p>
        </p:txBody>
      </p:sp>
      <p:sp>
        <p:nvSpPr>
          <p:cNvPr id="763" name="Google Shape;763;p63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Predicting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price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a house (a number, e.g., $350,000).</a:t>
            </a:r>
            <a:endParaRPr/>
          </a:p>
        </p:txBody>
      </p:sp>
      <p:sp>
        <p:nvSpPr>
          <p:cNvPr id="764" name="Google Shape;764;p63"/>
          <p:cNvSpPr txBox="1"/>
          <p:nvPr/>
        </p:nvSpPr>
        <p:spPr>
          <a:xfrm>
            <a:off x="2190750" y="44919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Predicting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temperature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tomorrow (a number, e.g., 25.5°C).</a:t>
            </a:r>
            <a:endParaRPr/>
          </a:p>
        </p:txBody>
      </p:sp>
      <p:sp>
        <p:nvSpPr>
          <p:cNvPr id="765" name="Google Shape;765;p63"/>
          <p:cNvSpPr txBox="1"/>
          <p:nvPr/>
        </p:nvSpPr>
        <p:spPr>
          <a:xfrm>
            <a:off x="2190750" y="50175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Your assignment includes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Linear Regression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766" name="Google Shape;76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96257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7" name="Google Shape;767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8823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8" name="Google Shape;768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013894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9" name="Google Shape;769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53955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0" name="Google Shape;770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50652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Supervised Task 1: Regression</a:t>
            </a:r>
            <a:endParaRPr/>
          </a:p>
        </p:txBody>
      </p:sp>
      <p:sp>
        <p:nvSpPr>
          <p:cNvPr id="772" name="Google Shape;772;p63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3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78" name="Google Shape;77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 txBox="1"/>
          <p:nvPr/>
        </p:nvSpPr>
        <p:spPr>
          <a:xfrm>
            <a:off x="1809750" y="22672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Classification</a:t>
            </a:r>
            <a:endParaRPr/>
          </a:p>
        </p:txBody>
      </p:sp>
      <p:sp>
        <p:nvSpPr>
          <p:cNvPr id="780" name="Google Shape;780;p64"/>
          <p:cNvSpPr txBox="1"/>
          <p:nvPr/>
        </p:nvSpPr>
        <p:spPr>
          <a:xfrm>
            <a:off x="2190750" y="291494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goal is to predict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discrete class label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(a category).</a:t>
            </a:r>
            <a:endParaRPr/>
          </a:p>
        </p:txBody>
      </p:sp>
      <p:sp>
        <p:nvSpPr>
          <p:cNvPr id="781" name="Google Shape;781;p64"/>
          <p:cNvSpPr txBox="1"/>
          <p:nvPr/>
        </p:nvSpPr>
        <p:spPr>
          <a:xfrm>
            <a:off x="2190750" y="34406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answers the question "which category?" or "is this A or B?".</a:t>
            </a:r>
            <a:endParaRPr/>
          </a:p>
        </p:txBody>
      </p:sp>
      <p:sp>
        <p:nvSpPr>
          <p:cNvPr id="782" name="Google Shape;782;p64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Classifying an email as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"spam"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"not spam"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783" name="Google Shape;783;p64"/>
          <p:cNvSpPr txBox="1"/>
          <p:nvPr/>
        </p:nvSpPr>
        <p:spPr>
          <a:xfrm>
            <a:off x="2190750" y="44919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Classifying an image as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"cat"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"dog"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, or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"bird"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784" name="Google Shape;784;p64"/>
          <p:cNvSpPr txBox="1"/>
          <p:nvPr/>
        </p:nvSpPr>
        <p:spPr>
          <a:xfrm>
            <a:off x="2190750" y="50175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Your assignment includes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Softmax Regression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785" name="Google Shape;785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96257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6" name="Google Shape;786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8823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7" name="Google Shape;787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8" name="Google Shape;788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53955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9" name="Google Shape;789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50652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Supervised Task 2: Classification</a:t>
            </a:r>
            <a:endParaRPr/>
          </a:p>
        </p:txBody>
      </p:sp>
      <p:sp>
        <p:nvSpPr>
          <p:cNvPr id="791" name="Google Shape;791;p64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4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97" name="Google Shape;79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8" name="Google Shape;79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6429"/>
            <a:ext cx="5286375" cy="2077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9" name="Google Shape;799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66429"/>
            <a:ext cx="5286375" cy="20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5"/>
          <p:cNvSpPr txBox="1"/>
          <p:nvPr/>
        </p:nvSpPr>
        <p:spPr>
          <a:xfrm>
            <a:off x="962025" y="3459509"/>
            <a:ext cx="47305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Classification</a:t>
            </a:r>
            <a:endParaRPr/>
          </a:p>
        </p:txBody>
      </p:sp>
      <p:sp>
        <p:nvSpPr>
          <p:cNvPr id="801" name="Google Shape;801;p65"/>
          <p:cNvSpPr txBox="1"/>
          <p:nvPr/>
        </p:nvSpPr>
        <p:spPr>
          <a:xfrm>
            <a:off x="962025" y="3833514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Predicts one of </a:t>
            </a: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two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possible classes. (e.g., Yes/No, Spam/Not-Spam). This is the task for </a:t>
            </a: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802" name="Google Shape;802;p65"/>
          <p:cNvSpPr txBox="1"/>
          <p:nvPr/>
        </p:nvSpPr>
        <p:spPr>
          <a:xfrm>
            <a:off x="6724650" y="3459509"/>
            <a:ext cx="47305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Multi-class Classification</a:t>
            </a:r>
            <a:endParaRPr/>
          </a:p>
        </p:txBody>
      </p:sp>
      <p:sp>
        <p:nvSpPr>
          <p:cNvPr id="803" name="Google Shape;803;p65"/>
          <p:cNvSpPr txBox="1"/>
          <p:nvPr/>
        </p:nvSpPr>
        <p:spPr>
          <a:xfrm>
            <a:off x="6724650" y="3833514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Predicts one of </a:t>
            </a: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more than two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, mutually exclusive classes. (e.g., Cat/Dog/Bird). This is the task for </a:t>
            </a: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Softmax Regression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804" name="Google Shape;804;p6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Types of Classification</a:t>
            </a:r>
            <a:endParaRPr/>
          </a:p>
        </p:txBody>
      </p:sp>
      <p:sp>
        <p:nvSpPr>
          <p:cNvPr id="805" name="Google Shape;805;p65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65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11" name="Google Shape;81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66"/>
          <p:cNvSpPr txBox="1"/>
          <p:nvPr/>
        </p:nvSpPr>
        <p:spPr>
          <a:xfrm>
            <a:off x="1809750" y="236249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And Many More...</a:t>
            </a:r>
            <a:endParaRPr/>
          </a:p>
        </p:txBody>
      </p:sp>
      <p:sp>
        <p:nvSpPr>
          <p:cNvPr id="813" name="Google Shape;813;p66"/>
          <p:cNvSpPr txBox="1"/>
          <p:nvPr/>
        </p:nvSpPr>
        <p:spPr>
          <a:xfrm>
            <a:off x="2190750" y="301019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Recommendation Systems: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Predicting what a user will rate a movie.</a:t>
            </a:r>
            <a:endParaRPr/>
          </a:p>
        </p:txBody>
      </p:sp>
      <p:sp>
        <p:nvSpPr>
          <p:cNvPr id="814" name="Google Shape;814;p66"/>
          <p:cNvSpPr txBox="1"/>
          <p:nvPr/>
        </p:nvSpPr>
        <p:spPr>
          <a:xfrm>
            <a:off x="2190750" y="3535858"/>
            <a:ext cx="8191500" cy="1721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Sequence Learning:</a:t>
            </a:r>
            <a:endParaRPr/>
          </a:p>
        </p:txBody>
      </p:sp>
      <p:pic>
        <p:nvPicPr>
          <p:cNvPr descr="image.png" id="815" name="Google Shape;81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5782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6" name="Google Shape;816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8348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66"/>
          <p:cNvSpPr txBox="1"/>
          <p:nvPr/>
        </p:nvSpPr>
        <p:spPr>
          <a:xfrm>
            <a:off x="2571750" y="3871019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Automatic Speech Recognition (ASR)</a:t>
            </a:r>
            <a:endParaRPr/>
          </a:p>
        </p:txBody>
      </p:sp>
      <p:sp>
        <p:nvSpPr>
          <p:cNvPr id="818" name="Google Shape;818;p66"/>
          <p:cNvSpPr txBox="1"/>
          <p:nvPr/>
        </p:nvSpPr>
        <p:spPr>
          <a:xfrm>
            <a:off x="2571750" y="4396680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Text-to-Speech (TTS)</a:t>
            </a:r>
            <a:endParaRPr/>
          </a:p>
        </p:txBody>
      </p:sp>
      <p:sp>
        <p:nvSpPr>
          <p:cNvPr id="819" name="Google Shape;819;p66"/>
          <p:cNvSpPr txBox="1"/>
          <p:nvPr/>
        </p:nvSpPr>
        <p:spPr>
          <a:xfrm>
            <a:off x="2571750" y="4922341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Machine Translation (MT)</a:t>
            </a:r>
            <a:endParaRPr/>
          </a:p>
        </p:txBody>
      </p:sp>
      <p:sp>
        <p:nvSpPr>
          <p:cNvPr id="820" name="Google Shape;820;p6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Other Supervised Tasks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5" name="Google Shape;82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67"/>
          <p:cNvSpPr txBox="1"/>
          <p:nvPr/>
        </p:nvSpPr>
        <p:spPr>
          <a:xfrm>
            <a:off x="1809750" y="298340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98BA"/>
                </a:solidFill>
                <a:latin typeface="Poppins"/>
                <a:ea typeface="Poppins"/>
                <a:cs typeface="Poppins"/>
                <a:sym typeface="Poppins"/>
              </a:rPr>
              <a:t>Recommended Reading</a:t>
            </a:r>
            <a:endParaRPr/>
          </a:p>
        </p:txBody>
      </p:sp>
      <p:sp>
        <p:nvSpPr>
          <p:cNvPr id="827" name="Google Shape;827;p67"/>
          <p:cNvSpPr txBox="1"/>
          <p:nvPr/>
        </p:nvSpPr>
        <p:spPr>
          <a:xfrm>
            <a:off x="2190750" y="3631108"/>
            <a:ext cx="8191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Textbook (T1): "Dive into Deep Learning"</a:t>
            </a:r>
            <a:endParaRPr/>
          </a:p>
        </p:txBody>
      </p:sp>
      <p:pic>
        <p:nvPicPr>
          <p:cNvPr descr="image.png" id="828" name="Google Shape;828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67873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67"/>
          <p:cNvSpPr txBox="1"/>
          <p:nvPr/>
        </p:nvSpPr>
        <p:spPr>
          <a:xfrm>
            <a:off x="2571750" y="3966269"/>
            <a:ext cx="7810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Chapter 1 provides a comprehensive overview of the introduction, history, and key components of deep learning.</a:t>
            </a:r>
            <a:endParaRPr/>
          </a:p>
        </p:txBody>
      </p:sp>
      <p:sp>
        <p:nvSpPr>
          <p:cNvPr id="830" name="Google Shape;830;p6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Further Reading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35" name="Google Shape;83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68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1" name="Google Shape;84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2" name="Google Shape;842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746"/>
            <a:ext cx="5286375" cy="4533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3" name="Google Shape;843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38746"/>
            <a:ext cx="5286375" cy="4533007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69"/>
          <p:cNvSpPr txBox="1"/>
          <p:nvPr/>
        </p:nvSpPr>
        <p:spPr>
          <a:xfrm>
            <a:off x="962025" y="2333178"/>
            <a:ext cx="4730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Assignment-Required Concepts</a:t>
            </a:r>
            <a:endParaRPr/>
          </a:p>
        </p:txBody>
      </p:sp>
      <p:sp>
        <p:nvSpPr>
          <p:cNvPr id="845" name="Google Shape;845;p69"/>
          <p:cNvSpPr txBox="1"/>
          <p:nvPr/>
        </p:nvSpPr>
        <p:spPr>
          <a:xfrm>
            <a:off x="6724650" y="2333178"/>
            <a:ext cx="4730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98B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Textbook Reading</a:t>
            </a:r>
            <a:endParaRPr/>
          </a:p>
        </p:txBody>
      </p:sp>
      <p:sp>
        <p:nvSpPr>
          <p:cNvPr id="846" name="Google Shape;846;p69"/>
          <p:cNvSpPr txBox="1"/>
          <p:nvPr/>
        </p:nvSpPr>
        <p:spPr>
          <a:xfrm>
            <a:off x="6724650" y="2761803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T1 (Dive into Deep Learning):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Chapter 1</a:t>
            </a:r>
            <a:endParaRPr/>
          </a:p>
        </p:txBody>
      </p:sp>
      <p:sp>
        <p:nvSpPr>
          <p:cNvPr id="847" name="Google Shape;847;p69"/>
          <p:cNvSpPr txBox="1"/>
          <p:nvPr/>
        </p:nvSpPr>
        <p:spPr>
          <a:xfrm>
            <a:off x="1295400" y="2761803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4 Core Components (Data, Model, Loss, Algorithm)</a:t>
            </a:r>
            <a:endParaRPr/>
          </a:p>
        </p:txBody>
      </p:sp>
      <p:sp>
        <p:nvSpPr>
          <p:cNvPr id="848" name="Google Shape;848;p69"/>
          <p:cNvSpPr txBox="1"/>
          <p:nvPr/>
        </p:nvSpPr>
        <p:spPr>
          <a:xfrm>
            <a:off x="1295400" y="3514278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Optimization Loop (Model → Loss → Update)</a:t>
            </a:r>
            <a:endParaRPr/>
          </a:p>
        </p:txBody>
      </p:sp>
      <p:sp>
        <p:nvSpPr>
          <p:cNvPr id="849" name="Google Shape;849;p69"/>
          <p:cNvSpPr txBox="1"/>
          <p:nvPr/>
        </p:nvSpPr>
        <p:spPr>
          <a:xfrm>
            <a:off x="1295400" y="3961953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Objective (Loss) Function Purpose</a:t>
            </a:r>
            <a:endParaRPr/>
          </a:p>
        </p:txBody>
      </p:sp>
      <p:sp>
        <p:nvSpPr>
          <p:cNvPr id="850" name="Google Shape;850;p69"/>
          <p:cNvSpPr txBox="1"/>
          <p:nvPr/>
        </p:nvSpPr>
        <p:spPr>
          <a:xfrm>
            <a:off x="1295400" y="4409628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Learning Algorithm (Gradient Descent)</a:t>
            </a:r>
            <a:endParaRPr/>
          </a:p>
        </p:txBody>
      </p:sp>
      <p:sp>
        <p:nvSpPr>
          <p:cNvPr id="851" name="Google Shape;851;p69"/>
          <p:cNvSpPr txBox="1"/>
          <p:nvPr/>
        </p:nvSpPr>
        <p:spPr>
          <a:xfrm>
            <a:off x="1295400" y="4857303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Supervised Learning (Regression vs. Classification)</a:t>
            </a:r>
            <a:endParaRPr/>
          </a:p>
        </p:txBody>
      </p:sp>
      <p:sp>
        <p:nvSpPr>
          <p:cNvPr id="852" name="Google Shape;852;p69"/>
          <p:cNvSpPr txBox="1"/>
          <p:nvPr/>
        </p:nvSpPr>
        <p:spPr>
          <a:xfrm>
            <a:off x="1295400" y="5304978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Binary (Logistic) vs. Multi-class (Softmax) Tasks</a:t>
            </a:r>
            <a:endParaRPr/>
          </a:p>
        </p:txBody>
      </p:sp>
      <p:sp>
        <p:nvSpPr>
          <p:cNvPr id="853" name="Google Shape;853;p6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Module 1 Checklist</a:t>
            </a:r>
            <a:endParaRPr/>
          </a:p>
        </p:txBody>
      </p:sp>
      <p:pic>
        <p:nvPicPr>
          <p:cNvPr descr="image.png" id="854" name="Google Shape;854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8094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5" name="Google Shape;855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56190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6" name="Google Shape;856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00957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7" name="Google Shape;857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45725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8" name="Google Shape;858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9049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9" name="Google Shape;859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5352603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64" name="Google Shape;86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0"/>
          <p:cNvSpPr txBox="1"/>
          <p:nvPr/>
        </p:nvSpPr>
        <p:spPr>
          <a:xfrm>
            <a:off x="4500800" y="2388840"/>
            <a:ext cx="319039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Appendix</a:t>
            </a:r>
            <a:endParaRPr/>
          </a:p>
        </p:txBody>
      </p:sp>
      <p:sp>
        <p:nvSpPr>
          <p:cNvPr id="866" name="Google Shape;866;p70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6D98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70"/>
          <p:cNvSpPr txBox="1"/>
          <p:nvPr/>
        </p:nvSpPr>
        <p:spPr>
          <a:xfrm>
            <a:off x="4419600" y="4103340"/>
            <a:ext cx="3352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Supplemental Code and Examples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72" name="Google Shape;87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1"/>
          <p:cNvSpPr/>
          <p:nvPr/>
        </p:nvSpPr>
        <p:spPr>
          <a:xfrm>
            <a:off x="1924050" y="2330946"/>
            <a:ext cx="8343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71"/>
          <p:cNvSpPr/>
          <p:nvPr/>
        </p:nvSpPr>
        <p:spPr>
          <a:xfrm>
            <a:off x="1924050" y="3115716"/>
            <a:ext cx="8343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71"/>
          <p:cNvSpPr/>
          <p:nvPr/>
        </p:nvSpPr>
        <p:spPr>
          <a:xfrm>
            <a:off x="1924050" y="3900487"/>
            <a:ext cx="8343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71"/>
          <p:cNvSpPr/>
          <p:nvPr/>
        </p:nvSpPr>
        <p:spPr>
          <a:xfrm>
            <a:off x="1924050" y="4685258"/>
            <a:ext cx="8343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71"/>
          <p:cNvSpPr/>
          <p:nvPr/>
        </p:nvSpPr>
        <p:spPr>
          <a:xfrm>
            <a:off x="1924050" y="5470028"/>
            <a:ext cx="8343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8" name="Google Shape;87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4050" y="17051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1"/>
          <p:cNvSpPr txBox="1"/>
          <p:nvPr/>
        </p:nvSpPr>
        <p:spPr>
          <a:xfrm>
            <a:off x="3019425" y="1698575"/>
            <a:ext cx="72485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https://miro.medium.com/1*SkcsypxHN5T_MIXmxJKSiA.png</a:t>
            </a:r>
            <a:endParaRPr/>
          </a:p>
        </p:txBody>
      </p:sp>
      <p:sp>
        <p:nvSpPr>
          <p:cNvPr id="880" name="Google Shape;880;p71"/>
          <p:cNvSpPr txBox="1"/>
          <p:nvPr/>
        </p:nvSpPr>
        <p:spPr>
          <a:xfrm>
            <a:off x="3019425" y="1944290"/>
            <a:ext cx="7248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881" name="Google Shape;881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4050" y="24898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1"/>
          <p:cNvSpPr txBox="1"/>
          <p:nvPr/>
        </p:nvSpPr>
        <p:spPr>
          <a:xfrm>
            <a:off x="3019425" y="2483346"/>
            <a:ext cx="72485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https://media.geeksforgeeks.org/wp-content/uploads/20240610185102/Feature-Extraction-Techniques-in-Image-Processing.webp</a:t>
            </a:r>
            <a:endParaRPr/>
          </a:p>
        </p:txBody>
      </p:sp>
      <p:sp>
        <p:nvSpPr>
          <p:cNvPr id="883" name="Google Shape;883;p71"/>
          <p:cNvSpPr txBox="1"/>
          <p:nvPr/>
        </p:nvSpPr>
        <p:spPr>
          <a:xfrm>
            <a:off x="3019425" y="2729061"/>
            <a:ext cx="7248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884" name="Google Shape;884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4050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1"/>
          <p:cNvSpPr txBox="1"/>
          <p:nvPr/>
        </p:nvSpPr>
        <p:spPr>
          <a:xfrm>
            <a:off x="3019425" y="3268116"/>
            <a:ext cx="72485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https://towardsdatascience.com/wp-content/uploads/2017/10/11ADLHcqXhmtgDBkMF7b2Hw.png</a:t>
            </a:r>
            <a:endParaRPr/>
          </a:p>
        </p:txBody>
      </p:sp>
      <p:sp>
        <p:nvSpPr>
          <p:cNvPr id="886" name="Google Shape;886;p71"/>
          <p:cNvSpPr txBox="1"/>
          <p:nvPr/>
        </p:nvSpPr>
        <p:spPr>
          <a:xfrm>
            <a:off x="3019425" y="3513832"/>
            <a:ext cx="7248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towardsdatascience.com</a:t>
            </a:r>
            <a:endParaRPr/>
          </a:p>
        </p:txBody>
      </p:sp>
      <p:pic>
        <p:nvPicPr>
          <p:cNvPr descr="image.png" id="887" name="Google Shape;887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4050" y="40594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1"/>
          <p:cNvSpPr txBox="1"/>
          <p:nvPr/>
        </p:nvSpPr>
        <p:spPr>
          <a:xfrm>
            <a:off x="3019425" y="4052887"/>
            <a:ext cx="72485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https://miro.medium.com/v2/resize:fit:1316/1*BASjitcB1kbfc0LH-Jtwjw.png</a:t>
            </a:r>
            <a:endParaRPr/>
          </a:p>
        </p:txBody>
      </p:sp>
      <p:sp>
        <p:nvSpPr>
          <p:cNvPr id="889" name="Google Shape;889;p71"/>
          <p:cNvSpPr txBox="1"/>
          <p:nvPr/>
        </p:nvSpPr>
        <p:spPr>
          <a:xfrm>
            <a:off x="3019425" y="4298602"/>
            <a:ext cx="7248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890" name="Google Shape;890;p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24050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1"/>
          <p:cNvSpPr txBox="1"/>
          <p:nvPr/>
        </p:nvSpPr>
        <p:spPr>
          <a:xfrm>
            <a:off x="3019425" y="4837658"/>
            <a:ext cx="72485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https://storage.googleapis.com/gweb-uniblog-publish-prod/images/AlphaGo_hero.width-1300.jpg</a:t>
            </a:r>
            <a:endParaRPr/>
          </a:p>
        </p:txBody>
      </p:sp>
      <p:sp>
        <p:nvSpPr>
          <p:cNvPr id="892" name="Google Shape;892;p71"/>
          <p:cNvSpPr txBox="1"/>
          <p:nvPr/>
        </p:nvSpPr>
        <p:spPr>
          <a:xfrm>
            <a:off x="3019425" y="5083373"/>
            <a:ext cx="7248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blog.google</a:t>
            </a:r>
            <a:endParaRPr/>
          </a:p>
        </p:txBody>
      </p:sp>
      <p:pic>
        <p:nvPicPr>
          <p:cNvPr descr="image.png" id="893" name="Google Shape;893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24050" y="56289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1"/>
          <p:cNvSpPr txBox="1"/>
          <p:nvPr/>
        </p:nvSpPr>
        <p:spPr>
          <a:xfrm>
            <a:off x="3019425" y="5622428"/>
            <a:ext cx="72485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https://i.ytimg.com/vi/kSLJriaOumA/maxresdefault.jpg</a:t>
            </a:r>
            <a:endParaRPr/>
          </a:p>
        </p:txBody>
      </p:sp>
      <p:sp>
        <p:nvSpPr>
          <p:cNvPr id="895" name="Google Shape;895;p71"/>
          <p:cNvSpPr txBox="1"/>
          <p:nvPr/>
        </p:nvSpPr>
        <p:spPr>
          <a:xfrm>
            <a:off x="3019425" y="5868144"/>
            <a:ext cx="7248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www.comet.com</a:t>
            </a:r>
            <a:endParaRPr/>
          </a:p>
        </p:txBody>
      </p:sp>
      <p:sp>
        <p:nvSpPr>
          <p:cNvPr id="896" name="Google Shape;896;p7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1" name="Google Shape;90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2"/>
          <p:cNvSpPr/>
          <p:nvPr/>
        </p:nvSpPr>
        <p:spPr>
          <a:xfrm>
            <a:off x="2500312" y="3115716"/>
            <a:ext cx="71913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2"/>
          <p:cNvSpPr/>
          <p:nvPr/>
        </p:nvSpPr>
        <p:spPr>
          <a:xfrm>
            <a:off x="2500312" y="3900487"/>
            <a:ext cx="71913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72"/>
          <p:cNvSpPr/>
          <p:nvPr/>
        </p:nvSpPr>
        <p:spPr>
          <a:xfrm>
            <a:off x="2500312" y="4685258"/>
            <a:ext cx="71913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05" name="Google Shape;90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0312" y="24898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2"/>
          <p:cNvSpPr txBox="1"/>
          <p:nvPr/>
        </p:nvSpPr>
        <p:spPr>
          <a:xfrm>
            <a:off x="3595687" y="2483346"/>
            <a:ext cx="60960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https://raw.githubusercontent.com/mrdbourke/pytorch-deep-learning/main/images/01_a_pytorch_workflow.png</a:t>
            </a:r>
            <a:endParaRPr/>
          </a:p>
        </p:txBody>
      </p:sp>
      <p:sp>
        <p:nvSpPr>
          <p:cNvPr id="907" name="Google Shape;907;p72"/>
          <p:cNvSpPr txBox="1"/>
          <p:nvPr/>
        </p:nvSpPr>
        <p:spPr>
          <a:xfrm>
            <a:off x="3595687" y="2729061"/>
            <a:ext cx="6096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www.learnpytorch.io</a:t>
            </a:r>
            <a:endParaRPr/>
          </a:p>
        </p:txBody>
      </p:sp>
      <p:pic>
        <p:nvPicPr>
          <p:cNvPr descr="image.png" id="908" name="Google Shape;908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0312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2"/>
          <p:cNvSpPr txBox="1"/>
          <p:nvPr/>
        </p:nvSpPr>
        <p:spPr>
          <a:xfrm>
            <a:off x="3595687" y="3268116"/>
            <a:ext cx="60960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https://huggingface.co/datasets/huggingface-course/audio-course-images/resolve/main/voice_assistant.png</a:t>
            </a:r>
            <a:endParaRPr/>
          </a:p>
        </p:txBody>
      </p:sp>
      <p:sp>
        <p:nvSpPr>
          <p:cNvPr id="910" name="Google Shape;910;p72"/>
          <p:cNvSpPr txBox="1"/>
          <p:nvPr/>
        </p:nvSpPr>
        <p:spPr>
          <a:xfrm>
            <a:off x="3595687" y="3513832"/>
            <a:ext cx="6096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huggingface.co</a:t>
            </a:r>
            <a:endParaRPr/>
          </a:p>
        </p:txBody>
      </p:sp>
      <p:pic>
        <p:nvPicPr>
          <p:cNvPr descr="image.png" id="911" name="Google Shape;911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00312" y="40594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2"/>
          <p:cNvSpPr txBox="1"/>
          <p:nvPr/>
        </p:nvSpPr>
        <p:spPr>
          <a:xfrm>
            <a:off x="3595687" y="4052887"/>
            <a:ext cx="60960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https://www.aihr.com/wp-content/uploads/ADDIE-Model-PPT-template-1024x1024.png</a:t>
            </a:r>
            <a:endParaRPr/>
          </a:p>
        </p:txBody>
      </p:sp>
      <p:sp>
        <p:nvSpPr>
          <p:cNvPr id="913" name="Google Shape;913;p72"/>
          <p:cNvSpPr txBox="1"/>
          <p:nvPr/>
        </p:nvSpPr>
        <p:spPr>
          <a:xfrm>
            <a:off x="3595687" y="4298602"/>
            <a:ext cx="6096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www.aihr.com</a:t>
            </a:r>
            <a:endParaRPr/>
          </a:p>
        </p:txBody>
      </p:sp>
      <p:pic>
        <p:nvPicPr>
          <p:cNvPr descr="image.png" id="914" name="Google Shape;914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0312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2"/>
          <p:cNvSpPr txBox="1"/>
          <p:nvPr/>
        </p:nvSpPr>
        <p:spPr>
          <a:xfrm>
            <a:off x="3595687" y="4837658"/>
            <a:ext cx="60960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https://www.mdpi.com/eng/eng-05-00021/article_deploy/html/images/eng-05-00021-g006.png</a:t>
            </a:r>
            <a:endParaRPr/>
          </a:p>
        </p:txBody>
      </p:sp>
      <p:sp>
        <p:nvSpPr>
          <p:cNvPr id="916" name="Google Shape;916;p72"/>
          <p:cNvSpPr txBox="1"/>
          <p:nvPr/>
        </p:nvSpPr>
        <p:spPr>
          <a:xfrm>
            <a:off x="3595687" y="5083373"/>
            <a:ext cx="6096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sp>
        <p:nvSpPr>
          <p:cNvPr id="917" name="Google Shape;917;p7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